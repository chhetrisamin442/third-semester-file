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5" r:id="rId20"/>
    <p:sldId id="273"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7" d="100"/>
          <a:sy n="97" d="100"/>
        </p:scale>
        <p:origin x="134" y="-6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829E97D2-ABAE-4850-B5E2-432FA584AA2A}" type="datetimeFigureOut">
              <a:rPr lang="en-US" smtClean="0"/>
              <a:t>12/16/2025</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Slide Number Placeholder 5"/>
          <p:cNvSpPr>
            <a:spLocks noGrp="1"/>
          </p:cNvSpPr>
          <p:nvPr>
            <p:ph type="sldNum" sz="quarter" idx="12"/>
          </p:nvPr>
        </p:nvSpPr>
        <p:spPr>
          <a:xfrm>
            <a:off x="10352540" y="295729"/>
            <a:ext cx="838199" cy="767687"/>
          </a:xfrm>
        </p:spPr>
        <p:txBody>
          <a:bodyPr/>
          <a:lstStyle/>
          <a:p>
            <a:fld id="{E9726207-AA47-4275-A65A-8C693FD01B9A}" type="slidenum">
              <a:rPr lang="en-US" smtClean="0"/>
              <a:t>‹#›</a:t>
            </a:fld>
            <a:endParaRPr lang="en-US"/>
          </a:p>
        </p:txBody>
      </p:sp>
    </p:spTree>
    <p:extLst>
      <p:ext uri="{BB962C8B-B14F-4D97-AF65-F5344CB8AC3E}">
        <p14:creationId xmlns:p14="http://schemas.microsoft.com/office/powerpoint/2010/main" val="3819640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9E97D2-ABAE-4850-B5E2-432FA584AA2A}"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726207-AA47-4275-A65A-8C693FD01B9A}" type="slidenum">
              <a:rPr lang="en-US" smtClean="0"/>
              <a:t>‹#›</a:t>
            </a:fld>
            <a:endParaRPr lang="en-US"/>
          </a:p>
        </p:txBody>
      </p:sp>
    </p:spTree>
    <p:extLst>
      <p:ext uri="{BB962C8B-B14F-4D97-AF65-F5344CB8AC3E}">
        <p14:creationId xmlns:p14="http://schemas.microsoft.com/office/powerpoint/2010/main" val="247237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9E97D2-ABAE-4850-B5E2-432FA584AA2A}"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12"/>
          </p:nvPr>
        </p:nvSpPr>
        <p:spPr/>
        <p:txBody>
          <a:bodyPr/>
          <a:lstStyle/>
          <a:p>
            <a:fld id="{E9726207-AA47-4275-A65A-8C693FD01B9A}" type="slidenum">
              <a:rPr lang="en-US" smtClean="0"/>
              <a:t>‹#›</a:t>
            </a:fld>
            <a:endParaRPr lang="en-US"/>
          </a:p>
        </p:txBody>
      </p:sp>
    </p:spTree>
    <p:extLst>
      <p:ext uri="{BB962C8B-B14F-4D97-AF65-F5344CB8AC3E}">
        <p14:creationId xmlns:p14="http://schemas.microsoft.com/office/powerpoint/2010/main" val="3974786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29E97D2-ABAE-4850-B5E2-432FA584AA2A}"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726207-AA47-4275-A65A-8C693FD01B9A}" type="slidenum">
              <a:rPr lang="en-US" smtClean="0"/>
              <a:t>‹#›</a:t>
            </a:fld>
            <a:endParaRPr lang="en-US"/>
          </a:p>
        </p:txBody>
      </p:sp>
    </p:spTree>
    <p:extLst>
      <p:ext uri="{BB962C8B-B14F-4D97-AF65-F5344CB8AC3E}">
        <p14:creationId xmlns:p14="http://schemas.microsoft.com/office/powerpoint/2010/main" val="2260363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29E97D2-ABAE-4850-B5E2-432FA584AA2A}" type="datetimeFigureOut">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726207-AA47-4275-A65A-8C693FD01B9A}" type="slidenum">
              <a:rPr lang="en-US" smtClean="0"/>
              <a:t>‹#›</a:t>
            </a:fld>
            <a:endParaRPr lang="en-US"/>
          </a:p>
        </p:txBody>
      </p:sp>
    </p:spTree>
    <p:extLst>
      <p:ext uri="{BB962C8B-B14F-4D97-AF65-F5344CB8AC3E}">
        <p14:creationId xmlns:p14="http://schemas.microsoft.com/office/powerpoint/2010/main" val="502024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29E97D2-ABAE-4850-B5E2-432FA584AA2A}"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726207-AA47-4275-A65A-8C693FD01B9A}" type="slidenum">
              <a:rPr lang="en-US" smtClean="0"/>
              <a:t>‹#›</a:t>
            </a:fld>
            <a:endParaRPr lang="en-US"/>
          </a:p>
        </p:txBody>
      </p:sp>
    </p:spTree>
    <p:extLst>
      <p:ext uri="{BB962C8B-B14F-4D97-AF65-F5344CB8AC3E}">
        <p14:creationId xmlns:p14="http://schemas.microsoft.com/office/powerpoint/2010/main" val="2233630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9E97D2-ABAE-4850-B5E2-432FA584AA2A}" type="datetimeFigureOut">
              <a:rPr lang="en-US" smtClean="0"/>
              <a:t>12/16/2025</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p:cNvSpPr>
            <a:spLocks noGrp="1"/>
          </p:cNvSpPr>
          <p:nvPr>
            <p:ph type="sldNum" sz="quarter" idx="12"/>
          </p:nvPr>
        </p:nvSpPr>
        <p:spPr/>
        <p:txBody>
          <a:bodyPr/>
          <a:lstStyle/>
          <a:p>
            <a:fld id="{E9726207-AA47-4275-A65A-8C693FD01B9A}" type="slidenum">
              <a:rPr lang="en-US" smtClean="0"/>
              <a:t>‹#›</a:t>
            </a:fld>
            <a:endParaRPr lang="en-US"/>
          </a:p>
        </p:txBody>
      </p:sp>
    </p:spTree>
    <p:extLst>
      <p:ext uri="{BB962C8B-B14F-4D97-AF65-F5344CB8AC3E}">
        <p14:creationId xmlns:p14="http://schemas.microsoft.com/office/powerpoint/2010/main" val="3052196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29E97D2-ABAE-4850-B5E2-432FA584AA2A}"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 name="Slide Number Placeholder 6"/>
          <p:cNvSpPr>
            <a:spLocks noGrp="1"/>
          </p:cNvSpPr>
          <p:nvPr>
            <p:ph type="sldNum" sz="quarter" idx="12"/>
          </p:nvPr>
        </p:nvSpPr>
        <p:spPr/>
        <p:txBody>
          <a:bodyPr/>
          <a:lstStyle/>
          <a:p>
            <a:fld id="{E9726207-AA47-4275-A65A-8C693FD01B9A}" type="slidenum">
              <a:rPr lang="en-US" smtClean="0"/>
              <a:t>‹#›</a:t>
            </a:fld>
            <a:endParaRPr lang="en-US"/>
          </a:p>
        </p:txBody>
      </p:sp>
    </p:spTree>
    <p:extLst>
      <p:ext uri="{BB962C8B-B14F-4D97-AF65-F5344CB8AC3E}">
        <p14:creationId xmlns:p14="http://schemas.microsoft.com/office/powerpoint/2010/main" val="4128956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29E97D2-ABAE-4850-B5E2-432FA584AA2A}"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 name="Slide Number Placeholder 6"/>
          <p:cNvSpPr>
            <a:spLocks noGrp="1"/>
          </p:cNvSpPr>
          <p:nvPr>
            <p:ph type="sldNum" sz="quarter" idx="12"/>
          </p:nvPr>
        </p:nvSpPr>
        <p:spPr/>
        <p:txBody>
          <a:bodyPr/>
          <a:lstStyle/>
          <a:p>
            <a:fld id="{E9726207-AA47-4275-A65A-8C693FD01B9A}" type="slidenum">
              <a:rPr lang="en-US" smtClean="0"/>
              <a:t>‹#›</a:t>
            </a:fld>
            <a:endParaRPr lang="en-US"/>
          </a:p>
        </p:txBody>
      </p:sp>
    </p:spTree>
    <p:extLst>
      <p:ext uri="{BB962C8B-B14F-4D97-AF65-F5344CB8AC3E}">
        <p14:creationId xmlns:p14="http://schemas.microsoft.com/office/powerpoint/2010/main" val="2011995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29E97D2-ABAE-4850-B5E2-432FA584AA2A}"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 name="Slide Number Placeholder 6"/>
          <p:cNvSpPr>
            <a:spLocks noGrp="1"/>
          </p:cNvSpPr>
          <p:nvPr>
            <p:ph type="sldNum" sz="quarter" idx="12"/>
          </p:nvPr>
        </p:nvSpPr>
        <p:spPr/>
        <p:txBody>
          <a:bodyPr/>
          <a:lstStyle/>
          <a:p>
            <a:fld id="{E9726207-AA47-4275-A65A-8C693FD01B9A}" type="slidenum">
              <a:rPr lang="en-US" smtClean="0"/>
              <a:t>‹#›</a:t>
            </a:fld>
            <a:endParaRPr lang="en-US"/>
          </a:p>
        </p:txBody>
      </p:sp>
    </p:spTree>
    <p:extLst>
      <p:ext uri="{BB962C8B-B14F-4D97-AF65-F5344CB8AC3E}">
        <p14:creationId xmlns:p14="http://schemas.microsoft.com/office/powerpoint/2010/main" val="2489213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txBody>
            <a:bodyPr/>
            <a:lstStyle/>
            <a:p>
              <a:endParaRPr lang="en-US"/>
            </a:p>
          </p:txBody>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29E97D2-ABAE-4850-B5E2-432FA584AA2A}"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12"/>
          </p:nvPr>
        </p:nvSpPr>
        <p:spPr/>
        <p:txBody>
          <a:bodyPr/>
          <a:lstStyle/>
          <a:p>
            <a:fld id="{E9726207-AA47-4275-A65A-8C693FD01B9A}" type="slidenum">
              <a:rPr lang="en-US" smtClean="0"/>
              <a:t>‹#›</a:t>
            </a:fld>
            <a:endParaRPr lang="en-US"/>
          </a:p>
        </p:txBody>
      </p:sp>
    </p:spTree>
    <p:extLst>
      <p:ext uri="{BB962C8B-B14F-4D97-AF65-F5344CB8AC3E}">
        <p14:creationId xmlns:p14="http://schemas.microsoft.com/office/powerpoint/2010/main" val="277896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29E97D2-ABAE-4850-B5E2-432FA584AA2A}"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12"/>
          </p:nvPr>
        </p:nvSpPr>
        <p:spPr/>
        <p:txBody>
          <a:bodyPr/>
          <a:lstStyle/>
          <a:p>
            <a:fld id="{E9726207-AA47-4275-A65A-8C693FD01B9A}" type="slidenum">
              <a:rPr lang="en-US" smtClean="0"/>
              <a:t>‹#›</a:t>
            </a:fld>
            <a:endParaRPr lang="en-US"/>
          </a:p>
        </p:txBody>
      </p:sp>
    </p:spTree>
    <p:extLst>
      <p:ext uri="{BB962C8B-B14F-4D97-AF65-F5344CB8AC3E}">
        <p14:creationId xmlns:p14="http://schemas.microsoft.com/office/powerpoint/2010/main" val="2508209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9E97D2-ABAE-4850-B5E2-432FA584AA2A}"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12"/>
          </p:nvPr>
        </p:nvSpPr>
        <p:spPr/>
        <p:txBody>
          <a:bodyPr/>
          <a:lstStyle/>
          <a:p>
            <a:fld id="{E9726207-AA47-4275-A65A-8C693FD01B9A}" type="slidenum">
              <a:rPr lang="en-US" smtClean="0"/>
              <a:t>‹#›</a:t>
            </a:fld>
            <a:endParaRPr lang="en-US"/>
          </a:p>
        </p:txBody>
      </p:sp>
    </p:spTree>
    <p:extLst>
      <p:ext uri="{BB962C8B-B14F-4D97-AF65-F5344CB8AC3E}">
        <p14:creationId xmlns:p14="http://schemas.microsoft.com/office/powerpoint/2010/main" val="27938651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29E97D2-ABAE-4850-B5E2-432FA584AA2A}" type="datetimeFigureOut">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726207-AA47-4275-A65A-8C693FD01B9A}" type="slidenum">
              <a:rPr lang="en-US" smtClean="0"/>
              <a:t>‹#›</a:t>
            </a:fld>
            <a:endParaRPr lang="en-US"/>
          </a:p>
        </p:txBody>
      </p:sp>
    </p:spTree>
    <p:extLst>
      <p:ext uri="{BB962C8B-B14F-4D97-AF65-F5344CB8AC3E}">
        <p14:creationId xmlns:p14="http://schemas.microsoft.com/office/powerpoint/2010/main" val="8868991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29E97D2-ABAE-4850-B5E2-432FA584AA2A}" type="datetimeFigureOut">
              <a:rPr lang="en-US" smtClean="0"/>
              <a:t>12/16/2025</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E9726207-AA47-4275-A65A-8C693FD01B9A}" type="slidenum">
              <a:rPr lang="en-US" smtClean="0"/>
              <a:t>‹#›</a:t>
            </a:fld>
            <a:endParaRPr lang="en-US"/>
          </a:p>
        </p:txBody>
      </p:sp>
    </p:spTree>
    <p:extLst>
      <p:ext uri="{BB962C8B-B14F-4D97-AF65-F5344CB8AC3E}">
        <p14:creationId xmlns:p14="http://schemas.microsoft.com/office/powerpoint/2010/main" val="41945173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829E97D2-ABAE-4850-B5E2-432FA584AA2A}"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726207-AA47-4275-A65A-8C693FD01B9A}" type="slidenum">
              <a:rPr lang="en-US" smtClean="0"/>
              <a:t>‹#›</a:t>
            </a:fld>
            <a:endParaRPr lang="en-US"/>
          </a:p>
        </p:txBody>
      </p:sp>
    </p:spTree>
    <p:extLst>
      <p:ext uri="{BB962C8B-B14F-4D97-AF65-F5344CB8AC3E}">
        <p14:creationId xmlns:p14="http://schemas.microsoft.com/office/powerpoint/2010/main" val="27986670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829E97D2-ABAE-4850-B5E2-432FA584AA2A}"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12"/>
          </p:nvPr>
        </p:nvSpPr>
        <p:spPr/>
        <p:txBody>
          <a:bodyPr/>
          <a:lstStyle/>
          <a:p>
            <a:fld id="{E9726207-AA47-4275-A65A-8C693FD01B9A}" type="slidenum">
              <a:rPr lang="en-US" smtClean="0"/>
              <a:t>‹#›</a:t>
            </a:fld>
            <a:endParaRPr lang="en-US"/>
          </a:p>
        </p:txBody>
      </p:sp>
    </p:spTree>
    <p:extLst>
      <p:ext uri="{BB962C8B-B14F-4D97-AF65-F5344CB8AC3E}">
        <p14:creationId xmlns:p14="http://schemas.microsoft.com/office/powerpoint/2010/main" val="2111366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829E97D2-ABAE-4850-B5E2-432FA584AA2A}" type="datetimeFigureOut">
              <a:rPr lang="en-US" smtClean="0"/>
              <a:t>12/16/2025</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E9726207-AA47-4275-A65A-8C693FD01B9A}" type="slidenum">
              <a:rPr lang="en-US" smtClean="0"/>
              <a:t>‹#›</a:t>
            </a:fld>
            <a:endParaRPr lang="en-US"/>
          </a:p>
        </p:txBody>
      </p:sp>
    </p:spTree>
    <p:extLst>
      <p:ext uri="{BB962C8B-B14F-4D97-AF65-F5344CB8AC3E}">
        <p14:creationId xmlns:p14="http://schemas.microsoft.com/office/powerpoint/2010/main" val="12778262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www.geeksforgeeks.org/operating-systems/mutex-vs-semaphore/"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BDA8-8005-8130-3C43-FC2CA6D5E36C}"/>
              </a:ext>
            </a:extLst>
          </p:cNvPr>
          <p:cNvSpPr>
            <a:spLocks noGrp="1"/>
          </p:cNvSpPr>
          <p:nvPr>
            <p:ph type="ctrTitle"/>
          </p:nvPr>
        </p:nvSpPr>
        <p:spPr/>
        <p:txBody>
          <a:bodyPr/>
          <a:lstStyle/>
          <a:p>
            <a:r>
              <a:rPr lang="en-US" dirty="0"/>
              <a:t>Chapter -2</a:t>
            </a:r>
          </a:p>
        </p:txBody>
      </p:sp>
      <p:sp>
        <p:nvSpPr>
          <p:cNvPr id="3" name="Subtitle 2">
            <a:extLst>
              <a:ext uri="{FF2B5EF4-FFF2-40B4-BE49-F238E27FC236}">
                <a16:creationId xmlns:a16="http://schemas.microsoft.com/office/drawing/2014/main" id="{1B41AC85-8D77-9777-DBC4-6539857FBD1A}"/>
              </a:ext>
            </a:extLst>
          </p:cNvPr>
          <p:cNvSpPr>
            <a:spLocks noGrp="1"/>
          </p:cNvSpPr>
          <p:nvPr>
            <p:ph type="subTitle" idx="1"/>
          </p:nvPr>
        </p:nvSpPr>
        <p:spPr/>
        <p:txBody>
          <a:bodyPr/>
          <a:lstStyle/>
          <a:p>
            <a:r>
              <a:rPr lang="en-US" b="1" dirty="0"/>
              <a:t>Chapter 2 Processes and Threads</a:t>
            </a:r>
            <a:endParaRPr lang="en-US" dirty="0"/>
          </a:p>
          <a:p>
            <a:endParaRPr lang="en-US" dirty="0"/>
          </a:p>
        </p:txBody>
      </p:sp>
    </p:spTree>
    <p:extLst>
      <p:ext uri="{BB962C8B-B14F-4D97-AF65-F5344CB8AC3E}">
        <p14:creationId xmlns:p14="http://schemas.microsoft.com/office/powerpoint/2010/main" val="839543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9B884-CBF3-4D3E-730E-2D6EEA224552}"/>
              </a:ext>
            </a:extLst>
          </p:cNvPr>
          <p:cNvSpPr>
            <a:spLocks noGrp="1"/>
          </p:cNvSpPr>
          <p:nvPr>
            <p:ph type="title"/>
          </p:nvPr>
        </p:nvSpPr>
        <p:spPr/>
        <p:txBody>
          <a:bodyPr/>
          <a:lstStyle/>
          <a:p>
            <a:r>
              <a:rPr lang="en-US" b="1" dirty="0"/>
              <a:t>Process Concepts</a:t>
            </a:r>
            <a:endParaRPr lang="en-US" dirty="0"/>
          </a:p>
        </p:txBody>
      </p:sp>
      <p:sp>
        <p:nvSpPr>
          <p:cNvPr id="3" name="Content Placeholder 2">
            <a:extLst>
              <a:ext uri="{FF2B5EF4-FFF2-40B4-BE49-F238E27FC236}">
                <a16:creationId xmlns:a16="http://schemas.microsoft.com/office/drawing/2014/main" id="{A0846BA1-A849-AA69-9FEC-6FE0592CE18C}"/>
              </a:ext>
            </a:extLst>
          </p:cNvPr>
          <p:cNvSpPr>
            <a:spLocks noGrp="1"/>
          </p:cNvSpPr>
          <p:nvPr>
            <p:ph idx="1"/>
          </p:nvPr>
        </p:nvSpPr>
        <p:spPr>
          <a:xfrm>
            <a:off x="1154954" y="2443942"/>
            <a:ext cx="8825659" cy="3575858"/>
          </a:xfrm>
        </p:spPr>
        <p:txBody>
          <a:bodyPr/>
          <a:lstStyle/>
          <a:p>
            <a:r>
              <a:rPr lang="en-US" b="1" u="heavy" dirty="0"/>
              <a:t> Program</a:t>
            </a:r>
            <a:endParaRPr lang="en-US" dirty="0"/>
          </a:p>
          <a:p>
            <a:r>
              <a:rPr lang="en-US" dirty="0">
                <a:latin typeface="Times New Roman" panose="02020603050405020304" pitchFamily="18" charset="0"/>
                <a:cs typeface="Times New Roman" panose="02020603050405020304" pitchFamily="18" charset="0"/>
              </a:rPr>
              <a:t>A program is a piece of code which may be a single line or millions of lines.</a:t>
            </a:r>
          </a:p>
          <a:p>
            <a:r>
              <a:rPr lang="en-US" dirty="0">
                <a:latin typeface="Times New Roman" panose="02020603050405020304" pitchFamily="18" charset="0"/>
                <a:cs typeface="Times New Roman" panose="02020603050405020304" pitchFamily="18" charset="0"/>
              </a:rPr>
              <a:t> A computer program is usually written by a computer programmer in a programming language. </a:t>
            </a:r>
          </a:p>
          <a:p>
            <a:r>
              <a:rPr lang="en-US" dirty="0">
                <a:latin typeface="Times New Roman" panose="02020603050405020304" pitchFamily="18" charset="0"/>
                <a:cs typeface="Times New Roman" panose="02020603050405020304" pitchFamily="18" charset="0"/>
              </a:rPr>
              <a:t>A computer program is a collection of instructions that performs a specific task when executed by a computer.</a:t>
            </a:r>
          </a:p>
          <a:p>
            <a:r>
              <a:rPr lang="en-US" dirty="0">
                <a:latin typeface="Times New Roman" panose="02020603050405020304" pitchFamily="18" charset="0"/>
                <a:cs typeface="Times New Roman" panose="02020603050405020304" pitchFamily="18" charset="0"/>
              </a:rPr>
              <a:t> When we compare a program with a process, we can conclude that a process is a dynamic instance of a computer program.</a:t>
            </a:r>
          </a:p>
          <a:p>
            <a:endParaRPr lang="en-US" dirty="0"/>
          </a:p>
        </p:txBody>
      </p:sp>
    </p:spTree>
    <p:extLst>
      <p:ext uri="{BB962C8B-B14F-4D97-AF65-F5344CB8AC3E}">
        <p14:creationId xmlns:p14="http://schemas.microsoft.com/office/powerpoint/2010/main" val="1712165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4BB48-14EF-AA6A-8B18-A333B40203A8}"/>
              </a:ext>
            </a:extLst>
          </p:cNvPr>
          <p:cNvSpPr>
            <a:spLocks noGrp="1"/>
          </p:cNvSpPr>
          <p:nvPr>
            <p:ph type="title"/>
          </p:nvPr>
        </p:nvSpPr>
        <p:spPr>
          <a:xfrm>
            <a:off x="1154954" y="971721"/>
            <a:ext cx="8761413" cy="708911"/>
          </a:xfrm>
        </p:spPr>
        <p:txBody>
          <a:bodyPr>
            <a:normAutofit/>
          </a:bodyPr>
          <a:lstStyle/>
          <a:p>
            <a:r>
              <a:rPr lang="en-US" b="1" dirty="0">
                <a:solidFill>
                  <a:srgbClr val="EBEBEB"/>
                </a:solidFill>
                <a:latin typeface="Times New Roman" panose="02020603050405020304" pitchFamily="18" charset="0"/>
                <a:cs typeface="Times New Roman" panose="02020603050405020304" pitchFamily="18" charset="0"/>
              </a:rPr>
              <a:t>Process Concepts</a:t>
            </a:r>
            <a:endParaRPr lang="en-US" dirty="0">
              <a:solidFill>
                <a:srgbClr val="EBEBEB"/>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4DF034B-2826-EB7B-4CCB-C29CC822CD36}"/>
              </a:ext>
            </a:extLst>
          </p:cNvPr>
          <p:cNvSpPr>
            <a:spLocks noGrp="1"/>
          </p:cNvSpPr>
          <p:nvPr>
            <p:ph idx="1"/>
          </p:nvPr>
        </p:nvSpPr>
        <p:spPr>
          <a:xfrm>
            <a:off x="934066" y="2753032"/>
            <a:ext cx="3701944" cy="3883742"/>
          </a:xfrm>
        </p:spPr>
        <p:txBody>
          <a:bodyPr anchor="ctr">
            <a:normAutofit fontScale="92500" lnSpcReduction="10000"/>
          </a:bodyPr>
          <a:lstStyle/>
          <a:p>
            <a:r>
              <a:rPr lang="en-US" sz="1600" dirty="0">
                <a:latin typeface="Times New Roman" panose="02020603050405020304" pitchFamily="18" charset="0"/>
                <a:cs typeface="Times New Roman" panose="02020603050405020304" pitchFamily="18" charset="0"/>
              </a:rPr>
              <a:t>A process is an instance of a program in execution.</a:t>
            </a:r>
          </a:p>
          <a:p>
            <a:r>
              <a:rPr lang="en-US" sz="1600" dirty="0">
                <a:latin typeface="Times New Roman" panose="02020603050405020304" pitchFamily="18" charset="0"/>
                <a:cs typeface="Times New Roman" panose="02020603050405020304" pitchFamily="18" charset="0"/>
              </a:rPr>
              <a:t> A program becomes process when executable file is loaded in the main memory. </a:t>
            </a:r>
          </a:p>
          <a:p>
            <a:r>
              <a:rPr lang="en-US" sz="1600" dirty="0">
                <a:latin typeface="Times New Roman" panose="02020603050405020304" pitchFamily="18" charset="0"/>
                <a:cs typeface="Times New Roman" panose="02020603050405020304" pitchFamily="18" charset="0"/>
              </a:rPr>
              <a:t>A process is defined as an entity which represents the basic unit of work to be implemented in the system. Each process has its own address space and process control block (PCB).</a:t>
            </a:r>
          </a:p>
          <a:p>
            <a:r>
              <a:rPr lang="en-US" dirty="0">
                <a:latin typeface="Times New Roman" panose="02020603050405020304" pitchFamily="18" charset="0"/>
                <a:cs typeface="Times New Roman" panose="02020603050405020304" pitchFamily="18" charset="0"/>
              </a:rPr>
              <a:t>It is a program containing one multiplication statement (prod = prod *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but the process will execute100 multiplication, one at a time through the 'for' loop.</a:t>
            </a: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9500D64-8C74-D835-460E-A67D6E47A44C}"/>
              </a:ext>
            </a:extLst>
          </p:cNvPr>
          <p:cNvPicPr>
            <a:picLocks noChangeAspect="1"/>
          </p:cNvPicPr>
          <p:nvPr/>
        </p:nvPicPr>
        <p:blipFill>
          <a:blip r:embed="rId2"/>
          <a:stretch>
            <a:fillRect/>
          </a:stretch>
        </p:blipFill>
        <p:spPr>
          <a:xfrm>
            <a:off x="5366794" y="2595848"/>
            <a:ext cx="6158802" cy="2787462"/>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3768319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D0FA4-3D71-4A7C-0C04-AD1FA50A131F}"/>
              </a:ext>
            </a:extLst>
          </p:cNvPr>
          <p:cNvSpPr>
            <a:spLocks noGrp="1"/>
          </p:cNvSpPr>
          <p:nvPr>
            <p:ph type="title"/>
          </p:nvPr>
        </p:nvSpPr>
        <p:spPr/>
        <p:txBody>
          <a:bodyPr/>
          <a:lstStyle/>
          <a:p>
            <a:r>
              <a:rPr lang="en-US" u="heavy" dirty="0"/>
              <a:t>Process states and its transition</a:t>
            </a:r>
            <a:endParaRPr lang="en-US" dirty="0"/>
          </a:p>
        </p:txBody>
      </p:sp>
      <p:sp>
        <p:nvSpPr>
          <p:cNvPr id="3" name="Content Placeholder 2">
            <a:extLst>
              <a:ext uri="{FF2B5EF4-FFF2-40B4-BE49-F238E27FC236}">
                <a16:creationId xmlns:a16="http://schemas.microsoft.com/office/drawing/2014/main" id="{E275E5C4-ADF7-E6FA-9522-A18BC5782F0E}"/>
              </a:ext>
            </a:extLst>
          </p:cNvPr>
          <p:cNvSpPr>
            <a:spLocks noGrp="1"/>
          </p:cNvSpPr>
          <p:nvPr>
            <p:ph idx="1"/>
          </p:nvPr>
        </p:nvSpPr>
        <p:spPr>
          <a:xfrm>
            <a:off x="399012" y="2211185"/>
            <a:ext cx="11587942" cy="4646815"/>
          </a:xfrm>
        </p:spPr>
        <p:txBody>
          <a:bodyPr/>
          <a:lstStyle/>
          <a:p>
            <a:r>
              <a:rPr lang="en-US" dirty="0">
                <a:latin typeface="Times New Roman" panose="02020603050405020304" pitchFamily="18" charset="0"/>
                <a:cs typeface="Times New Roman" panose="02020603050405020304" pitchFamily="18" charset="0"/>
              </a:rPr>
              <a:t>When a process executes, it passes through different states. These stages may differ in different operating systems, and the names of these states are also not standardized. In general, a process can have one of the following five states at a time.</a:t>
            </a:r>
          </a:p>
          <a:p>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88A4598-1FD6-7D94-4FC8-04D523A54DB8}"/>
              </a:ext>
            </a:extLst>
          </p:cNvPr>
          <p:cNvPicPr>
            <a:picLocks noChangeAspect="1"/>
          </p:cNvPicPr>
          <p:nvPr/>
        </p:nvPicPr>
        <p:blipFill>
          <a:blip r:embed="rId2"/>
          <a:stretch>
            <a:fillRect/>
          </a:stretch>
        </p:blipFill>
        <p:spPr>
          <a:xfrm>
            <a:off x="2651492" y="3521927"/>
            <a:ext cx="6884393" cy="3039647"/>
          </a:xfrm>
          <a:prstGeom prst="rect">
            <a:avLst/>
          </a:prstGeom>
        </p:spPr>
      </p:pic>
    </p:spTree>
    <p:extLst>
      <p:ext uri="{BB962C8B-B14F-4D97-AF65-F5344CB8AC3E}">
        <p14:creationId xmlns:p14="http://schemas.microsoft.com/office/powerpoint/2010/main" val="3501018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7EA56-53FF-74C6-3DE4-4B4FB91CD36F}"/>
              </a:ext>
            </a:extLst>
          </p:cNvPr>
          <p:cNvSpPr>
            <a:spLocks noGrp="1"/>
          </p:cNvSpPr>
          <p:nvPr>
            <p:ph type="title"/>
          </p:nvPr>
        </p:nvSpPr>
        <p:spPr/>
        <p:txBody>
          <a:bodyPr/>
          <a:lstStyle/>
          <a:p>
            <a:r>
              <a:rPr lang="en-US" u="heavy" dirty="0"/>
              <a:t>Process states and its transition</a:t>
            </a:r>
            <a:endParaRPr lang="en-US" dirty="0"/>
          </a:p>
        </p:txBody>
      </p:sp>
      <p:sp>
        <p:nvSpPr>
          <p:cNvPr id="3" name="Content Placeholder 2">
            <a:extLst>
              <a:ext uri="{FF2B5EF4-FFF2-40B4-BE49-F238E27FC236}">
                <a16:creationId xmlns:a16="http://schemas.microsoft.com/office/drawing/2014/main" id="{C5F2F8E0-489E-0C10-1CED-02ED2C003B63}"/>
              </a:ext>
            </a:extLst>
          </p:cNvPr>
          <p:cNvSpPr>
            <a:spLocks noGrp="1"/>
          </p:cNvSpPr>
          <p:nvPr>
            <p:ph idx="1"/>
          </p:nvPr>
        </p:nvSpPr>
        <p:spPr>
          <a:xfrm>
            <a:off x="0" y="2359742"/>
            <a:ext cx="11838039" cy="4498258"/>
          </a:xfrm>
        </p:spPr>
        <p:txBody>
          <a:bodyPr/>
          <a:lstStyle/>
          <a:p>
            <a:r>
              <a:rPr lang="en-US" b="1" dirty="0">
                <a:latin typeface="Times New Roman" panose="02020603050405020304" pitchFamily="18" charset="0"/>
                <a:cs typeface="Times New Roman" panose="02020603050405020304" pitchFamily="18" charset="0"/>
              </a:rPr>
              <a:t>Start</a:t>
            </a:r>
            <a:r>
              <a:rPr lang="en-US" dirty="0">
                <a:latin typeface="Times New Roman" panose="02020603050405020304" pitchFamily="18" charset="0"/>
                <a:cs typeface="Times New Roman" panose="02020603050405020304" pitchFamily="18" charset="0"/>
              </a:rPr>
              <a:t>: This is the initial state when a process is first started/created.</a:t>
            </a:r>
          </a:p>
          <a:p>
            <a:r>
              <a:rPr lang="en-US" b="1" dirty="0">
                <a:latin typeface="Times New Roman" panose="02020603050405020304" pitchFamily="18" charset="0"/>
                <a:cs typeface="Times New Roman" panose="02020603050405020304" pitchFamily="18" charset="0"/>
              </a:rPr>
              <a:t>Ready: </a:t>
            </a:r>
            <a:r>
              <a:rPr lang="en-US" dirty="0">
                <a:latin typeface="Times New Roman" panose="02020603050405020304" pitchFamily="18" charset="0"/>
                <a:cs typeface="Times New Roman" panose="02020603050405020304" pitchFamily="18" charset="0"/>
              </a:rPr>
              <a:t>The process is waiting to be assigned to a processor. Ready processes are waiting to have the processor allocated to them by the operating system so that they can run. Process may come into this state after Start state or while running it by but interrupted by the scheduler to assign CPU to some other process.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Running: </a:t>
            </a:r>
            <a:r>
              <a:rPr lang="en-US" dirty="0">
                <a:latin typeface="Times New Roman" panose="02020603050405020304" pitchFamily="18" charset="0"/>
                <a:cs typeface="Times New Roman" panose="02020603050405020304" pitchFamily="18" charset="0"/>
              </a:rPr>
              <a:t>Once the process has been assigned to a processor by the OS scheduler, the process state is set to running and the processor executes its instructions.</a:t>
            </a:r>
          </a:p>
          <a:p>
            <a:r>
              <a:rPr lang="en-US" b="1" dirty="0">
                <a:latin typeface="Times New Roman" panose="02020603050405020304" pitchFamily="18" charset="0"/>
                <a:cs typeface="Times New Roman" panose="02020603050405020304" pitchFamily="18" charset="0"/>
              </a:rPr>
              <a:t>Waiting: </a:t>
            </a:r>
            <a:r>
              <a:rPr lang="en-US" dirty="0">
                <a:latin typeface="Times New Roman" panose="02020603050405020304" pitchFamily="18" charset="0"/>
                <a:cs typeface="Times New Roman" panose="02020603050405020304" pitchFamily="18" charset="0"/>
              </a:rPr>
              <a:t>Process moves into the waiting state if it needs to wait for a resource, such as waiting for user input, or waiting for a file to become available.</a:t>
            </a:r>
          </a:p>
          <a:p>
            <a:r>
              <a:rPr lang="en-US" b="1" dirty="0">
                <a:latin typeface="Times New Roman" panose="02020603050405020304" pitchFamily="18" charset="0"/>
                <a:cs typeface="Times New Roman" panose="02020603050405020304" pitchFamily="18" charset="0"/>
              </a:rPr>
              <a:t>Terminated or Exit: </a:t>
            </a:r>
            <a:r>
              <a:rPr lang="en-US" dirty="0">
                <a:latin typeface="Times New Roman" panose="02020603050405020304" pitchFamily="18" charset="0"/>
                <a:cs typeface="Times New Roman" panose="02020603050405020304" pitchFamily="18" charset="0"/>
              </a:rPr>
              <a:t>Once the process finishes its execution, or it is terminated by the operating system, it is moved to the terminated state where it waits to be removed from main memory.</a:t>
            </a:r>
          </a:p>
          <a:p>
            <a:endParaRPr lang="en-US" dirty="0"/>
          </a:p>
        </p:txBody>
      </p:sp>
    </p:spTree>
    <p:extLst>
      <p:ext uri="{BB962C8B-B14F-4D97-AF65-F5344CB8AC3E}">
        <p14:creationId xmlns:p14="http://schemas.microsoft.com/office/powerpoint/2010/main" val="784918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7EC04-FE6A-7195-D9BC-23BD739D13D9}"/>
              </a:ext>
            </a:extLst>
          </p:cNvPr>
          <p:cNvSpPr>
            <a:spLocks noGrp="1"/>
          </p:cNvSpPr>
          <p:nvPr>
            <p:ph type="title"/>
          </p:nvPr>
        </p:nvSpPr>
        <p:spPr>
          <a:xfrm>
            <a:off x="1154954" y="973668"/>
            <a:ext cx="8761413" cy="706964"/>
          </a:xfrm>
        </p:spPr>
        <p:txBody>
          <a:bodyPr>
            <a:normAutofit/>
          </a:bodyPr>
          <a:lstStyle/>
          <a:p>
            <a:pPr>
              <a:lnSpc>
                <a:spcPct val="90000"/>
              </a:lnSpc>
            </a:pPr>
            <a:r>
              <a:rPr lang="en-US" sz="2000" b="1" u="heavy" dirty="0">
                <a:solidFill>
                  <a:srgbClr val="EBEBEB"/>
                </a:solidFill>
              </a:rPr>
              <a:t>Process Control Block (PCB)</a:t>
            </a:r>
            <a:br>
              <a:rPr lang="en-US" sz="2000" b="1" dirty="0">
                <a:solidFill>
                  <a:srgbClr val="EBEBEB"/>
                </a:solidFill>
              </a:rPr>
            </a:br>
            <a:endParaRPr lang="en-US" sz="2000" dirty="0">
              <a:solidFill>
                <a:srgbClr val="EBEBEB"/>
              </a:solidFill>
            </a:endParaRPr>
          </a:p>
        </p:txBody>
      </p:sp>
      <p:sp>
        <p:nvSpPr>
          <p:cNvPr id="3" name="Content Placeholder 2">
            <a:extLst>
              <a:ext uri="{FF2B5EF4-FFF2-40B4-BE49-F238E27FC236}">
                <a16:creationId xmlns:a16="http://schemas.microsoft.com/office/drawing/2014/main" id="{1A57EB14-E29B-2789-EA08-750C6947A838}"/>
              </a:ext>
            </a:extLst>
          </p:cNvPr>
          <p:cNvSpPr>
            <a:spLocks noGrp="1"/>
          </p:cNvSpPr>
          <p:nvPr>
            <p:ph idx="1"/>
          </p:nvPr>
        </p:nvSpPr>
        <p:spPr>
          <a:xfrm>
            <a:off x="70338" y="2833635"/>
            <a:ext cx="9385161" cy="3967470"/>
          </a:xfrm>
        </p:spPr>
        <p:txBody>
          <a:bodyPr anchor="ctr">
            <a:normAutofit/>
          </a:bodyPr>
          <a:lstStyle/>
          <a:p>
            <a:pPr>
              <a:lnSpc>
                <a:spcPct val="90000"/>
              </a:lnSpc>
            </a:pPr>
            <a:r>
              <a:rPr lang="en-US" sz="1400" dirty="0">
                <a:latin typeface="Times New Roman" panose="02020603050405020304" pitchFamily="18" charset="0"/>
                <a:cs typeface="Times New Roman" panose="02020603050405020304" pitchFamily="18" charset="0"/>
              </a:rPr>
              <a:t>A Process Control Block is a data structure maintained by the Operating System for every process. The PCB is identified by an integer process ID (PID). The PCB is maintained for a process throughout its lifetime, and is deleted once the process terminates. A PCB keeps all the information needed to keep track of a process as listed in the figure:</a:t>
            </a:r>
          </a:p>
          <a:p>
            <a:pPr>
              <a:lnSpc>
                <a:spcPct val="90000"/>
              </a:lnSpc>
            </a:pPr>
            <a:r>
              <a:rPr lang="en-US" sz="1400" b="1" dirty="0">
                <a:latin typeface="Times New Roman" panose="02020603050405020304" pitchFamily="18" charset="0"/>
                <a:cs typeface="Times New Roman" panose="02020603050405020304" pitchFamily="18" charset="0"/>
              </a:rPr>
              <a:t>Process State</a:t>
            </a:r>
            <a:r>
              <a:rPr lang="en-US" sz="1400" dirty="0">
                <a:latin typeface="Times New Roman" panose="02020603050405020304" pitchFamily="18" charset="0"/>
                <a:cs typeface="Times New Roman" panose="02020603050405020304" pitchFamily="18" charset="0"/>
              </a:rPr>
              <a:t>: The current state of the process i.e., whether it is ready, running, waiting, or whatever.</a:t>
            </a:r>
          </a:p>
          <a:p>
            <a:pPr>
              <a:lnSpc>
                <a:spcPct val="90000"/>
              </a:lnSpc>
            </a:pPr>
            <a:r>
              <a:rPr lang="en-US" sz="1400" b="1" dirty="0">
                <a:latin typeface="Times New Roman" panose="02020603050405020304" pitchFamily="18" charset="0"/>
                <a:cs typeface="Times New Roman" panose="02020603050405020304" pitchFamily="18" charset="0"/>
              </a:rPr>
              <a:t>Pointer</a:t>
            </a:r>
            <a:r>
              <a:rPr lang="en-US" sz="1400" dirty="0">
                <a:latin typeface="Times New Roman" panose="02020603050405020304" pitchFamily="18" charset="0"/>
                <a:cs typeface="Times New Roman" panose="02020603050405020304" pitchFamily="18" charset="0"/>
              </a:rPr>
              <a:t>: A pointer to parent process.</a:t>
            </a:r>
          </a:p>
          <a:p>
            <a:pPr>
              <a:lnSpc>
                <a:spcPct val="90000"/>
              </a:lnSpc>
            </a:pPr>
            <a:r>
              <a:rPr lang="en-US" sz="1400" b="1" dirty="0">
                <a:latin typeface="Times New Roman" panose="02020603050405020304" pitchFamily="18" charset="0"/>
                <a:cs typeface="Times New Roman" panose="02020603050405020304" pitchFamily="18" charset="0"/>
              </a:rPr>
              <a:t>Priority: </a:t>
            </a:r>
            <a:r>
              <a:rPr lang="en-US" sz="1400" dirty="0">
                <a:latin typeface="Times New Roman" panose="02020603050405020304" pitchFamily="18" charset="0"/>
                <a:cs typeface="Times New Roman" panose="02020603050405020304" pitchFamily="18" charset="0"/>
              </a:rPr>
              <a:t>Contains the priority numbers of each process.</a:t>
            </a:r>
          </a:p>
          <a:p>
            <a:pPr>
              <a:lnSpc>
                <a:spcPct val="90000"/>
              </a:lnSpc>
            </a:pPr>
            <a:r>
              <a:rPr lang="en-US" sz="1400" b="1" dirty="0">
                <a:latin typeface="Times New Roman" panose="02020603050405020304" pitchFamily="18" charset="0"/>
                <a:cs typeface="Times New Roman" panose="02020603050405020304" pitchFamily="18" charset="0"/>
              </a:rPr>
              <a:t>Program Counter</a:t>
            </a:r>
            <a:r>
              <a:rPr lang="en-US" sz="1400" dirty="0">
                <a:latin typeface="Times New Roman" panose="02020603050405020304" pitchFamily="18" charset="0"/>
                <a:cs typeface="Times New Roman" panose="02020603050405020304" pitchFamily="18" charset="0"/>
              </a:rPr>
              <a:t>: Program Counter is a pointer to the address of the next instruction to be executed for this process.</a:t>
            </a:r>
          </a:p>
          <a:p>
            <a:pPr>
              <a:lnSpc>
                <a:spcPct val="90000"/>
              </a:lnSpc>
            </a:pPr>
            <a:r>
              <a:rPr lang="en-US" sz="1400" b="1" dirty="0">
                <a:latin typeface="Times New Roman" panose="02020603050405020304" pitchFamily="18" charset="0"/>
                <a:cs typeface="Times New Roman" panose="02020603050405020304" pitchFamily="18" charset="0"/>
              </a:rPr>
              <a:t>CPU registers</a:t>
            </a:r>
            <a:r>
              <a:rPr lang="en-US" sz="1400" dirty="0">
                <a:latin typeface="Times New Roman" panose="02020603050405020304" pitchFamily="18" charset="0"/>
                <a:cs typeface="Times New Roman" panose="02020603050405020304" pitchFamily="18" charset="0"/>
              </a:rPr>
              <a:t>: Various CPU registers where process need to be stored for execution for running state.</a:t>
            </a:r>
          </a:p>
          <a:p>
            <a:pPr>
              <a:lnSpc>
                <a:spcPct val="90000"/>
              </a:lnSpc>
            </a:pPr>
            <a:r>
              <a:rPr lang="en-US" sz="1400" b="1" dirty="0">
                <a:latin typeface="Times New Roman" panose="02020603050405020304" pitchFamily="18" charset="0"/>
                <a:cs typeface="Times New Roman" panose="02020603050405020304" pitchFamily="18" charset="0"/>
              </a:rPr>
              <a:t>IO status information</a:t>
            </a:r>
            <a:r>
              <a:rPr lang="en-US" sz="1400" dirty="0">
                <a:latin typeface="Times New Roman" panose="02020603050405020304" pitchFamily="18" charset="0"/>
                <a:cs typeface="Times New Roman" panose="02020603050405020304" pitchFamily="18" charset="0"/>
              </a:rPr>
              <a:t>: This includes a list of I/O devices allocated to the process.</a:t>
            </a:r>
          </a:p>
          <a:p>
            <a:pPr>
              <a:lnSpc>
                <a:spcPct val="90000"/>
              </a:lnSpc>
            </a:pPr>
            <a:r>
              <a:rPr lang="en-US" sz="1400" b="1" dirty="0">
                <a:latin typeface="Times New Roman" panose="02020603050405020304" pitchFamily="18" charset="0"/>
                <a:cs typeface="Times New Roman" panose="02020603050405020304" pitchFamily="18" charset="0"/>
              </a:rPr>
              <a:t>Accounting information</a:t>
            </a:r>
            <a:r>
              <a:rPr lang="en-US" sz="1400" dirty="0">
                <a:latin typeface="Times New Roman" panose="02020603050405020304" pitchFamily="18" charset="0"/>
                <a:cs typeface="Times New Roman" panose="02020603050405020304" pitchFamily="18" charset="0"/>
              </a:rPr>
              <a:t>: This includes the amount of CPU used for process execution, time limits, execution ID </a:t>
            </a:r>
            <a:r>
              <a:rPr lang="en-US" sz="1400" dirty="0" err="1">
                <a:latin typeface="Times New Roman" panose="02020603050405020304" pitchFamily="18" charset="0"/>
                <a:cs typeface="Times New Roman" panose="02020603050405020304" pitchFamily="18" charset="0"/>
              </a:rPr>
              <a:t>etc</a:t>
            </a:r>
            <a:endParaRPr lang="en-US" sz="1400" dirty="0">
              <a:latin typeface="Times New Roman" panose="02020603050405020304" pitchFamily="18" charset="0"/>
              <a:cs typeface="Times New Roman" panose="02020603050405020304" pitchFamily="18" charset="0"/>
            </a:endParaRPr>
          </a:p>
          <a:p>
            <a:pPr>
              <a:lnSpc>
                <a:spcPct val="90000"/>
              </a:lnSpc>
            </a:pPr>
            <a:r>
              <a:rPr lang="en-US" sz="1400" b="1" dirty="0">
                <a:latin typeface="Times New Roman" panose="02020603050405020304" pitchFamily="18" charset="0"/>
                <a:cs typeface="Times New Roman" panose="02020603050405020304" pitchFamily="18" charset="0"/>
              </a:rPr>
              <a:t>CPU Scheduling Information</a:t>
            </a:r>
            <a:r>
              <a:rPr lang="en-US" sz="1400" dirty="0">
                <a:latin typeface="Times New Roman" panose="02020603050405020304" pitchFamily="18" charset="0"/>
                <a:cs typeface="Times New Roman" panose="02020603050405020304" pitchFamily="18" charset="0"/>
              </a:rPr>
              <a:t>: Process priority and other scheduling information which is required to schedule the process.</a:t>
            </a:r>
          </a:p>
          <a:p>
            <a:pPr>
              <a:lnSpc>
                <a:spcPct val="90000"/>
              </a:lnSpc>
            </a:pPr>
            <a:r>
              <a:rPr lang="en-US" sz="1400" b="1" dirty="0">
                <a:latin typeface="Times New Roman" panose="02020603050405020304" pitchFamily="18" charset="0"/>
                <a:cs typeface="Times New Roman" panose="02020603050405020304" pitchFamily="18" charset="0"/>
              </a:rPr>
              <a:t>Memory management information</a:t>
            </a:r>
            <a:r>
              <a:rPr lang="en-US" sz="1400" dirty="0">
                <a:latin typeface="Times New Roman" panose="02020603050405020304" pitchFamily="18" charset="0"/>
                <a:cs typeface="Times New Roman" panose="02020603050405020304" pitchFamily="18" charset="0"/>
              </a:rPr>
              <a:t>: This includes the information of page table, memory limits, Segment table depending on memory used by the operating system.</a:t>
            </a:r>
          </a:p>
          <a:p>
            <a:pPr>
              <a:lnSpc>
                <a:spcPct val="90000"/>
              </a:lnSpc>
            </a:pPr>
            <a:endParaRPr lang="en-US" sz="1400" dirty="0">
              <a:latin typeface="Times New Roman" panose="02020603050405020304" pitchFamily="18" charset="0"/>
              <a:cs typeface="Times New Roman" panose="02020603050405020304" pitchFamily="18" charset="0"/>
            </a:endParaRPr>
          </a:p>
          <a:p>
            <a:pPr>
              <a:lnSpc>
                <a:spcPct val="90000"/>
              </a:lnSpc>
            </a:pPr>
            <a:endParaRPr lang="en-US" sz="1400" dirty="0">
              <a:latin typeface="Times New Roman" panose="02020603050405020304" pitchFamily="18" charset="0"/>
              <a:cs typeface="Times New Roman" panose="02020603050405020304" pitchFamily="18" charset="0"/>
            </a:endParaRPr>
          </a:p>
          <a:p>
            <a:pPr>
              <a:lnSpc>
                <a:spcPct val="90000"/>
              </a:lnSpc>
            </a:pPr>
            <a:endParaRPr lang="en-US" sz="1400" dirty="0">
              <a:latin typeface="Times New Roman" panose="02020603050405020304" pitchFamily="18" charset="0"/>
              <a:cs typeface="Times New Roman" panose="02020603050405020304" pitchFamily="18" charset="0"/>
            </a:endParaRPr>
          </a:p>
        </p:txBody>
      </p:sp>
      <p:pic>
        <p:nvPicPr>
          <p:cNvPr id="32" name="Image 2">
            <a:extLst>
              <a:ext uri="{FF2B5EF4-FFF2-40B4-BE49-F238E27FC236}">
                <a16:creationId xmlns:a16="http://schemas.microsoft.com/office/drawing/2014/main" id="{B5EFFBBE-E20F-F4F2-7C87-89FB25AFD401}"/>
              </a:ext>
            </a:extLst>
          </p:cNvPr>
          <p:cNvPicPr>
            <a:picLocks/>
          </p:cNvPicPr>
          <p:nvPr/>
        </p:nvPicPr>
        <p:blipFill>
          <a:blip r:embed="rId2" cstate="print"/>
          <a:stretch>
            <a:fillRect/>
          </a:stretch>
        </p:blipFill>
        <p:spPr>
          <a:xfrm>
            <a:off x="9578250" y="2343872"/>
            <a:ext cx="1893973" cy="4197605"/>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2007350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EA134-C724-EB13-6836-3574EE9D7B57}"/>
              </a:ext>
            </a:extLst>
          </p:cNvPr>
          <p:cNvSpPr>
            <a:spLocks noGrp="1"/>
          </p:cNvSpPr>
          <p:nvPr>
            <p:ph type="title"/>
          </p:nvPr>
        </p:nvSpPr>
        <p:spPr/>
        <p:txBody>
          <a:bodyPr/>
          <a:lstStyle/>
          <a:p>
            <a:r>
              <a:rPr lang="en-US" dirty="0" err="1">
                <a:latin typeface="Times New Roman" panose="02020603050405020304" pitchFamily="18" charset="0"/>
                <a:cs typeface="Times New Roman" panose="02020603050405020304" pitchFamily="18" charset="0"/>
              </a:rPr>
              <a:t>Concurent</a:t>
            </a:r>
            <a:r>
              <a:rPr lang="en-US" dirty="0">
                <a:latin typeface="Times New Roman" panose="02020603050405020304" pitchFamily="18" charset="0"/>
                <a:cs typeface="Times New Roman" panose="02020603050405020304" pitchFamily="18" charset="0"/>
              </a:rPr>
              <a:t> processing and </a:t>
            </a:r>
            <a:r>
              <a:rPr lang="en-US" dirty="0" err="1">
                <a:latin typeface="Times New Roman" panose="02020603050405020304" pitchFamily="18" charset="0"/>
                <a:cs typeface="Times New Roman" panose="02020603050405020304" pitchFamily="18" charset="0"/>
              </a:rPr>
              <a:t>Parllel</a:t>
            </a:r>
            <a:r>
              <a:rPr lang="en-US" dirty="0">
                <a:latin typeface="Times New Roman" panose="02020603050405020304" pitchFamily="18" charset="0"/>
                <a:cs typeface="Times New Roman" panose="02020603050405020304" pitchFamily="18" charset="0"/>
              </a:rPr>
              <a:t> processing</a:t>
            </a:r>
          </a:p>
        </p:txBody>
      </p:sp>
      <p:sp>
        <p:nvSpPr>
          <p:cNvPr id="3" name="Content Placeholder 2">
            <a:extLst>
              <a:ext uri="{FF2B5EF4-FFF2-40B4-BE49-F238E27FC236}">
                <a16:creationId xmlns:a16="http://schemas.microsoft.com/office/drawing/2014/main" id="{CB7B1D96-AE13-63A8-C725-69FD243EDF23}"/>
              </a:ext>
            </a:extLst>
          </p:cNvPr>
          <p:cNvSpPr>
            <a:spLocks noGrp="1"/>
          </p:cNvSpPr>
          <p:nvPr>
            <p:ph idx="1"/>
          </p:nvPr>
        </p:nvSpPr>
        <p:spPr>
          <a:xfrm>
            <a:off x="0" y="2301073"/>
            <a:ext cx="12192000" cy="4556927"/>
          </a:xfrm>
        </p:spPr>
        <p:txBody>
          <a:bodyPr>
            <a:normAutofit/>
          </a:bodyPr>
          <a:lstStyle/>
          <a:p>
            <a:r>
              <a:rPr lang="en-US" b="1" dirty="0">
                <a:latin typeface="Times New Roman" panose="02020603050405020304" pitchFamily="18" charset="0"/>
                <a:cs typeface="Times New Roman" panose="02020603050405020304" pitchFamily="18" charset="0"/>
              </a:rPr>
              <a:t>Concurrent processing</a:t>
            </a:r>
          </a:p>
          <a:p>
            <a:r>
              <a:rPr lang="en-US" dirty="0">
                <a:latin typeface="Times New Roman" panose="02020603050405020304" pitchFamily="18" charset="0"/>
                <a:cs typeface="Times New Roman" panose="02020603050405020304" pitchFamily="18" charset="0"/>
              </a:rPr>
              <a:t>Concurrent processing means multiple tasks make progress during the same time period.</a:t>
            </a:r>
          </a:p>
          <a:p>
            <a:r>
              <a:rPr lang="en-US" dirty="0">
                <a:latin typeface="Times New Roman" panose="02020603050405020304" pitchFamily="18" charset="0"/>
                <a:cs typeface="Times New Roman" panose="02020603050405020304" pitchFamily="18" charset="0"/>
              </a:rPr>
              <a:t>Tasks are divided into smaller subtasks so they can be worked on without waiting for each other.</a:t>
            </a:r>
          </a:p>
          <a:p>
            <a:r>
              <a:rPr lang="en-US" dirty="0">
                <a:latin typeface="Times New Roman" panose="02020603050405020304" pitchFamily="18" charset="0"/>
                <a:cs typeface="Times New Roman" panose="02020603050405020304" pitchFamily="18" charset="0"/>
              </a:rPr>
              <a:t>These subtasks may be switched rapidly by one processor OR may run on different processors.</a:t>
            </a:r>
          </a:p>
          <a:p>
            <a:r>
              <a:rPr lang="en-US" dirty="0">
                <a:latin typeface="Times New Roman" panose="02020603050405020304" pitchFamily="18" charset="0"/>
                <a:cs typeface="Times New Roman" panose="02020603050405020304" pitchFamily="18" charset="0"/>
              </a:rPr>
              <a:t>It does not require multiple processors  even one CPU can handle multiple tasks by switching between them.</a:t>
            </a:r>
          </a:p>
          <a:p>
            <a:r>
              <a:rPr lang="en-US" dirty="0">
                <a:latin typeface="Times New Roman" panose="02020603050405020304" pitchFamily="18" charset="0"/>
                <a:cs typeface="Times New Roman" panose="02020603050405020304" pitchFamily="18" charset="0"/>
              </a:rPr>
              <a:t>It gives the illusion that tasks are running at the same time, even if they are not exactly simultaneous.</a:t>
            </a:r>
          </a:p>
          <a:p>
            <a:r>
              <a:rPr lang="en-US" dirty="0">
                <a:latin typeface="Times New Roman" panose="02020603050405020304" pitchFamily="18" charset="0"/>
                <a:cs typeface="Times New Roman" panose="02020603050405020304" pitchFamily="18" charset="0"/>
              </a:rPr>
              <a:t>Used to improve responsiveness, multitasking, and to handle many processes efficiently.</a:t>
            </a:r>
          </a:p>
          <a:p>
            <a:r>
              <a:rPr lang="en-US" b="1" dirty="0">
                <a:latin typeface="Times New Roman" panose="02020603050405020304" pitchFamily="18" charset="0"/>
                <a:cs typeface="Times New Roman" panose="02020603050405020304" pitchFamily="18" charset="0"/>
              </a:rPr>
              <a:t>Parallel processing</a:t>
            </a:r>
          </a:p>
          <a:p>
            <a:r>
              <a:rPr lang="en-US" dirty="0">
                <a:latin typeface="Times New Roman" panose="02020603050405020304" pitchFamily="18" charset="0"/>
                <a:cs typeface="Times New Roman" panose="02020603050405020304" pitchFamily="18" charset="0"/>
              </a:rPr>
              <a:t>Parallel processing means two or more CPUs execute instructions at the exact same time.</a:t>
            </a:r>
          </a:p>
          <a:p>
            <a:r>
              <a:rPr lang="en-US" dirty="0">
                <a:latin typeface="Times New Roman" panose="02020603050405020304" pitchFamily="18" charset="0"/>
                <a:cs typeface="Times New Roman" panose="02020603050405020304" pitchFamily="18" charset="0"/>
              </a:rPr>
              <a:t>it is a form of multiprocessing and tasks are broken down and run simultaneously on different processors.</a:t>
            </a:r>
          </a:p>
          <a:p>
            <a:r>
              <a:rPr lang="en-US" dirty="0">
                <a:latin typeface="Times New Roman" panose="02020603050405020304" pitchFamily="18" charset="0"/>
                <a:cs typeface="Times New Roman" panose="02020603050405020304" pitchFamily="18" charset="0"/>
              </a:rPr>
              <a:t>Requires multiple cores or multiple processors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1968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52A79-2CE7-18C7-00E4-D01ED67B362D}"/>
              </a:ext>
            </a:extLst>
          </p:cNvPr>
          <p:cNvSpPr>
            <a:spLocks noGrp="1"/>
          </p:cNvSpPr>
          <p:nvPr>
            <p:ph type="title"/>
          </p:nvPr>
        </p:nvSpPr>
        <p:spPr/>
        <p:txBody>
          <a:bodyPr/>
          <a:lstStyle/>
          <a:p>
            <a:r>
              <a:rPr lang="en-US" b="1" u="heavy" dirty="0"/>
              <a:t>Race Condition</a:t>
            </a:r>
            <a:br>
              <a:rPr lang="en-US" b="1" dirty="0"/>
            </a:br>
            <a:endParaRPr lang="en-US" dirty="0"/>
          </a:p>
        </p:txBody>
      </p:sp>
      <p:sp>
        <p:nvSpPr>
          <p:cNvPr id="3" name="Content Placeholder 2">
            <a:extLst>
              <a:ext uri="{FF2B5EF4-FFF2-40B4-BE49-F238E27FC236}">
                <a16:creationId xmlns:a16="http://schemas.microsoft.com/office/drawing/2014/main" id="{15A15EAB-8EAE-3DF0-4302-9B774DC37803}"/>
              </a:ext>
            </a:extLst>
          </p:cNvPr>
          <p:cNvSpPr>
            <a:spLocks noGrp="1"/>
          </p:cNvSpPr>
          <p:nvPr>
            <p:ph idx="1"/>
          </p:nvPr>
        </p:nvSpPr>
        <p:spPr>
          <a:xfrm>
            <a:off x="0" y="2222090"/>
            <a:ext cx="12192000" cy="4635910"/>
          </a:xfrm>
        </p:spPr>
        <p:txBody>
          <a:bodyPr/>
          <a:lstStyle/>
          <a:p>
            <a:r>
              <a:rPr lang="en-US" dirty="0">
                <a:latin typeface="Times New Roman" panose="02020603050405020304" pitchFamily="18" charset="0"/>
                <a:cs typeface="Times New Roman" panose="02020603050405020304" pitchFamily="18" charset="0"/>
              </a:rPr>
              <a:t>A situation where several processes/threads access and manipulate the same data concurrently and the outcome of the execution depends on the particular order in which the access takes place, is called a race condition. A race condition occurs when two or more threads can access shared data and they try to change it at the same time.</a:t>
            </a:r>
          </a:p>
          <a:p>
            <a:r>
              <a:rPr lang="en-US" b="1" dirty="0">
                <a:latin typeface="Times New Roman" panose="02020603050405020304" pitchFamily="18" charset="0"/>
                <a:cs typeface="Times New Roman" panose="02020603050405020304" pitchFamily="18" charset="0"/>
              </a:rPr>
              <a:t>Possibilities of race:</a:t>
            </a:r>
          </a:p>
          <a:p>
            <a:pPr lvl="1"/>
            <a:r>
              <a:rPr lang="en-US" dirty="0">
                <a:latin typeface="Times New Roman" panose="02020603050405020304" pitchFamily="18" charset="0"/>
                <a:cs typeface="Times New Roman" panose="02020603050405020304" pitchFamily="18" charset="0"/>
              </a:rPr>
              <a:t>many concurrent process </a:t>
            </a:r>
            <a:r>
              <a:rPr lang="en-US" b="1" dirty="0">
                <a:latin typeface="Times New Roman" panose="02020603050405020304" pitchFamily="18" charset="0"/>
                <a:cs typeface="Times New Roman" panose="02020603050405020304" pitchFamily="18" charset="0"/>
              </a:rPr>
              <a:t>read the same data</a:t>
            </a:r>
            <a:r>
              <a:rPr lang="en-US" dirty="0">
                <a:latin typeface="Times New Roman" panose="02020603050405020304" pitchFamily="18" charset="0"/>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one process </a:t>
            </a:r>
            <a:r>
              <a:rPr lang="en-US" b="1" dirty="0">
                <a:latin typeface="Times New Roman" panose="02020603050405020304" pitchFamily="18" charset="0"/>
                <a:cs typeface="Times New Roman" panose="02020603050405020304" pitchFamily="18" charset="0"/>
              </a:rPr>
              <a:t>reading </a:t>
            </a:r>
            <a:r>
              <a:rPr lang="en-US" dirty="0">
                <a:latin typeface="Times New Roman" panose="02020603050405020304" pitchFamily="18" charset="0"/>
                <a:cs typeface="Times New Roman" panose="02020603050405020304" pitchFamily="18" charset="0"/>
              </a:rPr>
              <a:t>and another process </a:t>
            </a:r>
            <a:r>
              <a:rPr lang="en-US" b="1" dirty="0">
                <a:latin typeface="Times New Roman" panose="02020603050405020304" pitchFamily="18" charset="0"/>
                <a:cs typeface="Times New Roman" panose="02020603050405020304" pitchFamily="18" charset="0"/>
              </a:rPr>
              <a:t>writing </a:t>
            </a:r>
            <a:r>
              <a:rPr lang="en-US" dirty="0">
                <a:latin typeface="Times New Roman" panose="02020603050405020304" pitchFamily="18" charset="0"/>
                <a:cs typeface="Times New Roman" panose="02020603050405020304" pitchFamily="18" charset="0"/>
              </a:rPr>
              <a:t>same data.</a:t>
            </a:r>
            <a:endParaRPr lang="en-US" sz="14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two or more process </a:t>
            </a:r>
            <a:r>
              <a:rPr lang="en-US" b="1" dirty="0">
                <a:latin typeface="Times New Roman" panose="02020603050405020304" pitchFamily="18" charset="0"/>
                <a:cs typeface="Times New Roman" panose="02020603050405020304" pitchFamily="18" charset="0"/>
              </a:rPr>
              <a:t>writing same data</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To guard against the race conditions, we need to synchronize the processes in such a way that only one process at a time can be manipulating shared variable or file. This is called mutual exclusion (i.e. critical section is executed as an atomic instruction).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4322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347FA-6492-6D49-D72C-133F6D7B53CB}"/>
              </a:ext>
            </a:extLst>
          </p:cNvPr>
          <p:cNvSpPr>
            <a:spLocks noGrp="1"/>
          </p:cNvSpPr>
          <p:nvPr>
            <p:ph type="title"/>
          </p:nvPr>
        </p:nvSpPr>
        <p:spPr/>
        <p:txBody>
          <a:bodyPr/>
          <a:lstStyle/>
          <a:p>
            <a:r>
              <a:rPr lang="en-US" dirty="0"/>
              <a:t>Critical section </a:t>
            </a:r>
          </a:p>
        </p:txBody>
      </p:sp>
      <p:sp>
        <p:nvSpPr>
          <p:cNvPr id="3" name="Content Placeholder 2">
            <a:extLst>
              <a:ext uri="{FF2B5EF4-FFF2-40B4-BE49-F238E27FC236}">
                <a16:creationId xmlns:a16="http://schemas.microsoft.com/office/drawing/2014/main" id="{979B8B93-F79D-DC10-E508-F1E6FDF4FA41}"/>
              </a:ext>
            </a:extLst>
          </p:cNvPr>
          <p:cNvSpPr>
            <a:spLocks noGrp="1"/>
          </p:cNvSpPr>
          <p:nvPr>
            <p:ph idx="1"/>
          </p:nvPr>
        </p:nvSpPr>
        <p:spPr>
          <a:xfrm>
            <a:off x="0" y="2300748"/>
            <a:ext cx="9547123" cy="4557252"/>
          </a:xfrm>
        </p:spPr>
        <p:txBody>
          <a:bodyPr>
            <a:normAutofit/>
          </a:bodyPr>
          <a:lstStyle/>
          <a:p>
            <a:pPr fontAlgn="base"/>
            <a:r>
              <a:rPr lang="en-US" dirty="0">
                <a:latin typeface="Times New Roman" panose="02020603050405020304" pitchFamily="18" charset="0"/>
                <a:cs typeface="Times New Roman" panose="02020603050405020304" pitchFamily="18" charset="0"/>
              </a:rPr>
              <a:t>A critical section is a part of a program where shared resources (like memory, files, or variables) are accessed by multiple processes or threads. To avoid problems such as race conditions and data inconsistency, only one process/thread should execute the critical section at a time using synchronization techniques. This ensures that operations on shared resources are performed safely and predictably.</a:t>
            </a:r>
          </a:p>
          <a:p>
            <a:pPr fontAlgn="base"/>
            <a:r>
              <a:rPr lang="en-US" b="1" dirty="0">
                <a:latin typeface="Times New Roman" panose="02020603050405020304" pitchFamily="18" charset="0"/>
                <a:cs typeface="Times New Roman" panose="02020603050405020304" pitchFamily="18" charset="0"/>
              </a:rPr>
              <a:t>Structure of a Critical Section</a:t>
            </a:r>
          </a:p>
          <a:p>
            <a:pPr fontAlgn="base"/>
            <a:r>
              <a:rPr lang="en-US" b="1" dirty="0">
                <a:latin typeface="Times New Roman" panose="02020603050405020304" pitchFamily="18" charset="0"/>
                <a:cs typeface="Times New Roman" panose="02020603050405020304" pitchFamily="18" charset="0"/>
              </a:rPr>
              <a:t>1. Entry Section</a:t>
            </a:r>
            <a:endParaRPr lang="en-US" dirty="0">
              <a:latin typeface="Times New Roman" panose="02020603050405020304" pitchFamily="18" charset="0"/>
              <a:cs typeface="Times New Roman" panose="02020603050405020304" pitchFamily="18" charset="0"/>
            </a:endParaRPr>
          </a:p>
          <a:p>
            <a:pPr fontAlgn="base"/>
            <a:r>
              <a:rPr lang="en-US" dirty="0">
                <a:latin typeface="Times New Roman" panose="02020603050405020304" pitchFamily="18" charset="0"/>
                <a:cs typeface="Times New Roman" panose="02020603050405020304" pitchFamily="18" charset="0"/>
              </a:rPr>
              <a:t>The process requests permission to enter the critical section.</a:t>
            </a:r>
          </a:p>
          <a:p>
            <a:pPr fontAlgn="base"/>
            <a:r>
              <a:rPr lang="en-US" dirty="0">
                <a:latin typeface="Times New Roman" panose="02020603050405020304" pitchFamily="18" charset="0"/>
                <a:cs typeface="Times New Roman" panose="02020603050405020304" pitchFamily="18" charset="0"/>
              </a:rPr>
              <a:t>Synchronization tools (e.g., mutex, semaphore) are used to control access.</a:t>
            </a:r>
          </a:p>
          <a:p>
            <a:pPr fontAlgn="base"/>
            <a:r>
              <a:rPr lang="en-US" b="1" dirty="0">
                <a:latin typeface="Times New Roman" panose="02020603050405020304" pitchFamily="18" charset="0"/>
                <a:cs typeface="Times New Roman" panose="02020603050405020304" pitchFamily="18" charset="0"/>
              </a:rPr>
              <a:t>2. Critical Section: </a:t>
            </a:r>
            <a:r>
              <a:rPr lang="en-US" dirty="0">
                <a:latin typeface="Times New Roman" panose="02020603050405020304" pitchFamily="18" charset="0"/>
                <a:cs typeface="Times New Roman" panose="02020603050405020304" pitchFamily="18" charset="0"/>
              </a:rPr>
              <a:t>The actual code where shared resources are accessed or modified.</a:t>
            </a:r>
          </a:p>
          <a:p>
            <a:pPr fontAlgn="base"/>
            <a:r>
              <a:rPr lang="en-US" b="1"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Exit Section</a:t>
            </a:r>
            <a:r>
              <a:rPr lang="en-US" dirty="0">
                <a:latin typeface="Times New Roman" panose="02020603050405020304" pitchFamily="18" charset="0"/>
                <a:cs typeface="Times New Roman" panose="02020603050405020304" pitchFamily="18" charset="0"/>
              </a:rPr>
              <a:t>: The process releases the lock or semaphore, allowing other processes to enter the critical section.</a:t>
            </a:r>
          </a:p>
          <a:p>
            <a:pPr fontAlgn="base"/>
            <a:r>
              <a:rPr lang="en-US" dirty="0">
                <a:latin typeface="Times New Roman" panose="02020603050405020304" pitchFamily="18" charset="0"/>
                <a:cs typeface="Times New Roman" panose="02020603050405020304" pitchFamily="18" charset="0"/>
              </a:rPr>
              <a:t>4. </a:t>
            </a:r>
            <a:r>
              <a:rPr lang="en-US" b="1" dirty="0">
                <a:latin typeface="Times New Roman" panose="02020603050405020304" pitchFamily="18" charset="0"/>
                <a:cs typeface="Times New Roman" panose="02020603050405020304" pitchFamily="18" charset="0"/>
              </a:rPr>
              <a:t>Remainder Section: </a:t>
            </a:r>
            <a:r>
              <a:rPr lang="en-US" dirty="0">
                <a:latin typeface="Times New Roman" panose="02020603050405020304" pitchFamily="18" charset="0"/>
                <a:cs typeface="Times New Roman" panose="02020603050405020304" pitchFamily="18" charset="0"/>
              </a:rPr>
              <a:t>The rest of the program that does not involve shared resource access.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3040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7F0A9-A881-A670-9993-05D2F2C93390}"/>
              </a:ext>
            </a:extLst>
          </p:cNvPr>
          <p:cNvSpPr>
            <a:spLocks noGrp="1"/>
          </p:cNvSpPr>
          <p:nvPr>
            <p:ph type="title"/>
          </p:nvPr>
        </p:nvSpPr>
        <p:spPr/>
        <p:txBody>
          <a:bodyPr/>
          <a:lstStyle/>
          <a:p>
            <a:pPr fontAlgn="base"/>
            <a:r>
              <a:rPr lang="en-US" b="1"/>
              <a:t>Requirements of Critical Section Solutions</a:t>
            </a:r>
            <a:endParaRPr lang="en-US" b="1" dirty="0"/>
          </a:p>
        </p:txBody>
      </p:sp>
      <p:sp>
        <p:nvSpPr>
          <p:cNvPr id="3" name="Content Placeholder 2">
            <a:extLst>
              <a:ext uri="{FF2B5EF4-FFF2-40B4-BE49-F238E27FC236}">
                <a16:creationId xmlns:a16="http://schemas.microsoft.com/office/drawing/2014/main" id="{96F81B11-7A29-D607-8C13-1C171AF7B87F}"/>
              </a:ext>
            </a:extLst>
          </p:cNvPr>
          <p:cNvSpPr>
            <a:spLocks noGrp="1"/>
          </p:cNvSpPr>
          <p:nvPr>
            <p:ph idx="1"/>
          </p:nvPr>
        </p:nvSpPr>
        <p:spPr>
          <a:xfrm>
            <a:off x="0" y="2290916"/>
            <a:ext cx="8761413" cy="4424516"/>
          </a:xfrm>
        </p:spPr>
        <p:txBody>
          <a:bodyPr>
            <a:noAutofit/>
          </a:bodyPr>
          <a:lstStyle/>
          <a:p>
            <a:pPr fontAlgn="base"/>
            <a:r>
              <a:rPr lang="en-US" sz="1600" b="1">
                <a:latin typeface="Times New Roman" panose="02020603050405020304" pitchFamily="18" charset="0"/>
                <a:cs typeface="Times New Roman" panose="02020603050405020304" pitchFamily="18" charset="0"/>
              </a:rPr>
              <a:t>1. Mutual Exclusion</a:t>
            </a:r>
          </a:p>
          <a:p>
            <a:pPr fontAlgn="base"/>
            <a:r>
              <a:rPr lang="en-US" sz="1600">
                <a:latin typeface="Times New Roman" panose="02020603050405020304" pitchFamily="18" charset="0"/>
                <a:cs typeface="Times New Roman" panose="02020603050405020304" pitchFamily="18" charset="0"/>
              </a:rPr>
              <a:t>At most one process can be inside the critical section at a time.</a:t>
            </a:r>
          </a:p>
          <a:p>
            <a:pPr fontAlgn="base"/>
            <a:r>
              <a:rPr lang="en-US" sz="1600">
                <a:latin typeface="Times New Roman" panose="02020603050405020304" pitchFamily="18" charset="0"/>
                <a:cs typeface="Times New Roman" panose="02020603050405020304" pitchFamily="18" charset="0"/>
              </a:rPr>
              <a:t>Prevents conflicts by ensuring no two processes update the shared resource simultaneously.</a:t>
            </a:r>
          </a:p>
          <a:p>
            <a:pPr fontAlgn="base"/>
            <a:r>
              <a:rPr lang="en-US" sz="1600" b="1">
                <a:latin typeface="Times New Roman" panose="02020603050405020304" pitchFamily="18" charset="0"/>
                <a:cs typeface="Times New Roman" panose="02020603050405020304" pitchFamily="18" charset="0"/>
              </a:rPr>
              <a:t>2. Progress</a:t>
            </a:r>
          </a:p>
          <a:p>
            <a:pPr fontAlgn="base"/>
            <a:r>
              <a:rPr lang="en-US" sz="1600">
                <a:latin typeface="Times New Roman" panose="02020603050405020304" pitchFamily="18" charset="0"/>
                <a:cs typeface="Times New Roman" panose="02020603050405020304" pitchFamily="18" charset="0"/>
              </a:rPr>
              <a:t>If no process is in the critical section, and some processes want to enter, the choice of who enters next should not be postponed indefinitely.</a:t>
            </a:r>
          </a:p>
          <a:p>
            <a:pPr fontAlgn="base"/>
            <a:r>
              <a:rPr lang="en-US" sz="1600">
                <a:latin typeface="Times New Roman" panose="02020603050405020304" pitchFamily="18" charset="0"/>
                <a:cs typeface="Times New Roman" panose="02020603050405020304" pitchFamily="18" charset="0"/>
              </a:rPr>
              <a:t>Ensures that the system continues to make progress rather than getting stuck.</a:t>
            </a:r>
          </a:p>
          <a:p>
            <a:pPr fontAlgn="base"/>
            <a:r>
              <a:rPr lang="en-US" sz="1600" b="1">
                <a:latin typeface="Times New Roman" panose="02020603050405020304" pitchFamily="18" charset="0"/>
                <a:cs typeface="Times New Roman" panose="02020603050405020304" pitchFamily="18" charset="0"/>
              </a:rPr>
              <a:t>3. Bounded Waiting</a:t>
            </a:r>
          </a:p>
          <a:p>
            <a:pPr fontAlgn="base"/>
            <a:r>
              <a:rPr lang="en-US" sz="1600">
                <a:latin typeface="Times New Roman" panose="02020603050405020304" pitchFamily="18" charset="0"/>
                <a:cs typeface="Times New Roman" panose="02020603050405020304" pitchFamily="18" charset="0"/>
              </a:rPr>
              <a:t>There must be a limit on how long a process waits before it gets a chance to enter the critical section.</a:t>
            </a:r>
          </a:p>
          <a:p>
            <a:pPr fontAlgn="base"/>
            <a:r>
              <a:rPr lang="en-US" sz="1600">
                <a:latin typeface="Times New Roman" panose="02020603050405020304" pitchFamily="18" charset="0"/>
                <a:cs typeface="Times New Roman" panose="02020603050405020304" pitchFamily="18" charset="0"/>
              </a:rPr>
              <a:t>Prevents </a:t>
            </a:r>
            <a:r>
              <a:rPr lang="en-US" sz="1600" b="1">
                <a:latin typeface="Times New Roman" panose="02020603050405020304" pitchFamily="18" charset="0"/>
                <a:cs typeface="Times New Roman" panose="02020603050405020304" pitchFamily="18" charset="0"/>
              </a:rPr>
              <a:t>starvation</a:t>
            </a:r>
            <a:r>
              <a:rPr lang="en-US" sz="1600">
                <a:latin typeface="Times New Roman" panose="02020603050405020304" pitchFamily="18" charset="0"/>
                <a:cs typeface="Times New Roman" panose="02020603050405020304" pitchFamily="18" charset="0"/>
              </a:rPr>
              <a:t>, where one process is repeatedly bypassed while others get to execute.</a:t>
            </a:r>
          </a:p>
          <a:p>
            <a:endParaRPr lang="en-US" sz="1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C8A0D8C-6EF9-172C-7236-A9DA1384C9D3}"/>
              </a:ext>
            </a:extLst>
          </p:cNvPr>
          <p:cNvPicPr>
            <a:picLocks noChangeAspect="1"/>
          </p:cNvPicPr>
          <p:nvPr/>
        </p:nvPicPr>
        <p:blipFill>
          <a:blip r:embed="rId2"/>
          <a:stretch>
            <a:fillRect/>
          </a:stretch>
        </p:blipFill>
        <p:spPr>
          <a:xfrm>
            <a:off x="9646417" y="2713056"/>
            <a:ext cx="2088909" cy="3647552"/>
          </a:xfrm>
          <a:prstGeom prst="rect">
            <a:avLst/>
          </a:prstGeom>
        </p:spPr>
      </p:pic>
    </p:spTree>
    <p:extLst>
      <p:ext uri="{BB962C8B-B14F-4D97-AF65-F5344CB8AC3E}">
        <p14:creationId xmlns:p14="http://schemas.microsoft.com/office/powerpoint/2010/main" val="452353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70C2B8F-6B1B-46D5-86E6-40F36C695F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21" name="Freeform 5">
            <a:extLst>
              <a:ext uri="{FF2B5EF4-FFF2-40B4-BE49-F238E27FC236}">
                <a16:creationId xmlns:a16="http://schemas.microsoft.com/office/drawing/2014/main" id="{DB521824-592C-476A-AB0A-CA0C6D1F34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a:p>
        </p:txBody>
      </p:sp>
      <p:sp>
        <p:nvSpPr>
          <p:cNvPr id="23" name="Freeform: Shape 22">
            <a:extLst>
              <a:ext uri="{FF2B5EF4-FFF2-40B4-BE49-F238E27FC236}">
                <a16:creationId xmlns:a16="http://schemas.microsoft.com/office/drawing/2014/main" id="{A2749EFA-8EE4-4EB8-9424-8E593B932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50898" y="638067"/>
            <a:ext cx="6053670" cy="5581866"/>
          </a:xfrm>
          <a:custGeom>
            <a:avLst/>
            <a:gdLst>
              <a:gd name="connsiteX0" fmla="*/ 6053670 w 6053670"/>
              <a:gd name="connsiteY0" fmla="*/ 1098 h 5581866"/>
              <a:gd name="connsiteX1" fmla="*/ 6053670 w 6053670"/>
              <a:gd name="connsiteY1" fmla="*/ 514028 h 5581866"/>
              <a:gd name="connsiteX2" fmla="*/ 6053670 w 6053670"/>
              <a:gd name="connsiteY2" fmla="*/ 1254558 h 5581866"/>
              <a:gd name="connsiteX3" fmla="*/ 6053670 w 6053670"/>
              <a:gd name="connsiteY3" fmla="*/ 5581866 h 5581866"/>
              <a:gd name="connsiteX4" fmla="*/ 0 w 6053670"/>
              <a:gd name="connsiteY4" fmla="*/ 5581866 h 5581866"/>
              <a:gd name="connsiteX5" fmla="*/ 0 w 6053670"/>
              <a:gd name="connsiteY5" fmla="*/ 1249853 h 5581866"/>
              <a:gd name="connsiteX6" fmla="*/ 0 w 6053670"/>
              <a:gd name="connsiteY6" fmla="*/ 514028 h 5581866"/>
              <a:gd name="connsiteX7" fmla="*/ 0 w 6053670"/>
              <a:gd name="connsiteY7" fmla="*/ 0 h 5581866"/>
              <a:gd name="connsiteX8" fmla="*/ 35717 w 6053670"/>
              <a:gd name="connsiteY8" fmla="*/ 5488 h 5581866"/>
              <a:gd name="connsiteX9" fmla="*/ 140445 w 6053670"/>
              <a:gd name="connsiteY9" fmla="*/ 21641 h 5581866"/>
              <a:gd name="connsiteX10" fmla="*/ 216722 w 6053670"/>
              <a:gd name="connsiteY10" fmla="*/ 32932 h 5581866"/>
              <a:gd name="connsiteX11" fmla="*/ 307527 w 6053670"/>
              <a:gd name="connsiteY11" fmla="*/ 44850 h 5581866"/>
              <a:gd name="connsiteX12" fmla="*/ 415282 w 6053670"/>
              <a:gd name="connsiteY12" fmla="*/ 59121 h 5581866"/>
              <a:gd name="connsiteX13" fmla="*/ 534539 w 6053670"/>
              <a:gd name="connsiteY13" fmla="*/ 74175 h 5581866"/>
              <a:gd name="connsiteX14" fmla="*/ 668931 w 6053670"/>
              <a:gd name="connsiteY14" fmla="*/ 90014 h 5581866"/>
              <a:gd name="connsiteX15" fmla="*/ 815430 w 6053670"/>
              <a:gd name="connsiteY15" fmla="*/ 106794 h 5581866"/>
              <a:gd name="connsiteX16" fmla="*/ 974641 w 6053670"/>
              <a:gd name="connsiteY16" fmla="*/ 123574 h 5581866"/>
              <a:gd name="connsiteX17" fmla="*/ 1144144 w 6053670"/>
              <a:gd name="connsiteY17" fmla="*/ 140667 h 5581866"/>
              <a:gd name="connsiteX18" fmla="*/ 1326965 w 6053670"/>
              <a:gd name="connsiteY18" fmla="*/ 156506 h 5581866"/>
              <a:gd name="connsiteX19" fmla="*/ 1518261 w 6053670"/>
              <a:gd name="connsiteY19" fmla="*/ 171717 h 5581866"/>
              <a:gd name="connsiteX20" fmla="*/ 1720453 w 6053670"/>
              <a:gd name="connsiteY20" fmla="*/ 185518 h 5581866"/>
              <a:gd name="connsiteX21" fmla="*/ 1931121 w 6053670"/>
              <a:gd name="connsiteY21" fmla="*/ 198690 h 5581866"/>
              <a:gd name="connsiteX22" fmla="*/ 2150869 w 6053670"/>
              <a:gd name="connsiteY22" fmla="*/ 211079 h 5581866"/>
              <a:gd name="connsiteX23" fmla="*/ 2263467 w 6053670"/>
              <a:gd name="connsiteY23" fmla="*/ 215470 h 5581866"/>
              <a:gd name="connsiteX24" fmla="*/ 2378487 w 6053670"/>
              <a:gd name="connsiteY24" fmla="*/ 220332 h 5581866"/>
              <a:gd name="connsiteX25" fmla="*/ 2495323 w 6053670"/>
              <a:gd name="connsiteY25" fmla="*/ 224879 h 5581866"/>
              <a:gd name="connsiteX26" fmla="*/ 2612764 w 6053670"/>
              <a:gd name="connsiteY26" fmla="*/ 227859 h 5581866"/>
              <a:gd name="connsiteX27" fmla="*/ 2732627 w 6053670"/>
              <a:gd name="connsiteY27" fmla="*/ 230525 h 5581866"/>
              <a:gd name="connsiteX28" fmla="*/ 2853700 w 6053670"/>
              <a:gd name="connsiteY28" fmla="*/ 233348 h 5581866"/>
              <a:gd name="connsiteX29" fmla="*/ 2977195 w 6053670"/>
              <a:gd name="connsiteY29" fmla="*/ 235229 h 5581866"/>
              <a:gd name="connsiteX30" fmla="*/ 3101900 w 6053670"/>
              <a:gd name="connsiteY30" fmla="*/ 235229 h 5581866"/>
              <a:gd name="connsiteX31" fmla="*/ 3227817 w 6053670"/>
              <a:gd name="connsiteY31" fmla="*/ 236170 h 5581866"/>
              <a:gd name="connsiteX32" fmla="*/ 3354944 w 6053670"/>
              <a:gd name="connsiteY32" fmla="*/ 235229 h 5581866"/>
              <a:gd name="connsiteX33" fmla="*/ 3483887 w 6053670"/>
              <a:gd name="connsiteY33" fmla="*/ 233348 h 5581866"/>
              <a:gd name="connsiteX34" fmla="*/ 3612830 w 6053670"/>
              <a:gd name="connsiteY34" fmla="*/ 231623 h 5581866"/>
              <a:gd name="connsiteX35" fmla="*/ 3743589 w 6053670"/>
              <a:gd name="connsiteY35" fmla="*/ 227859 h 5581866"/>
              <a:gd name="connsiteX36" fmla="*/ 3875559 w 6053670"/>
              <a:gd name="connsiteY36" fmla="*/ 223938 h 5581866"/>
              <a:gd name="connsiteX37" fmla="*/ 4007529 w 6053670"/>
              <a:gd name="connsiteY37" fmla="*/ 219391 h 5581866"/>
              <a:gd name="connsiteX38" fmla="*/ 4140710 w 6053670"/>
              <a:gd name="connsiteY38" fmla="*/ 212961 h 5581866"/>
              <a:gd name="connsiteX39" fmla="*/ 4275102 w 6053670"/>
              <a:gd name="connsiteY39" fmla="*/ 205277 h 5581866"/>
              <a:gd name="connsiteX40" fmla="*/ 4410098 w 6053670"/>
              <a:gd name="connsiteY40" fmla="*/ 197907 h 5581866"/>
              <a:gd name="connsiteX41" fmla="*/ 4545096 w 6053670"/>
              <a:gd name="connsiteY41" fmla="*/ 188498 h 5581866"/>
              <a:gd name="connsiteX42" fmla="*/ 4681909 w 6053670"/>
              <a:gd name="connsiteY42" fmla="*/ 177207 h 5581866"/>
              <a:gd name="connsiteX43" fmla="*/ 4816905 w 6053670"/>
              <a:gd name="connsiteY43" fmla="*/ 165916 h 5581866"/>
              <a:gd name="connsiteX44" fmla="*/ 4954323 w 6053670"/>
              <a:gd name="connsiteY44" fmla="*/ 152899 h 5581866"/>
              <a:gd name="connsiteX45" fmla="*/ 5092347 w 6053670"/>
              <a:gd name="connsiteY45" fmla="*/ 138629 h 5581866"/>
              <a:gd name="connsiteX46" fmla="*/ 5228555 w 6053670"/>
              <a:gd name="connsiteY46" fmla="*/ 123574 h 5581866"/>
              <a:gd name="connsiteX47" fmla="*/ 5366578 w 6053670"/>
              <a:gd name="connsiteY47" fmla="*/ 106010 h 5581866"/>
              <a:gd name="connsiteX48" fmla="*/ 5503997 w 6053670"/>
              <a:gd name="connsiteY48" fmla="*/ 87192 h 5581866"/>
              <a:gd name="connsiteX49" fmla="*/ 5642020 w 6053670"/>
              <a:gd name="connsiteY49" fmla="*/ 68530 h 5581866"/>
              <a:gd name="connsiteX50" fmla="*/ 5779438 w 6053670"/>
              <a:gd name="connsiteY50" fmla="*/ 46733 h 5581866"/>
              <a:gd name="connsiteX51" fmla="*/ 5916251 w 6053670"/>
              <a:gd name="connsiteY51" fmla="*/ 24464 h 5581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5581866">
                <a:moveTo>
                  <a:pt x="6053670" y="1098"/>
                </a:moveTo>
                <a:lnTo>
                  <a:pt x="6053670" y="514028"/>
                </a:lnTo>
                <a:lnTo>
                  <a:pt x="6053670" y="1254558"/>
                </a:lnTo>
                <a:lnTo>
                  <a:pt x="6053670" y="5581866"/>
                </a:lnTo>
                <a:lnTo>
                  <a:pt x="0" y="5581866"/>
                </a:lnTo>
                <a:lnTo>
                  <a:pt x="0" y="1249853"/>
                </a:lnTo>
                <a:lnTo>
                  <a:pt x="0" y="514028"/>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US"/>
          </a:p>
        </p:txBody>
      </p:sp>
      <p:sp>
        <p:nvSpPr>
          <p:cNvPr id="25" name="Freeform 5">
            <a:extLst>
              <a:ext uri="{FF2B5EF4-FFF2-40B4-BE49-F238E27FC236}">
                <a16:creationId xmlns:a16="http://schemas.microsoft.com/office/drawing/2014/main" id="{B5C860C9-D4F9-4350-80DA-0D1CD36C7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D2308C5F-562D-27A2-DF96-8B558E929A26}"/>
              </a:ext>
            </a:extLst>
          </p:cNvPr>
          <p:cNvSpPr>
            <a:spLocks noGrp="1"/>
          </p:cNvSpPr>
          <p:nvPr>
            <p:ph type="title"/>
          </p:nvPr>
        </p:nvSpPr>
        <p:spPr>
          <a:xfrm>
            <a:off x="639098" y="629265"/>
            <a:ext cx="5132438" cy="1622322"/>
          </a:xfrm>
        </p:spPr>
        <p:txBody>
          <a:bodyPr>
            <a:normAutofit/>
          </a:bodyPr>
          <a:lstStyle/>
          <a:p>
            <a:r>
              <a:rPr lang="en-US" b="1" dirty="0">
                <a:solidFill>
                  <a:srgbClr val="EBEBEB"/>
                </a:solidFill>
              </a:rPr>
              <a:t>Mutual Exclusion</a:t>
            </a:r>
            <a:br>
              <a:rPr lang="en-US" dirty="0">
                <a:solidFill>
                  <a:srgbClr val="EBEBEB"/>
                </a:solidFill>
              </a:rPr>
            </a:br>
            <a:endParaRPr lang="en-US" dirty="0">
              <a:solidFill>
                <a:srgbClr val="EBEBEB"/>
              </a:solidFill>
            </a:endParaRPr>
          </a:p>
        </p:txBody>
      </p:sp>
      <p:pic>
        <p:nvPicPr>
          <p:cNvPr id="14" name="Picture 13" descr="A diagram of a rectangular object with arrows&#10;&#10;AI-generated content may be incorrect.">
            <a:extLst>
              <a:ext uri="{FF2B5EF4-FFF2-40B4-BE49-F238E27FC236}">
                <a16:creationId xmlns:a16="http://schemas.microsoft.com/office/drawing/2014/main" id="{15E9C56E-ABC4-E395-6001-E56BFFD75EAA}"/>
              </a:ext>
            </a:extLst>
          </p:cNvPr>
          <p:cNvPicPr>
            <a:picLocks noChangeAspect="1"/>
          </p:cNvPicPr>
          <p:nvPr/>
        </p:nvPicPr>
        <p:blipFill>
          <a:blip r:embed="rId2"/>
          <a:stretch>
            <a:fillRect/>
          </a:stretch>
        </p:blipFill>
        <p:spPr>
          <a:xfrm>
            <a:off x="6410634" y="994786"/>
            <a:ext cx="5469093" cy="3848519"/>
          </a:xfrm>
          <a:prstGeom prst="rect">
            <a:avLst/>
          </a:prstGeom>
        </p:spPr>
      </p:pic>
      <p:sp>
        <p:nvSpPr>
          <p:cNvPr id="27" name="Rectangle 26">
            <a:extLst>
              <a:ext uri="{FF2B5EF4-FFF2-40B4-BE49-F238E27FC236}">
                <a16:creationId xmlns:a16="http://schemas.microsoft.com/office/drawing/2014/main" id="{538A90C8-AE0E-4EBA-9AF8-EEDB206020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D0F8F849-6A00-9CA9-4A3F-73F8B2E6A2AA}"/>
              </a:ext>
            </a:extLst>
          </p:cNvPr>
          <p:cNvSpPr>
            <a:spLocks noGrp="1"/>
          </p:cNvSpPr>
          <p:nvPr>
            <p:ph idx="1"/>
          </p:nvPr>
        </p:nvSpPr>
        <p:spPr>
          <a:xfrm>
            <a:off x="639098" y="2418735"/>
            <a:ext cx="5132439" cy="3811742"/>
          </a:xfrm>
        </p:spPr>
        <p:txBody>
          <a:bodyPr anchor="ctr">
            <a:normAutofit/>
          </a:bodyPr>
          <a:lstStyle/>
          <a:p>
            <a:r>
              <a:rPr lang="en-US">
                <a:solidFill>
                  <a:srgbClr val="FFFFFF"/>
                </a:solidFill>
              </a:rPr>
              <a:t>A mutual exclusion (mutex) is a program object that prevents simultaneous access to a shared resource.</a:t>
            </a:r>
          </a:p>
          <a:p>
            <a:r>
              <a:rPr lang="en-US">
                <a:solidFill>
                  <a:srgbClr val="FFFFFF"/>
                </a:solidFill>
              </a:rPr>
              <a:t>Mutual exclusion is a property of concurrency control, which is instituted for the purpose of preventing race conditions.</a:t>
            </a:r>
          </a:p>
          <a:p>
            <a:r>
              <a:rPr lang="en-US">
                <a:solidFill>
                  <a:srgbClr val="FFFFFF"/>
                </a:solidFill>
              </a:rPr>
              <a:t>It is the requirement that one thread of execution never enter its critical section at the same time that another concurrent thread of execution enters its own critical section</a:t>
            </a:r>
          </a:p>
          <a:p>
            <a:endParaRPr lang="en-US">
              <a:solidFill>
                <a:srgbClr val="FFFFFF"/>
              </a:solidFill>
            </a:endParaRPr>
          </a:p>
        </p:txBody>
      </p:sp>
    </p:spTree>
    <p:extLst>
      <p:ext uri="{BB962C8B-B14F-4D97-AF65-F5344CB8AC3E}">
        <p14:creationId xmlns:p14="http://schemas.microsoft.com/office/powerpoint/2010/main" val="2785691683"/>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A6441-B13A-0C7A-97C1-A938606FADEE}"/>
              </a:ext>
            </a:extLst>
          </p:cNvPr>
          <p:cNvSpPr>
            <a:spLocks noGrp="1"/>
          </p:cNvSpPr>
          <p:nvPr>
            <p:ph type="title"/>
          </p:nvPr>
        </p:nvSpPr>
        <p:spPr/>
        <p:txBody>
          <a:bodyPr/>
          <a:lstStyle/>
          <a:p>
            <a:r>
              <a:rPr lang="en-US" b="1" dirty="0">
                <a:solidFill>
                  <a:srgbClr val="EBEBEB"/>
                </a:solidFill>
              </a:rPr>
              <a:t>Mutual Exclusion</a:t>
            </a:r>
            <a:br>
              <a:rPr lang="en-US" dirty="0">
                <a:solidFill>
                  <a:srgbClr val="EBEBEB"/>
                </a:solidFill>
              </a:rPr>
            </a:br>
            <a:endParaRPr lang="en-US" dirty="0"/>
          </a:p>
        </p:txBody>
      </p:sp>
      <p:pic>
        <p:nvPicPr>
          <p:cNvPr id="5" name="Content Placeholder 4" descr="A close-up of a computer code&#10;&#10;AI-generated content may be incorrect.">
            <a:extLst>
              <a:ext uri="{FF2B5EF4-FFF2-40B4-BE49-F238E27FC236}">
                <a16:creationId xmlns:a16="http://schemas.microsoft.com/office/drawing/2014/main" id="{1D0475A5-01F7-6FD6-CE62-420458E54AFD}"/>
              </a:ext>
            </a:extLst>
          </p:cNvPr>
          <p:cNvPicPr>
            <a:picLocks noGrp="1" noChangeAspect="1"/>
          </p:cNvPicPr>
          <p:nvPr>
            <p:ph idx="1"/>
          </p:nvPr>
        </p:nvPicPr>
        <p:blipFill>
          <a:blip r:embed="rId2"/>
          <a:stretch>
            <a:fillRect/>
          </a:stretch>
        </p:blipFill>
        <p:spPr>
          <a:xfrm>
            <a:off x="2670291" y="2897573"/>
            <a:ext cx="5730737" cy="2720576"/>
          </a:xfrm>
          <a:prstGeom prst="rect">
            <a:avLst/>
          </a:prstGeom>
        </p:spPr>
      </p:pic>
    </p:spTree>
    <p:extLst>
      <p:ext uri="{BB962C8B-B14F-4D97-AF65-F5344CB8AC3E}">
        <p14:creationId xmlns:p14="http://schemas.microsoft.com/office/powerpoint/2010/main" val="2809189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D9D9C-91E6-831A-D9D0-EE24FADCCAD5}"/>
              </a:ext>
            </a:extLst>
          </p:cNvPr>
          <p:cNvSpPr>
            <a:spLocks noGrp="1"/>
          </p:cNvSpPr>
          <p:nvPr>
            <p:ph type="title"/>
          </p:nvPr>
        </p:nvSpPr>
        <p:spPr/>
        <p:txBody>
          <a:bodyPr/>
          <a:lstStyle/>
          <a:p>
            <a:r>
              <a:rPr lang="en-US" dirty="0"/>
              <a:t>Mutual; exclusion</a:t>
            </a:r>
          </a:p>
        </p:txBody>
      </p:sp>
      <p:sp>
        <p:nvSpPr>
          <p:cNvPr id="3" name="Content Placeholder 2">
            <a:extLst>
              <a:ext uri="{FF2B5EF4-FFF2-40B4-BE49-F238E27FC236}">
                <a16:creationId xmlns:a16="http://schemas.microsoft.com/office/drawing/2014/main" id="{CA8D70AD-E2EA-3877-43EC-D91E056ECC41}"/>
              </a:ext>
            </a:extLst>
          </p:cNvPr>
          <p:cNvSpPr>
            <a:spLocks noGrp="1"/>
          </p:cNvSpPr>
          <p:nvPr>
            <p:ph idx="1"/>
          </p:nvPr>
        </p:nvSpPr>
        <p:spPr/>
        <p:txBody>
          <a:bodyPr>
            <a:normAutofit fontScale="85000" lnSpcReduction="20000"/>
          </a:bodyPr>
          <a:lstStyle/>
          <a:p>
            <a:pPr lvl="0"/>
            <a:r>
              <a:rPr lang="en-US" dirty="0"/>
              <a:t>In this proposed solution, the integer variable ‘turn’ keeps track of whose turn is to enter the critical section.</a:t>
            </a:r>
            <a:br>
              <a:rPr lang="en-US" dirty="0"/>
            </a:br>
            <a:endParaRPr lang="en-US" dirty="0"/>
          </a:p>
          <a:p>
            <a:pPr lvl="0"/>
            <a:r>
              <a:rPr lang="en-US" dirty="0"/>
              <a:t>Initially turn = 0. Process 1 inspects turn, finds it to be 0 and enters in its critical section. Process 2 also finds it to be 0 and therefore sits in a loop continually testing ‘turn’ to see when it becomes 1.</a:t>
            </a:r>
          </a:p>
          <a:p>
            <a:pPr lvl="0"/>
            <a:r>
              <a:rPr lang="en-US" dirty="0"/>
              <a:t>Continuously testing a variable waiting for some value to appear is called the </a:t>
            </a:r>
            <a:r>
              <a:rPr lang="en-US" b="1" dirty="0"/>
              <a:t>busy waiting</a:t>
            </a:r>
            <a:r>
              <a:rPr lang="en-US" dirty="0"/>
              <a:t>.</a:t>
            </a:r>
          </a:p>
          <a:p>
            <a:pPr lvl="0"/>
            <a:r>
              <a:rPr lang="en-US" dirty="0"/>
              <a:t>When process 1 exit from the critical region is set to turn to 1 and now process 2 can find it to be 1 and enters into the critical region.</a:t>
            </a:r>
          </a:p>
          <a:p>
            <a:pPr lvl="0"/>
            <a:r>
              <a:rPr lang="en-US" dirty="0"/>
              <a:t>Also, in this way both the process get the alternate turn to enter in the critical region.</a:t>
            </a:r>
          </a:p>
          <a:p>
            <a:pPr lvl="0"/>
            <a:r>
              <a:rPr lang="en-US" dirty="0"/>
              <a:t>Taking turns is not a good idea when one of the processes is much slower than the other.</a:t>
            </a:r>
          </a:p>
          <a:p>
            <a:r>
              <a:rPr lang="en-US" dirty="0"/>
              <a:t>Can used only when the waiting period is expected to be short</a:t>
            </a:r>
          </a:p>
        </p:txBody>
      </p:sp>
    </p:spTree>
    <p:extLst>
      <p:ext uri="{BB962C8B-B14F-4D97-AF65-F5344CB8AC3E}">
        <p14:creationId xmlns:p14="http://schemas.microsoft.com/office/powerpoint/2010/main" val="38096991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824C0-8ED9-1270-0587-13A6B1BC5FC0}"/>
              </a:ext>
            </a:extLst>
          </p:cNvPr>
          <p:cNvSpPr>
            <a:spLocks noGrp="1"/>
          </p:cNvSpPr>
          <p:nvPr>
            <p:ph type="title"/>
          </p:nvPr>
        </p:nvSpPr>
        <p:spPr/>
        <p:txBody>
          <a:bodyPr/>
          <a:lstStyle/>
          <a:p>
            <a:r>
              <a:rPr lang="en-US" dirty="0" err="1"/>
              <a:t>Dekers</a:t>
            </a:r>
            <a:r>
              <a:rPr lang="en-US" dirty="0"/>
              <a:t> solution</a:t>
            </a:r>
          </a:p>
        </p:txBody>
      </p:sp>
      <p:pic>
        <p:nvPicPr>
          <p:cNvPr id="5" name="Content Placeholder 4">
            <a:extLst>
              <a:ext uri="{FF2B5EF4-FFF2-40B4-BE49-F238E27FC236}">
                <a16:creationId xmlns:a16="http://schemas.microsoft.com/office/drawing/2014/main" id="{622A940B-5D56-F9D9-6494-B402FDA1857F}"/>
              </a:ext>
            </a:extLst>
          </p:cNvPr>
          <p:cNvPicPr>
            <a:picLocks noGrp="1" noChangeAspect="1"/>
          </p:cNvPicPr>
          <p:nvPr>
            <p:ph idx="1"/>
          </p:nvPr>
        </p:nvPicPr>
        <p:blipFill>
          <a:blip r:embed="rId2"/>
          <a:stretch>
            <a:fillRect/>
          </a:stretch>
        </p:blipFill>
        <p:spPr>
          <a:xfrm>
            <a:off x="1533832" y="2300747"/>
            <a:ext cx="8249265" cy="4557253"/>
          </a:xfrm>
          <a:prstGeom prst="rect">
            <a:avLst/>
          </a:prstGeom>
        </p:spPr>
      </p:pic>
    </p:spTree>
    <p:extLst>
      <p:ext uri="{BB962C8B-B14F-4D97-AF65-F5344CB8AC3E}">
        <p14:creationId xmlns:p14="http://schemas.microsoft.com/office/powerpoint/2010/main" val="10327938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63F81-3375-6983-F929-1067888BF9B9}"/>
              </a:ext>
            </a:extLst>
          </p:cNvPr>
          <p:cNvSpPr>
            <a:spLocks noGrp="1"/>
          </p:cNvSpPr>
          <p:nvPr>
            <p:ph type="title"/>
          </p:nvPr>
        </p:nvSpPr>
        <p:spPr/>
        <p:txBody>
          <a:bodyPr/>
          <a:lstStyle/>
          <a:p>
            <a:r>
              <a:rPr lang="en-US"/>
              <a:t>Peterson solution</a:t>
            </a:r>
            <a:endParaRPr lang="en-US" dirty="0"/>
          </a:p>
        </p:txBody>
      </p:sp>
      <p:pic>
        <p:nvPicPr>
          <p:cNvPr id="5" name="Content Placeholder 4" descr="A screenshot of a computer program&#10;&#10;AI-generated content may be incorrect.">
            <a:extLst>
              <a:ext uri="{FF2B5EF4-FFF2-40B4-BE49-F238E27FC236}">
                <a16:creationId xmlns:a16="http://schemas.microsoft.com/office/drawing/2014/main" id="{B7F90B41-0948-EB93-4ABE-3ADBFFC7A8F8}"/>
              </a:ext>
            </a:extLst>
          </p:cNvPr>
          <p:cNvPicPr>
            <a:picLocks noGrp="1" noChangeAspect="1"/>
          </p:cNvPicPr>
          <p:nvPr>
            <p:ph idx="1"/>
          </p:nvPr>
        </p:nvPicPr>
        <p:blipFill>
          <a:blip r:embed="rId2"/>
          <a:stretch>
            <a:fillRect/>
          </a:stretch>
        </p:blipFill>
        <p:spPr>
          <a:xfrm>
            <a:off x="1831170" y="2603500"/>
            <a:ext cx="7473973" cy="3416300"/>
          </a:xfrm>
          <a:prstGeom prst="rect">
            <a:avLst/>
          </a:prstGeom>
        </p:spPr>
      </p:pic>
    </p:spTree>
    <p:extLst>
      <p:ext uri="{BB962C8B-B14F-4D97-AF65-F5344CB8AC3E}">
        <p14:creationId xmlns:p14="http://schemas.microsoft.com/office/powerpoint/2010/main" val="2576113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A94F2-0269-B73F-86D4-BC0DE5F06A62}"/>
              </a:ext>
            </a:extLst>
          </p:cNvPr>
          <p:cNvSpPr>
            <a:spLocks noGrp="1"/>
          </p:cNvSpPr>
          <p:nvPr>
            <p:ph type="title"/>
          </p:nvPr>
        </p:nvSpPr>
        <p:spPr/>
        <p:txBody>
          <a:bodyPr/>
          <a:lstStyle/>
          <a:p>
            <a:r>
              <a:rPr lang="en-US" dirty="0"/>
              <a:t> </a:t>
            </a:r>
            <a:br>
              <a:rPr lang="en-US" dirty="0"/>
            </a:br>
            <a:r>
              <a:rPr lang="en-US" b="1" dirty="0"/>
              <a:t>Disabling Interrupts</a:t>
            </a:r>
            <a:br>
              <a:rPr lang="en-US" b="1" dirty="0"/>
            </a:br>
            <a:endParaRPr lang="en-US" dirty="0"/>
          </a:p>
        </p:txBody>
      </p:sp>
      <p:sp>
        <p:nvSpPr>
          <p:cNvPr id="3" name="Content Placeholder 2">
            <a:extLst>
              <a:ext uri="{FF2B5EF4-FFF2-40B4-BE49-F238E27FC236}">
                <a16:creationId xmlns:a16="http://schemas.microsoft.com/office/drawing/2014/main" id="{1BD1A8B6-BE59-6EEE-0765-1DBEC8290352}"/>
              </a:ext>
            </a:extLst>
          </p:cNvPr>
          <p:cNvSpPr>
            <a:spLocks noGrp="1"/>
          </p:cNvSpPr>
          <p:nvPr>
            <p:ph idx="1"/>
          </p:nvPr>
        </p:nvSpPr>
        <p:spPr>
          <a:xfrm>
            <a:off x="1154954" y="2222090"/>
            <a:ext cx="10702749" cy="4424516"/>
          </a:xfrm>
        </p:spPr>
        <p:txBody>
          <a:bodyPr>
            <a:normAutofit/>
          </a:bodyPr>
          <a:lstStyle/>
          <a:p>
            <a:r>
              <a:rPr lang="en-US" dirty="0">
                <a:latin typeface="Times New Roman" panose="02020603050405020304" pitchFamily="18" charset="0"/>
                <a:cs typeface="Times New Roman" panose="02020603050405020304" pitchFamily="18" charset="0"/>
              </a:rPr>
              <a:t>Disabling interrupts is a low-level mechanism to ensure that the CPU is not interrupted while executing a critical section of code. This guarantees that no other process or interrupt handler can access shared resources during this period.</a:t>
            </a:r>
          </a:p>
          <a:p>
            <a:pPr lvl="1"/>
            <a:r>
              <a:rPr lang="en-US" sz="1700" dirty="0">
                <a:latin typeface="Times New Roman" panose="02020603050405020304" pitchFamily="18" charset="0"/>
                <a:cs typeface="Times New Roman" panose="02020603050405020304" pitchFamily="18" charset="0"/>
              </a:rPr>
              <a:t>The CPU has an interrupt-enable flag.</a:t>
            </a:r>
            <a:endParaRPr lang="en-US" sz="1500" dirty="0">
              <a:latin typeface="Times New Roman" panose="02020603050405020304" pitchFamily="18" charset="0"/>
              <a:cs typeface="Times New Roman" panose="02020603050405020304" pitchFamily="18" charset="0"/>
            </a:endParaRPr>
          </a:p>
          <a:p>
            <a:pPr lvl="1"/>
            <a:r>
              <a:rPr lang="en-US" sz="1700" dirty="0">
                <a:latin typeface="Times New Roman" panose="02020603050405020304" pitchFamily="18" charset="0"/>
                <a:cs typeface="Times New Roman" panose="02020603050405020304" pitchFamily="18" charset="0"/>
              </a:rPr>
              <a:t>Disabling interrupts sets this flag to prevent the CPU from responding to any external or internal interrupts.</a:t>
            </a:r>
            <a:endParaRPr lang="en-US" sz="1500" dirty="0">
              <a:latin typeface="Times New Roman" panose="02020603050405020304" pitchFamily="18" charset="0"/>
              <a:cs typeface="Times New Roman" panose="02020603050405020304" pitchFamily="18" charset="0"/>
            </a:endParaRPr>
          </a:p>
          <a:p>
            <a:pPr lvl="1"/>
            <a:r>
              <a:rPr lang="en-US" sz="1700" dirty="0">
                <a:latin typeface="Times New Roman" panose="02020603050405020304" pitchFamily="18" charset="0"/>
                <a:cs typeface="Times New Roman" panose="02020603050405020304" pitchFamily="18" charset="0"/>
              </a:rPr>
              <a:t>The critical section executes without being preempted.</a:t>
            </a:r>
            <a:endParaRPr lang="en-US" sz="1500" dirty="0">
              <a:latin typeface="Times New Roman" panose="02020603050405020304" pitchFamily="18" charset="0"/>
              <a:cs typeface="Times New Roman" panose="02020603050405020304" pitchFamily="18" charset="0"/>
            </a:endParaRPr>
          </a:p>
          <a:p>
            <a:pPr lvl="1"/>
            <a:r>
              <a:rPr lang="en-US" sz="1700" dirty="0">
                <a:latin typeface="Times New Roman" panose="02020603050405020304" pitchFamily="18" charset="0"/>
                <a:cs typeface="Times New Roman" panose="02020603050405020304" pitchFamily="18" charset="0"/>
              </a:rPr>
              <a:t>After the critical section completes, interrupts are re-enabled.</a:t>
            </a:r>
            <a:endParaRPr lang="en-US" sz="1500"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Steps:</a:t>
            </a:r>
          </a:p>
          <a:p>
            <a:pPr lvl="0"/>
            <a:r>
              <a:rPr lang="en-US" dirty="0">
                <a:latin typeface="Times New Roman" panose="02020603050405020304" pitchFamily="18" charset="0"/>
                <a:cs typeface="Times New Roman" panose="02020603050405020304" pitchFamily="18" charset="0"/>
              </a:rPr>
              <a:t>Disable interrupts before entering the critical section.</a:t>
            </a:r>
            <a:endParaRPr lang="en-US" sz="1600"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Execute the critical section.</a:t>
            </a:r>
            <a:endParaRPr lang="en-US" sz="1600"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Re-enable interrupts after leaving the critical section.</a:t>
            </a:r>
          </a:p>
          <a:p>
            <a:pPr lvl="0"/>
            <a:endParaRPr lang="en-US" dirty="0">
              <a:latin typeface="Times New Roman" panose="02020603050405020304" pitchFamily="18" charset="0"/>
              <a:cs typeface="Times New Roman" panose="02020603050405020304" pitchFamily="18" charset="0"/>
            </a:endParaRPr>
          </a:p>
          <a:p>
            <a:pPr lvl="0"/>
            <a:endParaRPr lang="en-US" sz="1600" dirty="0">
              <a:latin typeface="Times New Roman" panose="02020603050405020304" pitchFamily="18" charset="0"/>
              <a:cs typeface="Times New Roman" panose="02020603050405020304" pitchFamily="18" charset="0"/>
            </a:endParaRPr>
          </a:p>
          <a:p>
            <a:endParaRPr lang="en-US" dirty="0"/>
          </a:p>
        </p:txBody>
      </p:sp>
      <p:pic>
        <p:nvPicPr>
          <p:cNvPr id="5" name="Picture 4" descr="A white background with black text&#10;&#10;AI-generated content may be incorrect.">
            <a:extLst>
              <a:ext uri="{FF2B5EF4-FFF2-40B4-BE49-F238E27FC236}">
                <a16:creationId xmlns:a16="http://schemas.microsoft.com/office/drawing/2014/main" id="{6C07EF09-44E8-D41A-8398-8B0771BAA959}"/>
              </a:ext>
            </a:extLst>
          </p:cNvPr>
          <p:cNvPicPr>
            <a:picLocks noChangeAspect="1"/>
          </p:cNvPicPr>
          <p:nvPr/>
        </p:nvPicPr>
        <p:blipFill>
          <a:blip r:embed="rId2"/>
          <a:stretch>
            <a:fillRect/>
          </a:stretch>
        </p:blipFill>
        <p:spPr>
          <a:xfrm>
            <a:off x="7561005" y="3969099"/>
            <a:ext cx="4296697" cy="2490695"/>
          </a:xfrm>
          <a:prstGeom prst="rect">
            <a:avLst/>
          </a:prstGeom>
        </p:spPr>
      </p:pic>
    </p:spTree>
    <p:extLst>
      <p:ext uri="{BB962C8B-B14F-4D97-AF65-F5344CB8AC3E}">
        <p14:creationId xmlns:p14="http://schemas.microsoft.com/office/powerpoint/2010/main" val="10332258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604AB-9DCE-2D1D-0486-11D11F5EEFFA}"/>
              </a:ext>
            </a:extLst>
          </p:cNvPr>
          <p:cNvSpPr>
            <a:spLocks noGrp="1"/>
          </p:cNvSpPr>
          <p:nvPr>
            <p:ph type="title"/>
          </p:nvPr>
        </p:nvSpPr>
        <p:spPr>
          <a:xfrm>
            <a:off x="1154954" y="757084"/>
            <a:ext cx="8761413" cy="923548"/>
          </a:xfrm>
        </p:spPr>
        <p:txBody>
          <a:bodyPr/>
          <a:lstStyle/>
          <a:p>
            <a:r>
              <a:rPr lang="en-US" b="1" dirty="0"/>
              <a:t>Lock Variable</a:t>
            </a:r>
            <a:br>
              <a:rPr lang="en-US" dirty="0"/>
            </a:br>
            <a:endParaRPr lang="en-US" dirty="0"/>
          </a:p>
        </p:txBody>
      </p:sp>
      <p:sp>
        <p:nvSpPr>
          <p:cNvPr id="3" name="Content Placeholder 2">
            <a:extLst>
              <a:ext uri="{FF2B5EF4-FFF2-40B4-BE49-F238E27FC236}">
                <a16:creationId xmlns:a16="http://schemas.microsoft.com/office/drawing/2014/main" id="{414EF75C-4690-0423-AB7E-594BD1820ACE}"/>
              </a:ext>
            </a:extLst>
          </p:cNvPr>
          <p:cNvSpPr>
            <a:spLocks noGrp="1"/>
          </p:cNvSpPr>
          <p:nvPr>
            <p:ph idx="1"/>
          </p:nvPr>
        </p:nvSpPr>
        <p:spPr>
          <a:xfrm>
            <a:off x="0" y="2300748"/>
            <a:ext cx="12192000" cy="4473678"/>
          </a:xfrm>
        </p:spPr>
        <p:txBody>
          <a:bodyPr>
            <a:normAutofit fontScale="92500" lnSpcReduction="10000"/>
          </a:bodyPr>
          <a:lstStyle/>
          <a:p>
            <a:r>
              <a:rPr lang="en-US" sz="1700" dirty="0">
                <a:latin typeface="Times New Roman" panose="02020603050405020304" pitchFamily="18" charset="0"/>
                <a:cs typeface="Times New Roman" panose="02020603050405020304" pitchFamily="18" charset="0"/>
              </a:rPr>
              <a:t>Lock variables are a higher-level software mechanism used to coordinate access to a shared resource between multiple processes or threads.</a:t>
            </a:r>
          </a:p>
          <a:p>
            <a:r>
              <a:rPr lang="en-US" sz="1700" dirty="0">
                <a:latin typeface="Times New Roman" panose="02020603050405020304" pitchFamily="18" charset="0"/>
                <a:cs typeface="Times New Roman" panose="02020603050405020304" pitchFamily="18" charset="0"/>
              </a:rPr>
              <a:t> A lock ensures that only one process or thread can access the critical section at any given time.</a:t>
            </a:r>
          </a:p>
          <a:p>
            <a:r>
              <a:rPr lang="en-US" sz="1700" b="1" dirty="0">
                <a:latin typeface="Times New Roman" panose="02020603050405020304" pitchFamily="18" charset="0"/>
                <a:cs typeface="Times New Roman" panose="02020603050405020304" pitchFamily="18" charset="0"/>
              </a:rPr>
              <a:t>How it Works</a:t>
            </a:r>
          </a:p>
          <a:p>
            <a:pPr lvl="1"/>
            <a:r>
              <a:rPr lang="en-US" sz="1700" dirty="0">
                <a:latin typeface="Times New Roman" panose="02020603050405020304" pitchFamily="18" charset="0"/>
                <a:cs typeface="Times New Roman" panose="02020603050405020304" pitchFamily="18" charset="0"/>
              </a:rPr>
              <a:t>A shared variable (the lock) is used to indicate the state of the critical section:</a:t>
            </a:r>
          </a:p>
          <a:p>
            <a:pPr lvl="0"/>
            <a:r>
              <a:rPr lang="en-US" sz="1700" b="1" dirty="0">
                <a:latin typeface="Times New Roman" panose="02020603050405020304" pitchFamily="18" charset="0"/>
                <a:cs typeface="Times New Roman" panose="02020603050405020304" pitchFamily="18" charset="0"/>
              </a:rPr>
              <a:t>0 (unlocked)</a:t>
            </a:r>
            <a:r>
              <a:rPr lang="en-US" sz="1700" dirty="0">
                <a:latin typeface="Times New Roman" panose="02020603050405020304" pitchFamily="18" charset="0"/>
                <a:cs typeface="Times New Roman" panose="02020603050405020304" pitchFamily="18" charset="0"/>
              </a:rPr>
              <a:t>: No process is in the critical section.</a:t>
            </a:r>
          </a:p>
          <a:p>
            <a:pPr lvl="0"/>
            <a:r>
              <a:rPr lang="en-US" sz="1700" b="1" dirty="0">
                <a:latin typeface="Times New Roman" panose="02020603050405020304" pitchFamily="18" charset="0"/>
                <a:cs typeface="Times New Roman" panose="02020603050405020304" pitchFamily="18" charset="0"/>
              </a:rPr>
              <a:t>1 (locked)</a:t>
            </a:r>
            <a:r>
              <a:rPr lang="en-US" sz="1700" dirty="0">
                <a:latin typeface="Times New Roman" panose="02020603050405020304" pitchFamily="18" charset="0"/>
                <a:cs typeface="Times New Roman" panose="02020603050405020304" pitchFamily="18" charset="0"/>
              </a:rPr>
              <a:t>: A process is in the critical section.</a:t>
            </a:r>
          </a:p>
          <a:p>
            <a:pPr lvl="1"/>
            <a:r>
              <a:rPr lang="en-US" sz="1700" dirty="0">
                <a:latin typeface="Times New Roman" panose="02020603050405020304" pitchFamily="18" charset="0"/>
                <a:cs typeface="Times New Roman" panose="02020603050405020304" pitchFamily="18" charset="0"/>
              </a:rPr>
              <a:t>Before entering the critical section, a process checks the lock:</a:t>
            </a:r>
          </a:p>
          <a:p>
            <a:pPr lvl="0"/>
            <a:r>
              <a:rPr lang="en-US" sz="1700" dirty="0">
                <a:latin typeface="Times New Roman" panose="02020603050405020304" pitchFamily="18" charset="0"/>
                <a:cs typeface="Times New Roman" panose="02020603050405020304" pitchFamily="18" charset="0"/>
              </a:rPr>
              <a:t>If unlocked, it sets the lock and proceeds.</a:t>
            </a:r>
          </a:p>
          <a:p>
            <a:pPr lvl="0"/>
            <a:r>
              <a:rPr lang="en-US" sz="1700" dirty="0">
                <a:latin typeface="Times New Roman" panose="02020603050405020304" pitchFamily="18" charset="0"/>
                <a:cs typeface="Times New Roman" panose="02020603050405020304" pitchFamily="18" charset="0"/>
              </a:rPr>
              <a:t>If locked, it waits until the lock is released.</a:t>
            </a:r>
          </a:p>
          <a:p>
            <a:r>
              <a:rPr lang="en-US" sz="1700" b="1" dirty="0">
                <a:latin typeface="Times New Roman" panose="02020603050405020304" pitchFamily="18" charset="0"/>
                <a:cs typeface="Times New Roman" panose="02020603050405020304" pitchFamily="18" charset="0"/>
              </a:rPr>
              <a:t>Steps:</a:t>
            </a:r>
          </a:p>
          <a:p>
            <a:pPr lvl="0"/>
            <a:r>
              <a:rPr lang="en-US" sz="1700" dirty="0">
                <a:latin typeface="Times New Roman" panose="02020603050405020304" pitchFamily="18" charset="0"/>
                <a:cs typeface="Times New Roman" panose="02020603050405020304" pitchFamily="18" charset="0"/>
              </a:rPr>
              <a:t>Check the value of the lock variable.</a:t>
            </a:r>
          </a:p>
          <a:p>
            <a:pPr lvl="0"/>
            <a:r>
              <a:rPr lang="en-US" sz="1700" dirty="0">
                <a:latin typeface="Times New Roman" panose="02020603050405020304" pitchFamily="18" charset="0"/>
                <a:cs typeface="Times New Roman" panose="02020603050405020304" pitchFamily="18" charset="0"/>
              </a:rPr>
              <a:t>If it is 0, set it to 1 (lock it) and enter the critical section.</a:t>
            </a:r>
          </a:p>
          <a:p>
            <a:pPr lvl="0"/>
            <a:r>
              <a:rPr lang="en-US" sz="1700" dirty="0">
                <a:latin typeface="Times New Roman" panose="02020603050405020304" pitchFamily="18" charset="0"/>
                <a:cs typeface="Times New Roman" panose="02020603050405020304" pitchFamily="18" charset="0"/>
              </a:rPr>
              <a:t>After exiting the critical section, reset the lock to 0 (unlock it).</a:t>
            </a:r>
          </a:p>
          <a:p>
            <a:endParaRPr lang="en-US" dirty="0"/>
          </a:p>
        </p:txBody>
      </p:sp>
      <p:pic>
        <p:nvPicPr>
          <p:cNvPr id="7" name="Picture 6" descr="A white paper with black text&#10;&#10;AI-generated content may be incorrect.">
            <a:extLst>
              <a:ext uri="{FF2B5EF4-FFF2-40B4-BE49-F238E27FC236}">
                <a16:creationId xmlns:a16="http://schemas.microsoft.com/office/drawing/2014/main" id="{1813F198-EE14-117E-2A8A-C96E41121ED3}"/>
              </a:ext>
            </a:extLst>
          </p:cNvPr>
          <p:cNvPicPr>
            <a:picLocks noChangeAspect="1"/>
          </p:cNvPicPr>
          <p:nvPr/>
        </p:nvPicPr>
        <p:blipFill>
          <a:blip r:embed="rId2"/>
          <a:stretch>
            <a:fillRect/>
          </a:stretch>
        </p:blipFill>
        <p:spPr>
          <a:xfrm>
            <a:off x="7104185" y="3815140"/>
            <a:ext cx="4882883" cy="2828042"/>
          </a:xfrm>
          <a:prstGeom prst="rect">
            <a:avLst/>
          </a:prstGeom>
        </p:spPr>
      </p:pic>
    </p:spTree>
    <p:extLst>
      <p:ext uri="{BB962C8B-B14F-4D97-AF65-F5344CB8AC3E}">
        <p14:creationId xmlns:p14="http://schemas.microsoft.com/office/powerpoint/2010/main" val="31958983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37AC1-2D41-9790-D743-E78B2C43B0A9}"/>
              </a:ext>
            </a:extLst>
          </p:cNvPr>
          <p:cNvSpPr>
            <a:spLocks noGrp="1"/>
          </p:cNvSpPr>
          <p:nvPr>
            <p:ph type="title"/>
          </p:nvPr>
        </p:nvSpPr>
        <p:spPr>
          <a:xfrm>
            <a:off x="1154954" y="727588"/>
            <a:ext cx="8761413" cy="668594"/>
          </a:xfrm>
        </p:spPr>
        <p:txBody>
          <a:bodyPr/>
          <a:lstStyle/>
          <a:p>
            <a:r>
              <a:rPr lang="en-US" b="1" dirty="0"/>
              <a:t>Test-and-Set Lock</a:t>
            </a:r>
            <a:br>
              <a:rPr lang="en-US" b="1" dirty="0"/>
            </a:br>
            <a:endParaRPr lang="en-US" dirty="0"/>
          </a:p>
        </p:txBody>
      </p:sp>
      <p:sp>
        <p:nvSpPr>
          <p:cNvPr id="3" name="Content Placeholder 2">
            <a:extLst>
              <a:ext uri="{FF2B5EF4-FFF2-40B4-BE49-F238E27FC236}">
                <a16:creationId xmlns:a16="http://schemas.microsoft.com/office/drawing/2014/main" id="{A1CE3D12-59D2-276D-5A5F-9EFA74A0A914}"/>
              </a:ext>
            </a:extLst>
          </p:cNvPr>
          <p:cNvSpPr>
            <a:spLocks noGrp="1"/>
          </p:cNvSpPr>
          <p:nvPr>
            <p:ph idx="1"/>
          </p:nvPr>
        </p:nvSpPr>
        <p:spPr>
          <a:xfrm>
            <a:off x="20096" y="2241755"/>
            <a:ext cx="12192000" cy="4616245"/>
          </a:xfrm>
        </p:spPr>
        <p:txBody>
          <a:bodyPr>
            <a:noAutofit/>
          </a:bodyPr>
          <a:lstStyle/>
          <a:p>
            <a:pPr marL="0" indent="0">
              <a:buNone/>
            </a:pPr>
            <a:r>
              <a:rPr lang="en-US" sz="1100" b="1" dirty="0">
                <a:latin typeface="Times New Roman" panose="02020603050405020304" pitchFamily="18" charset="0"/>
                <a:cs typeface="Times New Roman" panose="02020603050405020304" pitchFamily="18" charset="0"/>
              </a:rPr>
              <a:t>Test-and-Set Lock (TSL) </a:t>
            </a:r>
            <a:r>
              <a:rPr lang="en-US" sz="1100" dirty="0">
                <a:latin typeface="Times New Roman" panose="02020603050405020304" pitchFamily="18" charset="0"/>
                <a:cs typeface="Times New Roman" panose="02020603050405020304" pitchFamily="18" charset="0"/>
              </a:rPr>
              <a:t>is a hardware-supported instruction used to implement mutual exclusion in multi- process systems. It ensures atomicity, making it a powerful primitive for synchronization.</a:t>
            </a:r>
          </a:p>
          <a:p>
            <a:pPr marL="0" indent="0">
              <a:buNone/>
            </a:pPr>
            <a:r>
              <a:rPr lang="en-US" sz="1100" dirty="0">
                <a:latin typeface="Times New Roman" panose="02020603050405020304" pitchFamily="18" charset="0"/>
                <a:cs typeface="Times New Roman" panose="02020603050405020304" pitchFamily="18" charset="0"/>
              </a:rPr>
              <a:t>The </a:t>
            </a:r>
            <a:r>
              <a:rPr lang="en-US" sz="1100" b="1" dirty="0">
                <a:latin typeface="Times New Roman" panose="02020603050405020304" pitchFamily="18" charset="0"/>
                <a:cs typeface="Times New Roman" panose="02020603050405020304" pitchFamily="18" charset="0"/>
              </a:rPr>
              <a:t>Test-and-Set </a:t>
            </a:r>
            <a:r>
              <a:rPr lang="en-US" sz="1100" dirty="0">
                <a:latin typeface="Times New Roman" panose="02020603050405020304" pitchFamily="18" charset="0"/>
                <a:cs typeface="Times New Roman" panose="02020603050405020304" pitchFamily="18" charset="0"/>
              </a:rPr>
              <a:t>instruction atomically performs the following actions:</a:t>
            </a:r>
          </a:p>
          <a:p>
            <a:pPr marL="0" lvl="0" indent="0">
              <a:buNone/>
            </a:pPr>
            <a:r>
              <a:rPr lang="en-US" sz="1100" dirty="0">
                <a:latin typeface="Times New Roman" panose="02020603050405020304" pitchFamily="18" charset="0"/>
                <a:cs typeface="Times New Roman" panose="02020603050405020304" pitchFamily="18" charset="0"/>
              </a:rPr>
              <a:t>1.Reads the value of a memory location (e.g., a lock variable).</a:t>
            </a:r>
          </a:p>
          <a:p>
            <a:pPr marL="0" lvl="0" indent="0">
              <a:buNone/>
            </a:pPr>
            <a:r>
              <a:rPr lang="en-US" sz="1100" dirty="0">
                <a:latin typeface="Times New Roman" panose="02020603050405020304" pitchFamily="18" charset="0"/>
                <a:cs typeface="Times New Roman" panose="02020603050405020304" pitchFamily="18" charset="0"/>
              </a:rPr>
              <a:t>2.Sets the value of that memory location to true (locked).</a:t>
            </a:r>
          </a:p>
          <a:p>
            <a:pPr marL="0" indent="0">
              <a:buNone/>
            </a:pPr>
            <a:r>
              <a:rPr lang="en-US" sz="1100" dirty="0">
                <a:latin typeface="Times New Roman" panose="02020603050405020304" pitchFamily="18" charset="0"/>
                <a:cs typeface="Times New Roman" panose="02020603050405020304" pitchFamily="18" charset="0"/>
              </a:rPr>
              <a:t>The atomicity ensures that no other process can interfere during the read-and-set operation, making it suitable for implementing locks.</a:t>
            </a:r>
          </a:p>
          <a:p>
            <a:r>
              <a:rPr lang="en-US" sz="1100" b="1" dirty="0">
                <a:latin typeface="Times New Roman" panose="02020603050405020304" pitchFamily="18" charset="0"/>
                <a:cs typeface="Times New Roman" panose="02020603050405020304" pitchFamily="18" charset="0"/>
              </a:rPr>
              <a:t>How TSL Works</a:t>
            </a:r>
          </a:p>
          <a:p>
            <a:pPr lvl="0"/>
            <a:r>
              <a:rPr lang="en-US" sz="1100" b="1" dirty="0">
                <a:latin typeface="Times New Roman" panose="02020603050405020304" pitchFamily="18" charset="0"/>
                <a:cs typeface="Times New Roman" panose="02020603050405020304" pitchFamily="18" charset="0"/>
              </a:rPr>
              <a:t>Shared Lock Variable</a:t>
            </a:r>
            <a:r>
              <a:rPr lang="en-US" sz="1100" dirty="0">
                <a:latin typeface="Times New Roman" panose="02020603050405020304" pitchFamily="18" charset="0"/>
                <a:cs typeface="Times New Roman" panose="02020603050405020304" pitchFamily="18" charset="0"/>
              </a:rPr>
              <a:t>:</a:t>
            </a:r>
          </a:p>
          <a:p>
            <a:pPr lvl="1"/>
            <a:r>
              <a:rPr lang="en-US" sz="1100" dirty="0">
                <a:latin typeface="Times New Roman" panose="02020603050405020304" pitchFamily="18" charset="0"/>
                <a:cs typeface="Times New Roman" panose="02020603050405020304" pitchFamily="18" charset="0"/>
              </a:rPr>
              <a:t>A shared </a:t>
            </a:r>
            <a:r>
              <a:rPr lang="en-US" sz="1100" dirty="0" err="1">
                <a:latin typeface="Times New Roman" panose="02020603050405020304" pitchFamily="18" charset="0"/>
                <a:cs typeface="Times New Roman" panose="02020603050405020304" pitchFamily="18" charset="0"/>
              </a:rPr>
              <a:t>boolean</a:t>
            </a:r>
            <a:r>
              <a:rPr lang="en-US" sz="1100" dirty="0">
                <a:latin typeface="Times New Roman" panose="02020603050405020304" pitchFamily="18" charset="0"/>
                <a:cs typeface="Times New Roman" panose="02020603050405020304" pitchFamily="18" charset="0"/>
              </a:rPr>
              <a:t> variable lock is used:</a:t>
            </a:r>
          </a:p>
          <a:p>
            <a:pPr lvl="0"/>
            <a:r>
              <a:rPr lang="en-US" sz="1100" dirty="0">
                <a:latin typeface="Times New Roman" panose="02020603050405020304" pitchFamily="18" charset="0"/>
                <a:cs typeface="Times New Roman" panose="02020603050405020304" pitchFamily="18" charset="0"/>
              </a:rPr>
              <a:t>false: The lock is free.</a:t>
            </a:r>
          </a:p>
          <a:p>
            <a:pPr lvl="0"/>
            <a:r>
              <a:rPr lang="en-US" sz="1100" dirty="0">
                <a:latin typeface="Times New Roman" panose="02020603050405020304" pitchFamily="18" charset="0"/>
                <a:cs typeface="Times New Roman" panose="02020603050405020304" pitchFamily="18" charset="0"/>
              </a:rPr>
              <a:t>true: The lock is taken.</a:t>
            </a:r>
          </a:p>
          <a:p>
            <a:pPr lvl="0"/>
            <a:r>
              <a:rPr lang="en-US" sz="1100" b="1" dirty="0">
                <a:latin typeface="Times New Roman" panose="02020603050405020304" pitchFamily="18" charset="0"/>
                <a:cs typeface="Times New Roman" panose="02020603050405020304" pitchFamily="18" charset="0"/>
              </a:rPr>
              <a:t>Test-and-Set Instruction</a:t>
            </a:r>
            <a:r>
              <a:rPr lang="en-US" sz="1100" dirty="0">
                <a:latin typeface="Times New Roman" panose="02020603050405020304" pitchFamily="18" charset="0"/>
                <a:cs typeface="Times New Roman" panose="02020603050405020304" pitchFamily="18" charset="0"/>
              </a:rPr>
              <a:t>:</a:t>
            </a:r>
            <a:endParaRPr lang="en-US" sz="1100" b="1" dirty="0">
              <a:latin typeface="Times New Roman" panose="02020603050405020304" pitchFamily="18" charset="0"/>
              <a:cs typeface="Times New Roman" panose="02020603050405020304" pitchFamily="18" charset="0"/>
            </a:endParaRPr>
          </a:p>
          <a:p>
            <a:pPr lvl="1"/>
            <a:r>
              <a:rPr lang="en-US" sz="1100" dirty="0">
                <a:latin typeface="Times New Roman" panose="02020603050405020304" pitchFamily="18" charset="0"/>
                <a:cs typeface="Times New Roman" panose="02020603050405020304" pitchFamily="18" charset="0"/>
              </a:rPr>
              <a:t>Syntax (in pseudo-assembly):</a:t>
            </a:r>
          </a:p>
          <a:p>
            <a:pPr lvl="0"/>
            <a:r>
              <a:rPr lang="en-US" sz="1100" dirty="0">
                <a:latin typeface="Times New Roman" panose="02020603050405020304" pitchFamily="18" charset="0"/>
                <a:cs typeface="Times New Roman" panose="02020603050405020304" pitchFamily="18" charset="0"/>
              </a:rPr>
              <a:t>TEST_AND_SET(register, lock)</a:t>
            </a:r>
          </a:p>
          <a:p>
            <a:pPr lvl="1"/>
            <a:r>
              <a:rPr lang="en-US" sz="1100" dirty="0">
                <a:latin typeface="Times New Roman" panose="02020603050405020304" pitchFamily="18" charset="0"/>
                <a:cs typeface="Times New Roman" panose="02020603050405020304" pitchFamily="18" charset="0"/>
              </a:rPr>
              <a:t>register: Temporary register to store the old value of lock.</a:t>
            </a:r>
          </a:p>
          <a:p>
            <a:pPr lvl="1"/>
            <a:r>
              <a:rPr lang="en-US" sz="1100" dirty="0">
                <a:latin typeface="Times New Roman" panose="02020603050405020304" pitchFamily="18" charset="0"/>
                <a:cs typeface="Times New Roman" panose="02020603050405020304" pitchFamily="18" charset="0"/>
              </a:rPr>
              <a:t>lock: The memory location to be modified.</a:t>
            </a:r>
          </a:p>
          <a:p>
            <a:pPr marL="0" indent="0">
              <a:buNone/>
            </a:pPr>
            <a:endParaRPr lang="en-US" sz="1100" dirty="0">
              <a:latin typeface="Times New Roman" panose="02020603050405020304" pitchFamily="18" charset="0"/>
              <a:cs typeface="Times New Roman" panose="02020603050405020304" pitchFamily="18" charset="0"/>
            </a:endParaRPr>
          </a:p>
          <a:p>
            <a:pPr marL="0" lvl="0" indent="0">
              <a:buNone/>
            </a:pPr>
            <a:endParaRPr lang="en-US" sz="1100" dirty="0"/>
          </a:p>
          <a:p>
            <a:endParaRPr lang="en-US" sz="1100" dirty="0"/>
          </a:p>
        </p:txBody>
      </p:sp>
    </p:spTree>
    <p:extLst>
      <p:ext uri="{BB962C8B-B14F-4D97-AF65-F5344CB8AC3E}">
        <p14:creationId xmlns:p14="http://schemas.microsoft.com/office/powerpoint/2010/main" val="23479846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5C5CB-6E3D-2783-BCE1-A7C4EB379D41}"/>
              </a:ext>
            </a:extLst>
          </p:cNvPr>
          <p:cNvSpPr>
            <a:spLocks noGrp="1"/>
          </p:cNvSpPr>
          <p:nvPr>
            <p:ph type="title"/>
          </p:nvPr>
        </p:nvSpPr>
        <p:spPr/>
        <p:txBody>
          <a:bodyPr/>
          <a:lstStyle/>
          <a:p>
            <a:r>
              <a:rPr lang="en-US" dirty="0"/>
              <a:t>Test and set lock</a:t>
            </a:r>
          </a:p>
        </p:txBody>
      </p:sp>
      <p:sp>
        <p:nvSpPr>
          <p:cNvPr id="3" name="Content Placeholder 2">
            <a:extLst>
              <a:ext uri="{FF2B5EF4-FFF2-40B4-BE49-F238E27FC236}">
                <a16:creationId xmlns:a16="http://schemas.microsoft.com/office/drawing/2014/main" id="{4393B1D4-A285-48BC-ED66-0F091DC36A48}"/>
              </a:ext>
            </a:extLst>
          </p:cNvPr>
          <p:cNvSpPr>
            <a:spLocks noGrp="1"/>
          </p:cNvSpPr>
          <p:nvPr>
            <p:ph idx="1"/>
          </p:nvPr>
        </p:nvSpPr>
        <p:spPr>
          <a:xfrm>
            <a:off x="1154955" y="2290916"/>
            <a:ext cx="4941046" cy="4567084"/>
          </a:xfrm>
        </p:spPr>
        <p:txBody>
          <a:bodyPr>
            <a:normAutofit fontScale="62500" lnSpcReduction="20000"/>
          </a:bodyPr>
          <a:lstStyle/>
          <a:p>
            <a:pPr marL="0" indent="0">
              <a:buNone/>
            </a:pPr>
            <a:r>
              <a:rPr lang="en-US" sz="2000" dirty="0">
                <a:latin typeface="Times New Roman" panose="02020603050405020304" pitchFamily="18" charset="0"/>
                <a:cs typeface="Times New Roman" panose="02020603050405020304" pitchFamily="18" charset="0"/>
              </a:rPr>
              <a:t>while (TRUE) {</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 Entry section</a:t>
            </a:r>
          </a:p>
          <a:p>
            <a:pPr marL="0" indent="0">
              <a:buNone/>
            </a:pPr>
            <a:r>
              <a:rPr lang="en-US" sz="2000" dirty="0">
                <a:latin typeface="Times New Roman" panose="02020603050405020304" pitchFamily="18" charset="0"/>
                <a:cs typeface="Times New Roman" panose="02020603050405020304" pitchFamily="18" charset="0"/>
              </a:rPr>
              <a:t>    while (</a:t>
            </a:r>
            <a:r>
              <a:rPr lang="en-US" sz="2000" dirty="0" err="1">
                <a:latin typeface="Times New Roman" panose="02020603050405020304" pitchFamily="18" charset="0"/>
                <a:cs typeface="Times New Roman" panose="02020603050405020304" pitchFamily="18" charset="0"/>
              </a:rPr>
              <a:t>test_and_set</a:t>
            </a:r>
            <a:r>
              <a:rPr lang="en-US" sz="2000" dirty="0">
                <a:latin typeface="Times New Roman" panose="02020603050405020304" pitchFamily="18" charset="0"/>
                <a:cs typeface="Times New Roman" panose="02020603050405020304" pitchFamily="18" charset="0"/>
              </a:rPr>
              <a:t>(&amp;lock) == 1) {</a:t>
            </a:r>
          </a:p>
          <a:p>
            <a:pPr marL="0" indent="0">
              <a:buNone/>
            </a:pPr>
            <a:r>
              <a:rPr lang="en-US" sz="2000" dirty="0">
                <a:latin typeface="Times New Roman" panose="02020603050405020304" pitchFamily="18" charset="0"/>
                <a:cs typeface="Times New Roman" panose="02020603050405020304" pitchFamily="18" charset="0"/>
              </a:rPr>
              <a:t>        ;   // busy waiting until lock becomes free</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 ---- CRITICAL SECTION ----</a:t>
            </a:r>
          </a:p>
          <a:p>
            <a:pPr marL="0" indent="0">
              <a:buNone/>
            </a:pPr>
            <a:r>
              <a:rPr lang="en-US" sz="2000" dirty="0">
                <a:latin typeface="Times New Roman" panose="02020603050405020304" pitchFamily="18" charset="0"/>
                <a:cs typeface="Times New Roman" panose="02020603050405020304" pitchFamily="18" charset="0"/>
              </a:rPr>
              <a:t>    &lt;critical section code&gt;</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 Exit section</a:t>
            </a:r>
          </a:p>
          <a:p>
            <a:pPr marL="0" indent="0">
              <a:buNone/>
            </a:pPr>
            <a:r>
              <a:rPr lang="en-US" sz="2000" dirty="0">
                <a:latin typeface="Times New Roman" panose="02020603050405020304" pitchFamily="18" charset="0"/>
                <a:cs typeface="Times New Roman" panose="02020603050405020304" pitchFamily="18" charset="0"/>
              </a:rPr>
              <a:t>    lock = 0     // release lock</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 ---- REMAINDER SECTION ----</a:t>
            </a:r>
          </a:p>
          <a:p>
            <a:pPr marL="0" indent="0">
              <a:buNone/>
            </a:pPr>
            <a:r>
              <a:rPr lang="en-US" sz="2000" dirty="0">
                <a:latin typeface="Times New Roman" panose="02020603050405020304" pitchFamily="18" charset="0"/>
                <a:cs typeface="Times New Roman" panose="02020603050405020304" pitchFamily="18" charset="0"/>
              </a:rPr>
              <a:t>    &lt;remainder section&gt;</a:t>
            </a:r>
          </a:p>
          <a:p>
            <a:pPr marL="0" indent="0">
              <a:buNone/>
            </a:pPr>
            <a:r>
              <a:rPr lang="en-US" sz="2000" dirty="0">
                <a:latin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35610718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3D0A7-2B3B-32C7-4A39-6667CAF44149}"/>
              </a:ext>
            </a:extLst>
          </p:cNvPr>
          <p:cNvSpPr>
            <a:spLocks noGrp="1"/>
          </p:cNvSpPr>
          <p:nvPr>
            <p:ph type="title"/>
          </p:nvPr>
        </p:nvSpPr>
        <p:spPr/>
        <p:txBody>
          <a:bodyPr/>
          <a:lstStyle/>
          <a:p>
            <a:r>
              <a:rPr lang="en-US" b="1" dirty="0"/>
              <a:t>Strict Alternation</a:t>
            </a:r>
            <a:br>
              <a:rPr lang="en-US" dirty="0"/>
            </a:br>
            <a:endParaRPr lang="en-US" dirty="0"/>
          </a:p>
        </p:txBody>
      </p:sp>
      <p:sp>
        <p:nvSpPr>
          <p:cNvPr id="3" name="Content Placeholder 2">
            <a:extLst>
              <a:ext uri="{FF2B5EF4-FFF2-40B4-BE49-F238E27FC236}">
                <a16:creationId xmlns:a16="http://schemas.microsoft.com/office/drawing/2014/main" id="{1DA4E7B0-0300-59B9-84DA-899093313172}"/>
              </a:ext>
            </a:extLst>
          </p:cNvPr>
          <p:cNvSpPr>
            <a:spLocks noGrp="1"/>
          </p:cNvSpPr>
          <p:nvPr>
            <p:ph idx="1"/>
          </p:nvPr>
        </p:nvSpPr>
        <p:spPr>
          <a:xfrm>
            <a:off x="0" y="2399070"/>
            <a:ext cx="11946194" cy="4458929"/>
          </a:xfrm>
        </p:spPr>
        <p:txBody>
          <a:bodyPr>
            <a:noAutofit/>
          </a:bodyPr>
          <a:lstStyle/>
          <a:p>
            <a:pPr lvl="1"/>
            <a:r>
              <a:rPr lang="en-US" dirty="0">
                <a:latin typeface="Times New Roman" panose="02020603050405020304" pitchFamily="18" charset="0"/>
                <a:cs typeface="Times New Roman" panose="02020603050405020304" pitchFamily="18" charset="0"/>
              </a:rPr>
              <a:t>In this approach, we have an integer variable named turn, which keeps track of whose turn is it to enter critical section</a:t>
            </a:r>
          </a:p>
          <a:p>
            <a:pPr lvl="1"/>
            <a:r>
              <a:rPr lang="en-US" dirty="0">
                <a:latin typeface="Times New Roman" panose="02020603050405020304" pitchFamily="18" charset="0"/>
                <a:cs typeface="Times New Roman" panose="02020603050405020304" pitchFamily="18" charset="0"/>
              </a:rPr>
              <a:t>Say, in a two process scenario, Process 0 runs when turn=0 and process 1 runs when turn=1.</a:t>
            </a:r>
          </a:p>
          <a:p>
            <a:pPr lvl="1"/>
            <a:r>
              <a:rPr lang="en-US" dirty="0">
                <a:latin typeface="Times New Roman" panose="02020603050405020304" pitchFamily="18" charset="0"/>
                <a:cs typeface="Times New Roman" panose="02020603050405020304" pitchFamily="18" charset="0"/>
              </a:rPr>
              <a:t>Turn is initially set to 0</a:t>
            </a:r>
          </a:p>
          <a:p>
            <a:pPr lvl="1"/>
            <a:r>
              <a:rPr lang="en-US" dirty="0">
                <a:latin typeface="Times New Roman" panose="02020603050405020304" pitchFamily="18" charset="0"/>
                <a:cs typeface="Times New Roman" panose="02020603050405020304" pitchFamily="18" charset="0"/>
              </a:rPr>
              <a:t>Process 0 examines turn to be 0 and enters the critical region.</a:t>
            </a:r>
          </a:p>
          <a:p>
            <a:pPr lvl="1"/>
            <a:r>
              <a:rPr lang="en-US" dirty="0">
                <a:latin typeface="Times New Roman" panose="02020603050405020304" pitchFamily="18" charset="0"/>
                <a:cs typeface="Times New Roman" panose="02020603050405020304" pitchFamily="18" charset="0"/>
              </a:rPr>
              <a:t>Process 1 also finds turn to be 0 so it sits in a tight </a:t>
            </a:r>
          </a:p>
          <a:p>
            <a:pPr marL="457200" lvl="1" indent="0">
              <a:buNone/>
            </a:pPr>
            <a:r>
              <a:rPr lang="en-US" dirty="0">
                <a:latin typeface="Times New Roman" panose="02020603050405020304" pitchFamily="18" charset="0"/>
                <a:cs typeface="Times New Roman" panose="02020603050405020304" pitchFamily="18" charset="0"/>
              </a:rPr>
              <a:t>loop continually testing turn to see when it becomes 1.</a:t>
            </a:r>
          </a:p>
          <a:p>
            <a:pPr marL="457200" lvl="1" indent="0">
              <a:buNone/>
            </a:pPr>
            <a:r>
              <a:rPr lang="en-US" dirty="0">
                <a:latin typeface="Times New Roman" panose="02020603050405020304" pitchFamily="18" charset="0"/>
                <a:cs typeface="Times New Roman" panose="02020603050405020304" pitchFamily="18" charset="0"/>
              </a:rPr>
              <a:t> Continuously testing a variable until some value appears is called busy waiting</a:t>
            </a:r>
          </a:p>
          <a:p>
            <a:pPr lvl="1"/>
            <a:r>
              <a:rPr lang="en-US" dirty="0">
                <a:latin typeface="Times New Roman" panose="02020603050405020304" pitchFamily="18" charset="0"/>
                <a:cs typeface="Times New Roman" panose="02020603050405020304" pitchFamily="18" charset="0"/>
              </a:rPr>
              <a:t>When process 0 leaves the critical region, it </a:t>
            </a:r>
          </a:p>
          <a:p>
            <a:pPr marL="457200" lvl="1" indent="0">
              <a:buNone/>
            </a:pPr>
            <a:r>
              <a:rPr lang="en-US" dirty="0">
                <a:latin typeface="Times New Roman" panose="02020603050405020304" pitchFamily="18" charset="0"/>
                <a:cs typeface="Times New Roman" panose="02020603050405020304" pitchFamily="18" charset="0"/>
              </a:rPr>
              <a:t>Set turn to 1 so that process 1 can now enter the critical region.</a:t>
            </a:r>
          </a:p>
          <a:p>
            <a:r>
              <a:rPr lang="en-US" sz="1600" b="1" u="heavy" dirty="0">
                <a:latin typeface="Times New Roman" panose="02020603050405020304" pitchFamily="18" charset="0"/>
                <a:cs typeface="Times New Roman" panose="02020603050405020304" pitchFamily="18" charset="0"/>
              </a:rPr>
              <a:t>Problem</a:t>
            </a:r>
            <a:endParaRPr lang="en-US" sz="1600" b="1"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If process 0 finishes its work in non-critical region fast enough after it set, turn to 1 and process 0needs to enter critical section again before process 1 then it cannot do so. So, process 1 which is running outside critical region is blocking process 0.</a:t>
            </a:r>
          </a:p>
          <a:p>
            <a:pPr lvl="1"/>
            <a:endParaRPr lang="en-US" dirty="0">
              <a:latin typeface="Times New Roman" panose="02020603050405020304" pitchFamily="18" charset="0"/>
              <a:cs typeface="Times New Roman" panose="02020603050405020304" pitchFamily="18" charset="0"/>
            </a:endParaRPr>
          </a:p>
          <a:p>
            <a:pPr lvl="1"/>
            <a:endParaRPr lang="en-US"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p:txBody>
      </p:sp>
      <p:pic>
        <p:nvPicPr>
          <p:cNvPr id="5" name="Picture 4" descr="A computer code with black text&#10;&#10;AI-generated content may be incorrect.">
            <a:extLst>
              <a:ext uri="{FF2B5EF4-FFF2-40B4-BE49-F238E27FC236}">
                <a16:creationId xmlns:a16="http://schemas.microsoft.com/office/drawing/2014/main" id="{DF37E623-AF4E-8146-7293-BD3BFABE3049}"/>
              </a:ext>
            </a:extLst>
          </p:cNvPr>
          <p:cNvPicPr>
            <a:picLocks noChangeAspect="1"/>
          </p:cNvPicPr>
          <p:nvPr/>
        </p:nvPicPr>
        <p:blipFill>
          <a:blip r:embed="rId2"/>
          <a:stretch>
            <a:fillRect/>
          </a:stretch>
        </p:blipFill>
        <p:spPr>
          <a:xfrm>
            <a:off x="7206075" y="3429000"/>
            <a:ext cx="4806392" cy="1614948"/>
          </a:xfrm>
          <a:prstGeom prst="rect">
            <a:avLst/>
          </a:prstGeom>
        </p:spPr>
      </p:pic>
    </p:spTree>
    <p:extLst>
      <p:ext uri="{BB962C8B-B14F-4D97-AF65-F5344CB8AC3E}">
        <p14:creationId xmlns:p14="http://schemas.microsoft.com/office/powerpoint/2010/main" val="19001116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EEDB3-5137-4986-C7EC-49C7EA164FEF}"/>
              </a:ext>
            </a:extLst>
          </p:cNvPr>
          <p:cNvSpPr>
            <a:spLocks noGrp="1"/>
          </p:cNvSpPr>
          <p:nvPr>
            <p:ph type="title"/>
          </p:nvPr>
        </p:nvSpPr>
        <p:spPr>
          <a:xfrm>
            <a:off x="733530" y="973668"/>
            <a:ext cx="9182837" cy="706964"/>
          </a:xfrm>
        </p:spPr>
        <p:txBody>
          <a:bodyPr/>
          <a:lstStyle/>
          <a:p>
            <a:r>
              <a:rPr lang="en-US" b="1" u="heavy" dirty="0"/>
              <a:t>Producer-consumer problem</a:t>
            </a:r>
            <a:br>
              <a:rPr lang="en-US" b="1" dirty="0"/>
            </a:br>
            <a:endParaRPr lang="en-US" dirty="0"/>
          </a:p>
        </p:txBody>
      </p:sp>
      <p:sp>
        <p:nvSpPr>
          <p:cNvPr id="3" name="Content Placeholder 2">
            <a:extLst>
              <a:ext uri="{FF2B5EF4-FFF2-40B4-BE49-F238E27FC236}">
                <a16:creationId xmlns:a16="http://schemas.microsoft.com/office/drawing/2014/main" id="{FB2450E8-781C-852D-AB85-D2DCABD18285}"/>
              </a:ext>
            </a:extLst>
          </p:cNvPr>
          <p:cNvSpPr>
            <a:spLocks noGrp="1"/>
          </p:cNvSpPr>
          <p:nvPr>
            <p:ph idx="1"/>
          </p:nvPr>
        </p:nvSpPr>
        <p:spPr>
          <a:xfrm>
            <a:off x="0" y="2320413"/>
            <a:ext cx="8602697" cy="4414684"/>
          </a:xfrm>
        </p:spPr>
        <p:txBody>
          <a:bodyPr>
            <a:normAutofit lnSpcReduction="10000"/>
          </a:bodyPr>
          <a:lstStyle/>
          <a:p>
            <a:pPr marL="0" indent="0">
              <a:buNone/>
            </a:pPr>
            <a:r>
              <a:rPr lang="en-US" sz="1600" dirty="0">
                <a:latin typeface="Times New Roman" panose="02020603050405020304" pitchFamily="18" charset="0"/>
                <a:cs typeface="Times New Roman" panose="02020603050405020304" pitchFamily="18" charset="0"/>
              </a:rPr>
              <a:t>Producer-consumer problem (also known as the bounded-buffer problem) is a multiprocessing synchronization problem.</a:t>
            </a:r>
          </a:p>
          <a:p>
            <a:pPr marL="0" indent="0">
              <a:buNone/>
            </a:pPr>
            <a:r>
              <a:rPr lang="en-US" sz="1600" dirty="0">
                <a:latin typeface="Times New Roman" panose="02020603050405020304" pitchFamily="18" charset="0"/>
                <a:cs typeface="Times New Roman" panose="02020603050405020304" pitchFamily="18" charset="0"/>
              </a:rPr>
              <a:t>The problem describes two processes, the producer and the consumer, who share a common, </a:t>
            </a:r>
            <a:r>
              <a:rPr lang="en-US" sz="1600" dirty="0" err="1">
                <a:latin typeface="Times New Roman" panose="02020603050405020304" pitchFamily="18" charset="0"/>
                <a:cs typeface="Times New Roman" panose="02020603050405020304" pitchFamily="18" charset="0"/>
              </a:rPr>
              <a:t>fixedsize</a:t>
            </a:r>
            <a:r>
              <a:rPr lang="en-US" sz="1600" dirty="0">
                <a:latin typeface="Times New Roman" panose="02020603050405020304" pitchFamily="18" charset="0"/>
                <a:cs typeface="Times New Roman" panose="02020603050405020304" pitchFamily="18" charset="0"/>
              </a:rPr>
              <a:t> buffer.</a:t>
            </a:r>
          </a:p>
          <a:p>
            <a:pPr marL="0" indent="0">
              <a:buNone/>
            </a:pPr>
            <a:r>
              <a:rPr lang="en-US" sz="1600" b="1" dirty="0">
                <a:latin typeface="Times New Roman" panose="02020603050405020304" pitchFamily="18" charset="0"/>
                <a:cs typeface="Times New Roman" panose="02020603050405020304" pitchFamily="18" charset="0"/>
              </a:rPr>
              <a:t>Producer</a:t>
            </a:r>
            <a:r>
              <a:rPr lang="en-US" sz="1600" dirty="0">
                <a:latin typeface="Times New Roman" panose="02020603050405020304" pitchFamily="18" charset="0"/>
                <a:cs typeface="Times New Roman" panose="02020603050405020304" pitchFamily="18" charset="0"/>
              </a:rPr>
              <a:t>: - The producer's job is to generate a piece of data, put it into the buffer and start again.</a:t>
            </a:r>
          </a:p>
          <a:p>
            <a:pPr marL="0" indent="0">
              <a:buNone/>
            </a:pPr>
            <a:r>
              <a:rPr lang="en-US" sz="1600" b="1" dirty="0">
                <a:latin typeface="Times New Roman" panose="02020603050405020304" pitchFamily="18" charset="0"/>
                <a:cs typeface="Times New Roman" panose="02020603050405020304" pitchFamily="18" charset="0"/>
              </a:rPr>
              <a:t>Consumer</a:t>
            </a:r>
            <a:r>
              <a:rPr lang="en-US" sz="1600" dirty="0">
                <a:latin typeface="Times New Roman" panose="02020603050405020304" pitchFamily="18" charset="0"/>
                <a:cs typeface="Times New Roman" panose="02020603050405020304" pitchFamily="18" charset="0"/>
              </a:rPr>
              <a:t>: - The consumer is consuming the data (i.e., removing it from the buffer) one piece </a:t>
            </a:r>
            <a:r>
              <a:rPr lang="en-US" sz="1600" dirty="0" err="1">
                <a:latin typeface="Times New Roman" panose="02020603050405020304" pitchFamily="18" charset="0"/>
                <a:cs typeface="Times New Roman" panose="02020603050405020304" pitchFamily="18" charset="0"/>
              </a:rPr>
              <a:t>ata</a:t>
            </a:r>
            <a:r>
              <a:rPr lang="en-US" sz="1600" dirty="0">
                <a:latin typeface="Times New Roman" panose="02020603050405020304" pitchFamily="18" charset="0"/>
                <a:cs typeface="Times New Roman" panose="02020603050405020304" pitchFamily="18" charset="0"/>
              </a:rPr>
              <a:t> time.</a:t>
            </a:r>
          </a:p>
          <a:p>
            <a:r>
              <a:rPr lang="en-US" sz="1600" b="1" u="heavy" dirty="0">
                <a:latin typeface="Times New Roman" panose="02020603050405020304" pitchFamily="18" charset="0"/>
                <a:cs typeface="Times New Roman" panose="02020603050405020304" pitchFamily="18" charset="0"/>
              </a:rPr>
              <a:t>Problem</a:t>
            </a:r>
            <a:endParaRPr lang="en-US" sz="1600" b="1"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The problem is to make sure that the producer won't try to add data into the buffer if it's full </a:t>
            </a:r>
            <a:r>
              <a:rPr lang="en-US" sz="1600" dirty="0" err="1">
                <a:latin typeface="Times New Roman" panose="02020603050405020304" pitchFamily="18" charset="0"/>
                <a:cs typeface="Times New Roman" panose="02020603050405020304" pitchFamily="18" charset="0"/>
              </a:rPr>
              <a:t>andthat</a:t>
            </a:r>
            <a:r>
              <a:rPr lang="en-US" sz="1600" dirty="0">
                <a:latin typeface="Times New Roman" panose="02020603050405020304" pitchFamily="18" charset="0"/>
                <a:cs typeface="Times New Roman" panose="02020603050405020304" pitchFamily="18" charset="0"/>
              </a:rPr>
              <a:t> the consumer won't try to remove data from an empty buffer.</a:t>
            </a:r>
          </a:p>
          <a:p>
            <a:r>
              <a:rPr lang="en-US" sz="1600" b="1" u="heavy" dirty="0">
                <a:latin typeface="Times New Roman" panose="02020603050405020304" pitchFamily="18" charset="0"/>
                <a:cs typeface="Times New Roman" panose="02020603050405020304" pitchFamily="18" charset="0"/>
              </a:rPr>
              <a:t>Solution to Producer-consumer problem</a:t>
            </a:r>
            <a:endParaRPr lang="en-US" sz="1600" b="1"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Producer either go to sleep or discard data if the buffer is full. The next time the consumer removes an item from the buffer and it notifies the producer who starts to fill the buffer again consumer can go to sleep if it finds the buffer to be empty. The next time the producer puts data into the buffer, it wakes up the sleeping consumer</a:t>
            </a:r>
          </a:p>
        </p:txBody>
      </p:sp>
      <p:pic>
        <p:nvPicPr>
          <p:cNvPr id="4" name="Image 23">
            <a:extLst>
              <a:ext uri="{FF2B5EF4-FFF2-40B4-BE49-F238E27FC236}">
                <a16:creationId xmlns:a16="http://schemas.microsoft.com/office/drawing/2014/main" id="{CE064E95-6FAF-7FE4-CD8C-EA7EB6137F43}"/>
              </a:ext>
            </a:extLst>
          </p:cNvPr>
          <p:cNvPicPr>
            <a:picLocks/>
          </p:cNvPicPr>
          <p:nvPr/>
        </p:nvPicPr>
        <p:blipFill>
          <a:blip r:embed="rId2" cstate="print"/>
          <a:stretch>
            <a:fillRect/>
          </a:stretch>
        </p:blipFill>
        <p:spPr>
          <a:xfrm>
            <a:off x="8181975" y="3226754"/>
            <a:ext cx="4010025" cy="1838325"/>
          </a:xfrm>
          <a:prstGeom prst="rect">
            <a:avLst/>
          </a:prstGeom>
        </p:spPr>
      </p:pic>
    </p:spTree>
    <p:extLst>
      <p:ext uri="{BB962C8B-B14F-4D97-AF65-F5344CB8AC3E}">
        <p14:creationId xmlns:p14="http://schemas.microsoft.com/office/powerpoint/2010/main" val="42436083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3E9E0-E420-0312-2ABB-63FD153B3B5B}"/>
              </a:ext>
            </a:extLst>
          </p:cNvPr>
          <p:cNvSpPr>
            <a:spLocks noGrp="1"/>
          </p:cNvSpPr>
          <p:nvPr>
            <p:ph type="title"/>
          </p:nvPr>
        </p:nvSpPr>
        <p:spPr>
          <a:xfrm>
            <a:off x="1154954" y="698090"/>
            <a:ext cx="8761413" cy="982542"/>
          </a:xfrm>
        </p:spPr>
        <p:txBody>
          <a:bodyPr/>
          <a:lstStyle/>
          <a:p>
            <a:r>
              <a:rPr lang="en-US" b="1" u="heavy" dirty="0"/>
              <a:t>Sleep and wakeup</a:t>
            </a:r>
            <a:br>
              <a:rPr lang="en-US" b="1" dirty="0"/>
            </a:br>
            <a:endParaRPr lang="en-US" dirty="0"/>
          </a:p>
        </p:txBody>
      </p:sp>
      <p:sp>
        <p:nvSpPr>
          <p:cNvPr id="3" name="Content Placeholder 2">
            <a:extLst>
              <a:ext uri="{FF2B5EF4-FFF2-40B4-BE49-F238E27FC236}">
                <a16:creationId xmlns:a16="http://schemas.microsoft.com/office/drawing/2014/main" id="{BCE40416-F7B0-3E72-8CF7-041A7B8E8F69}"/>
              </a:ext>
            </a:extLst>
          </p:cNvPr>
          <p:cNvSpPr>
            <a:spLocks noGrp="1"/>
          </p:cNvSpPr>
          <p:nvPr>
            <p:ph idx="1"/>
          </p:nvPr>
        </p:nvSpPr>
        <p:spPr>
          <a:xfrm>
            <a:off x="0" y="2281084"/>
            <a:ext cx="9419303" cy="4576916"/>
          </a:xfrm>
        </p:spPr>
        <p:txBody>
          <a:bodyPr>
            <a:normAutofit/>
          </a:bodyPr>
          <a:lstStyle/>
          <a:p>
            <a:pPr lvl="0"/>
            <a:r>
              <a:rPr lang="en-US" dirty="0">
                <a:latin typeface="Times New Roman" panose="02020603050405020304" pitchFamily="18" charset="0"/>
                <a:cs typeface="Times New Roman" panose="02020603050405020304" pitchFamily="18" charset="0"/>
              </a:rPr>
              <a:t>When a process wants to enter its critical region, it checks to see if entry is allowed, if it is not, the process just sits in a tight loop waiting, this approach wastes CPU time.</a:t>
            </a:r>
          </a:p>
          <a:p>
            <a:pPr lvl="0"/>
            <a:r>
              <a:rPr lang="en-US" dirty="0">
                <a:latin typeface="Times New Roman" panose="02020603050405020304" pitchFamily="18" charset="0"/>
                <a:cs typeface="Times New Roman" panose="02020603050405020304" pitchFamily="18" charset="0"/>
              </a:rPr>
              <a:t>We could use an IPC primitives that blocks a process instead of wasting CPU time when they are not allowed to enter into their critical section.</a:t>
            </a:r>
          </a:p>
          <a:p>
            <a:pPr lvl="0"/>
            <a:r>
              <a:rPr lang="en-US" dirty="0">
                <a:latin typeface="Times New Roman" panose="02020603050405020304" pitchFamily="18" charset="0"/>
                <a:cs typeface="Times New Roman" panose="02020603050405020304" pitchFamily="18" charset="0"/>
              </a:rPr>
              <a:t>Such a simple primitive pair is </a:t>
            </a:r>
            <a:r>
              <a:rPr lang="en-US" b="1" dirty="0">
                <a:latin typeface="Times New Roman" panose="02020603050405020304" pitchFamily="18" charset="0"/>
                <a:cs typeface="Times New Roman" panose="02020603050405020304" pitchFamily="18" charset="0"/>
              </a:rPr>
              <a:t>sleep and wakeup</a:t>
            </a:r>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Essentially, when a process is not permitted to access its critical section, it uses a system call known as Sleep, which causes that process to block.</a:t>
            </a:r>
          </a:p>
          <a:p>
            <a:pPr lvl="0"/>
            <a:r>
              <a:rPr lang="en-US" dirty="0">
                <a:latin typeface="Times New Roman" panose="02020603050405020304" pitchFamily="18" charset="0"/>
                <a:cs typeface="Times New Roman" panose="02020603050405020304" pitchFamily="18" charset="0"/>
              </a:rPr>
              <a:t>The process will not be scheduled to run again, until another process uses the Wakeup system call.</a:t>
            </a:r>
          </a:p>
          <a:p>
            <a:pPr lvl="0"/>
            <a:r>
              <a:rPr lang="en-US" dirty="0">
                <a:latin typeface="Times New Roman" panose="02020603050405020304" pitchFamily="18" charset="0"/>
                <a:cs typeface="Times New Roman" panose="02020603050405020304" pitchFamily="18" charset="0"/>
              </a:rPr>
              <a:t>Wakeup is called by a process when it leaves its critical section if any other processes have blocked.</a:t>
            </a:r>
          </a:p>
          <a:p>
            <a:endParaRPr lang="en-US" dirty="0"/>
          </a:p>
        </p:txBody>
      </p:sp>
    </p:spTree>
    <p:extLst>
      <p:ext uri="{BB962C8B-B14F-4D97-AF65-F5344CB8AC3E}">
        <p14:creationId xmlns:p14="http://schemas.microsoft.com/office/powerpoint/2010/main" val="2317998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EEFF7-021F-A965-2EE0-3F9333175554}"/>
              </a:ext>
            </a:extLst>
          </p:cNvPr>
          <p:cNvSpPr>
            <a:spLocks noGrp="1"/>
          </p:cNvSpPr>
          <p:nvPr>
            <p:ph type="title"/>
          </p:nvPr>
        </p:nvSpPr>
        <p:spPr/>
        <p:txBody>
          <a:bodyPr/>
          <a:lstStyle/>
          <a:p>
            <a:r>
              <a:rPr lang="en-US" b="1" u="heavy" dirty="0"/>
              <a:t>Sleep and wakeup</a:t>
            </a:r>
            <a:endParaRPr lang="en-US" dirty="0"/>
          </a:p>
        </p:txBody>
      </p:sp>
      <p:pic>
        <p:nvPicPr>
          <p:cNvPr id="5" name="Content Placeholder 4" descr="A screenshot of a computer code&#10;&#10;AI-generated content may be incorrect.">
            <a:extLst>
              <a:ext uri="{FF2B5EF4-FFF2-40B4-BE49-F238E27FC236}">
                <a16:creationId xmlns:a16="http://schemas.microsoft.com/office/drawing/2014/main" id="{4FDC8813-1325-E3F5-C3A2-30DACEA028D3}"/>
              </a:ext>
            </a:extLst>
          </p:cNvPr>
          <p:cNvPicPr>
            <a:picLocks noGrp="1" noChangeAspect="1"/>
          </p:cNvPicPr>
          <p:nvPr>
            <p:ph idx="1"/>
          </p:nvPr>
        </p:nvPicPr>
        <p:blipFill>
          <a:blip r:embed="rId2"/>
          <a:stretch>
            <a:fillRect/>
          </a:stretch>
        </p:blipFill>
        <p:spPr>
          <a:xfrm>
            <a:off x="1285442" y="2251075"/>
            <a:ext cx="3299026" cy="4606925"/>
          </a:xfrm>
          <a:prstGeom prst="rect">
            <a:avLst/>
          </a:prstGeom>
        </p:spPr>
      </p:pic>
      <p:pic>
        <p:nvPicPr>
          <p:cNvPr id="7" name="Picture 6" descr="A screenshot of a computer code&#10;&#10;AI-generated content may be incorrect.">
            <a:extLst>
              <a:ext uri="{FF2B5EF4-FFF2-40B4-BE49-F238E27FC236}">
                <a16:creationId xmlns:a16="http://schemas.microsoft.com/office/drawing/2014/main" id="{567DC032-5052-DC49-FDD1-B7E49D0076AD}"/>
              </a:ext>
            </a:extLst>
          </p:cNvPr>
          <p:cNvPicPr>
            <a:picLocks noChangeAspect="1"/>
          </p:cNvPicPr>
          <p:nvPr/>
        </p:nvPicPr>
        <p:blipFill>
          <a:blip r:embed="rId3"/>
          <a:stretch>
            <a:fillRect/>
          </a:stretch>
        </p:blipFill>
        <p:spPr>
          <a:xfrm>
            <a:off x="6282297" y="2251075"/>
            <a:ext cx="3634070" cy="4530520"/>
          </a:xfrm>
          <a:prstGeom prst="rect">
            <a:avLst/>
          </a:prstGeom>
        </p:spPr>
      </p:pic>
    </p:spTree>
    <p:extLst>
      <p:ext uri="{BB962C8B-B14F-4D97-AF65-F5344CB8AC3E}">
        <p14:creationId xmlns:p14="http://schemas.microsoft.com/office/powerpoint/2010/main" val="8183762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0C26F-B3DA-1130-0FFE-FE0B423B4DD8}"/>
              </a:ext>
            </a:extLst>
          </p:cNvPr>
          <p:cNvSpPr>
            <a:spLocks noGrp="1"/>
          </p:cNvSpPr>
          <p:nvPr>
            <p:ph type="title"/>
          </p:nvPr>
        </p:nvSpPr>
        <p:spPr/>
        <p:txBody>
          <a:bodyPr/>
          <a:lstStyle/>
          <a:p>
            <a:r>
              <a:rPr lang="en-US" dirty="0"/>
              <a:t>Problem with sleep and wakeup</a:t>
            </a:r>
          </a:p>
        </p:txBody>
      </p:sp>
      <p:sp>
        <p:nvSpPr>
          <p:cNvPr id="3" name="Content Placeholder 2">
            <a:extLst>
              <a:ext uri="{FF2B5EF4-FFF2-40B4-BE49-F238E27FC236}">
                <a16:creationId xmlns:a16="http://schemas.microsoft.com/office/drawing/2014/main" id="{EA81E6A0-F7AB-3EDA-8719-66BD677CC373}"/>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The sleep and wakeup problem occurs when a </a:t>
            </a:r>
            <a:r>
              <a:rPr lang="en-US" b="1" dirty="0">
                <a:latin typeface="Times New Roman" panose="02020603050405020304" pitchFamily="18" charset="0"/>
                <a:cs typeface="Times New Roman" panose="02020603050405020304" pitchFamily="18" charset="0"/>
              </a:rPr>
              <a:t>wakeup signal is sent before the receiving process goes to sleep</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Since the signal is </a:t>
            </a:r>
            <a:r>
              <a:rPr lang="en-US" b="1" dirty="0">
                <a:latin typeface="Times New Roman" panose="02020603050405020304" pitchFamily="18" charset="0"/>
                <a:cs typeface="Times New Roman" panose="02020603050405020304" pitchFamily="18" charset="0"/>
              </a:rPr>
              <a:t>not stored</a:t>
            </a:r>
            <a:r>
              <a:rPr lang="en-US" dirty="0">
                <a:latin typeface="Times New Roman" panose="02020603050405020304" pitchFamily="18" charset="0"/>
                <a:cs typeface="Times New Roman" panose="02020603050405020304" pitchFamily="18" charset="0"/>
              </a:rPr>
              <a:t>, it gets </a:t>
            </a:r>
            <a:r>
              <a:rPr lang="en-US" b="1" dirty="0">
                <a:latin typeface="Times New Roman" panose="02020603050405020304" pitchFamily="18" charset="0"/>
                <a:cs typeface="Times New Roman" panose="02020603050405020304" pitchFamily="18" charset="0"/>
              </a:rPr>
              <a:t>lost</a:t>
            </a:r>
            <a:r>
              <a:rPr lang="en-US" dirty="0">
                <a:latin typeface="Times New Roman" panose="02020603050405020304" pitchFamily="18" charset="0"/>
                <a:cs typeface="Times New Roman" panose="02020603050405020304" pitchFamily="18" charset="0"/>
              </a:rPr>
              <a:t>, and the process sleeps forever.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leads to a </a:t>
            </a:r>
            <a:r>
              <a:rPr lang="en-US" b="1" dirty="0">
                <a:latin typeface="Times New Roman" panose="02020603050405020304" pitchFamily="18" charset="0"/>
                <a:cs typeface="Times New Roman" panose="02020603050405020304" pitchFamily="18" charset="0"/>
              </a:rPr>
              <a:t>deadlock</a:t>
            </a:r>
            <a:r>
              <a:rPr lang="en-US" dirty="0">
                <a:latin typeface="Times New Roman" panose="02020603050405020304" pitchFamily="18" charset="0"/>
                <a:cs typeface="Times New Roman" panose="02020603050405020304" pitchFamily="18" charset="0"/>
              </a:rPr>
              <a:t>, because no other process can wake it up again.</a:t>
            </a:r>
          </a:p>
          <a:p>
            <a:r>
              <a:rPr lang="en-US" dirty="0">
                <a:latin typeface="Times New Roman" panose="02020603050405020304" pitchFamily="18" charset="0"/>
                <a:cs typeface="Times New Roman" panose="02020603050405020304" pitchFamily="18" charset="0"/>
              </a:rPr>
              <a:t>Consumer: checks empty → about to sleep</a:t>
            </a:r>
          </a:p>
          <a:p>
            <a:r>
              <a:rPr lang="en-US" dirty="0">
                <a:latin typeface="Times New Roman" panose="02020603050405020304" pitchFamily="18" charset="0"/>
                <a:cs typeface="Times New Roman" panose="02020603050405020304" pitchFamily="18" charset="0"/>
              </a:rPr>
              <a:t>Producer: produces → wakeup sent (lost)</a:t>
            </a:r>
          </a:p>
          <a:p>
            <a:r>
              <a:rPr lang="en-US" dirty="0">
                <a:latin typeface="Times New Roman" panose="02020603050405020304" pitchFamily="18" charset="0"/>
                <a:cs typeface="Times New Roman" panose="02020603050405020304" pitchFamily="18" charset="0"/>
              </a:rPr>
              <a:t>Consumer: sleeps</a:t>
            </a:r>
          </a:p>
          <a:p>
            <a:r>
              <a:rPr lang="en-US" dirty="0">
                <a:latin typeface="Times New Roman" panose="02020603050405020304" pitchFamily="18" charset="0"/>
                <a:cs typeface="Times New Roman" panose="02020603050405020304" pitchFamily="18" charset="0"/>
              </a:rPr>
              <a:t>Producer: waits</a:t>
            </a:r>
          </a:p>
          <a:p>
            <a:r>
              <a:rPr lang="en-US" dirty="0">
                <a:latin typeface="Times New Roman" panose="02020603050405020304" pitchFamily="18" charset="0"/>
                <a:cs typeface="Times New Roman" panose="02020603050405020304" pitchFamily="18" charset="0"/>
              </a:rPr>
              <a:t>System stuck forever</a:t>
            </a:r>
          </a:p>
          <a:p>
            <a:endParaRPr lang="en-US" dirty="0"/>
          </a:p>
        </p:txBody>
      </p:sp>
    </p:spTree>
    <p:extLst>
      <p:ext uri="{BB962C8B-B14F-4D97-AF65-F5344CB8AC3E}">
        <p14:creationId xmlns:p14="http://schemas.microsoft.com/office/powerpoint/2010/main" val="24125281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9E7E3-0455-E6FC-2B23-86FB4E9B96E0}"/>
              </a:ext>
            </a:extLst>
          </p:cNvPr>
          <p:cNvSpPr>
            <a:spLocks noGrp="1"/>
          </p:cNvSpPr>
          <p:nvPr>
            <p:ph type="title"/>
          </p:nvPr>
        </p:nvSpPr>
        <p:spPr>
          <a:xfrm>
            <a:off x="1154954" y="973668"/>
            <a:ext cx="8761413" cy="706964"/>
          </a:xfrm>
        </p:spPr>
        <p:txBody>
          <a:bodyPr>
            <a:normAutofit/>
          </a:bodyPr>
          <a:lstStyle/>
          <a:p>
            <a:pPr>
              <a:lnSpc>
                <a:spcPct val="90000"/>
              </a:lnSpc>
            </a:pPr>
            <a:r>
              <a:rPr lang="en-US" sz="2000" b="1" dirty="0">
                <a:solidFill>
                  <a:srgbClr val="EBEBEB"/>
                </a:solidFill>
              </a:rPr>
              <a:t>Classical IPC problems(</a:t>
            </a:r>
            <a:r>
              <a:rPr lang="en-US" sz="2000" dirty="0">
                <a:solidFill>
                  <a:srgbClr val="EBEBEB"/>
                </a:solidFill>
              </a:rPr>
              <a:t>The Dining Philosophers Problem)</a:t>
            </a:r>
            <a:br>
              <a:rPr lang="en-US" sz="2000" b="1" dirty="0">
                <a:solidFill>
                  <a:srgbClr val="EBEBEB"/>
                </a:solidFill>
              </a:rPr>
            </a:br>
            <a:endParaRPr lang="en-US" sz="2000" dirty="0">
              <a:solidFill>
                <a:srgbClr val="EBEBEB"/>
              </a:solidFill>
            </a:endParaRPr>
          </a:p>
        </p:txBody>
      </p:sp>
      <p:sp>
        <p:nvSpPr>
          <p:cNvPr id="3" name="Content Placeholder 2">
            <a:extLst>
              <a:ext uri="{FF2B5EF4-FFF2-40B4-BE49-F238E27FC236}">
                <a16:creationId xmlns:a16="http://schemas.microsoft.com/office/drawing/2014/main" id="{F75154E4-AE39-38D3-7AD1-21C9CA8C5B66}"/>
              </a:ext>
            </a:extLst>
          </p:cNvPr>
          <p:cNvSpPr>
            <a:spLocks noGrp="1"/>
          </p:cNvSpPr>
          <p:nvPr>
            <p:ph idx="1"/>
          </p:nvPr>
        </p:nvSpPr>
        <p:spPr>
          <a:xfrm>
            <a:off x="1154954" y="2280976"/>
            <a:ext cx="6397313" cy="3738824"/>
          </a:xfrm>
        </p:spPr>
        <p:txBody>
          <a:bodyPr anchor="ctr">
            <a:normAutofit lnSpcReduction="10000"/>
          </a:bodyPr>
          <a:lstStyle/>
          <a:p>
            <a:r>
              <a:rPr lang="en-US" sz="2000" dirty="0">
                <a:latin typeface="Times New Roman" panose="02020603050405020304" pitchFamily="18" charset="0"/>
                <a:cs typeface="Times New Roman" panose="02020603050405020304" pitchFamily="18" charset="0"/>
              </a:rPr>
              <a:t>The dining philosophers’ problem is a classic synchronization problem which is used to evaluate situations where there is a need of allocating multiple resources to multiple processes</a:t>
            </a:r>
            <a:r>
              <a:rPr lang="en-US" sz="2000" b="1"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Consider there are five philosophers sitting around a circular dining table. The dining table has five chopsticks and a bowl of noodles in the middle as shown in the below figure. At any instant, a philosopher is either eating or thinking. When a philosopher wants to eat, he uses two chopsticks - one from their left and one from their right. When a philosopher wants to think, he keeps down both chopsticks at their original place</a:t>
            </a:r>
            <a:r>
              <a:rPr lang="en-US" sz="1700" dirty="0"/>
              <a:t>.</a:t>
            </a:r>
          </a:p>
          <a:p>
            <a:endParaRPr lang="en-US" sz="1700" dirty="0"/>
          </a:p>
        </p:txBody>
      </p:sp>
      <p:pic>
        <p:nvPicPr>
          <p:cNvPr id="4" name="Image 24">
            <a:extLst>
              <a:ext uri="{FF2B5EF4-FFF2-40B4-BE49-F238E27FC236}">
                <a16:creationId xmlns:a16="http://schemas.microsoft.com/office/drawing/2014/main" id="{398E7D16-7294-C2CB-DA08-9D9BA63C9308}"/>
              </a:ext>
            </a:extLst>
          </p:cNvPr>
          <p:cNvPicPr>
            <a:picLocks/>
          </p:cNvPicPr>
          <p:nvPr/>
        </p:nvPicPr>
        <p:blipFill>
          <a:blip r:embed="rId2" cstate="print"/>
          <a:stretch>
            <a:fillRect/>
          </a:stretch>
        </p:blipFill>
        <p:spPr>
          <a:xfrm>
            <a:off x="8020571" y="3011512"/>
            <a:ext cx="3080048" cy="2596040"/>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2068584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B628-FDE2-B814-C6F8-E0AD7E7FF63B}"/>
              </a:ext>
            </a:extLst>
          </p:cNvPr>
          <p:cNvSpPr>
            <a:spLocks noGrp="1"/>
          </p:cNvSpPr>
          <p:nvPr>
            <p:ph type="title"/>
          </p:nvPr>
        </p:nvSpPr>
        <p:spPr/>
        <p:txBody>
          <a:bodyPr/>
          <a:lstStyle/>
          <a:p>
            <a:r>
              <a:rPr lang="en-US" dirty="0">
                <a:solidFill>
                  <a:srgbClr val="EBEBEB"/>
                </a:solidFill>
              </a:rPr>
              <a:t>The Dining Philosophers Problem</a:t>
            </a:r>
            <a:endParaRPr lang="en-US" dirty="0"/>
          </a:p>
        </p:txBody>
      </p:sp>
      <p:sp>
        <p:nvSpPr>
          <p:cNvPr id="3" name="Content Placeholder 2">
            <a:extLst>
              <a:ext uri="{FF2B5EF4-FFF2-40B4-BE49-F238E27FC236}">
                <a16:creationId xmlns:a16="http://schemas.microsoft.com/office/drawing/2014/main" id="{81403825-A269-E047-0A43-DC2BEF69DA3F}"/>
              </a:ext>
            </a:extLst>
          </p:cNvPr>
          <p:cNvSpPr>
            <a:spLocks noGrp="1"/>
          </p:cNvSpPr>
          <p:nvPr>
            <p:ph idx="1"/>
          </p:nvPr>
        </p:nvSpPr>
        <p:spPr>
          <a:xfrm>
            <a:off x="1154954" y="2603500"/>
            <a:ext cx="4410104" cy="3416300"/>
          </a:xfrm>
        </p:spPr>
        <p:txBody>
          <a:bodyPr>
            <a:normAutofit lnSpcReduction="10000"/>
          </a:bodyPr>
          <a:lstStyle/>
          <a:p>
            <a:r>
              <a:rPr lang="en-US" dirty="0"/>
              <a:t>From the problem statement, it is clear that a philosopher can think for an indefinite amount of time. But when a philosopher starts eating, he has to stop at some point of time. The philosopher is in an endless cycle of thinking and eating.</a:t>
            </a:r>
          </a:p>
          <a:p>
            <a:r>
              <a:rPr lang="en-US" dirty="0"/>
              <a:t>An array of five semaphores, stick[5], for each of the five chopsticks.The code for each philosopher looks like:</a:t>
            </a:r>
          </a:p>
          <a:p>
            <a:endParaRPr lang="en-US" dirty="0"/>
          </a:p>
        </p:txBody>
      </p:sp>
      <p:pic>
        <p:nvPicPr>
          <p:cNvPr id="5" name="Picture 4" descr="A screenshot of a computer program&#10;&#10;AI-generated content may be incorrect.">
            <a:extLst>
              <a:ext uri="{FF2B5EF4-FFF2-40B4-BE49-F238E27FC236}">
                <a16:creationId xmlns:a16="http://schemas.microsoft.com/office/drawing/2014/main" id="{8F55770C-F356-C31A-C36B-B1D1B6DB0F38}"/>
              </a:ext>
            </a:extLst>
          </p:cNvPr>
          <p:cNvPicPr>
            <a:picLocks noChangeAspect="1"/>
          </p:cNvPicPr>
          <p:nvPr/>
        </p:nvPicPr>
        <p:blipFill>
          <a:blip r:embed="rId2"/>
          <a:stretch>
            <a:fillRect/>
          </a:stretch>
        </p:blipFill>
        <p:spPr>
          <a:xfrm>
            <a:off x="6182688" y="2502963"/>
            <a:ext cx="4496190" cy="3848433"/>
          </a:xfrm>
          <a:prstGeom prst="rect">
            <a:avLst/>
          </a:prstGeom>
        </p:spPr>
      </p:pic>
    </p:spTree>
    <p:extLst>
      <p:ext uri="{BB962C8B-B14F-4D97-AF65-F5344CB8AC3E}">
        <p14:creationId xmlns:p14="http://schemas.microsoft.com/office/powerpoint/2010/main" val="28000253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ED21D-AAC4-B7F0-26DB-679F450594A4}"/>
              </a:ext>
            </a:extLst>
          </p:cNvPr>
          <p:cNvSpPr>
            <a:spLocks noGrp="1"/>
          </p:cNvSpPr>
          <p:nvPr>
            <p:ph type="title"/>
          </p:nvPr>
        </p:nvSpPr>
        <p:spPr/>
        <p:txBody>
          <a:bodyPr/>
          <a:lstStyle/>
          <a:p>
            <a:r>
              <a:rPr lang="en-US" dirty="0">
                <a:solidFill>
                  <a:srgbClr val="EBEBEB"/>
                </a:solidFill>
              </a:rPr>
              <a:t>The Dining Philosophers Problem</a:t>
            </a:r>
            <a:endParaRPr lang="en-US" dirty="0"/>
          </a:p>
        </p:txBody>
      </p:sp>
      <p:sp>
        <p:nvSpPr>
          <p:cNvPr id="3" name="Content Placeholder 2">
            <a:extLst>
              <a:ext uri="{FF2B5EF4-FFF2-40B4-BE49-F238E27FC236}">
                <a16:creationId xmlns:a16="http://schemas.microsoft.com/office/drawing/2014/main" id="{8711A04D-6617-FBEE-8663-E2636A77940F}"/>
              </a:ext>
            </a:extLst>
          </p:cNvPr>
          <p:cNvSpPr>
            <a:spLocks noGrp="1"/>
          </p:cNvSpPr>
          <p:nvPr>
            <p:ph idx="1"/>
          </p:nvPr>
        </p:nvSpPr>
        <p:spPr>
          <a:xfrm>
            <a:off x="120580" y="2280976"/>
            <a:ext cx="11967587" cy="4340888"/>
          </a:xfrm>
        </p:spPr>
        <p:txBody>
          <a:bodyPr/>
          <a:lstStyle/>
          <a:p>
            <a:r>
              <a:rPr lang="en-US" sz="2000" dirty="0">
                <a:latin typeface="Times New Roman" panose="02020603050405020304" pitchFamily="18" charset="0"/>
                <a:cs typeface="Times New Roman" panose="02020603050405020304" pitchFamily="18" charset="0"/>
              </a:rPr>
              <a:t>When a philosopher wants to eat the rice, he will wait for the chopstick at his left and picks up that chopstick. Then he waits for the right chopstick to be available, and then picks it too. After </a:t>
            </a:r>
            <a:r>
              <a:rPr lang="en-US" sz="2000" dirty="0" err="1">
                <a:latin typeface="Times New Roman" panose="02020603050405020304" pitchFamily="18" charset="0"/>
                <a:cs typeface="Times New Roman" panose="02020603050405020304" pitchFamily="18" charset="0"/>
              </a:rPr>
              <a:t>eating,he</a:t>
            </a:r>
            <a:r>
              <a:rPr lang="en-US" sz="2000" dirty="0">
                <a:latin typeface="Times New Roman" panose="02020603050405020304" pitchFamily="18" charset="0"/>
                <a:cs typeface="Times New Roman" panose="02020603050405020304" pitchFamily="18" charset="0"/>
              </a:rPr>
              <a:t> puts both the chopsticks down.</a:t>
            </a:r>
          </a:p>
          <a:p>
            <a:r>
              <a:rPr lang="en-US" sz="2000" dirty="0">
                <a:latin typeface="Times New Roman" panose="02020603050405020304" pitchFamily="18" charset="0"/>
                <a:cs typeface="Times New Roman" panose="02020603050405020304" pitchFamily="18" charset="0"/>
              </a:rPr>
              <a:t>But if all five philosophers are hungry simultaneously, and each of them pickup one chopstick, then a deadlock situation occurs because they will be waiting for another chopstick forever. The possible solutions for this are:</a:t>
            </a:r>
          </a:p>
          <a:p>
            <a:pPr lvl="0"/>
            <a:r>
              <a:rPr lang="en-US" sz="2000" dirty="0">
                <a:latin typeface="Times New Roman" panose="02020603050405020304" pitchFamily="18" charset="0"/>
                <a:cs typeface="Times New Roman" panose="02020603050405020304" pitchFamily="18" charset="0"/>
              </a:rPr>
              <a:t>A philosopher must be allowed to pick up the chopsticks only if both the left and right chopsticks are available.</a:t>
            </a:r>
          </a:p>
          <a:p>
            <a:pPr lvl="0"/>
            <a:r>
              <a:rPr lang="en-US" sz="2000" dirty="0">
                <a:latin typeface="Times New Roman" panose="02020603050405020304" pitchFamily="18" charset="0"/>
                <a:cs typeface="Times New Roman" panose="02020603050405020304" pitchFamily="18" charset="0"/>
              </a:rPr>
              <a:t>Allow only four philosophers to sit at the table. That way, if all the four philosophers pick up four chopsticks, there will be one chopstick left on the table. So, one philosopher can start eating and eventually, two chopsticks will be available. In this way, deadlocks can </a:t>
            </a:r>
            <a:r>
              <a:rPr lang="en-US" sz="2000" dirty="0" err="1">
                <a:latin typeface="Times New Roman" panose="02020603050405020304" pitchFamily="18" charset="0"/>
                <a:cs typeface="Times New Roman" panose="02020603050405020304" pitchFamily="18" charset="0"/>
              </a:rPr>
              <a:t>beavoided</a:t>
            </a:r>
            <a:r>
              <a:rPr lang="en-US" sz="2000" dirty="0">
                <a:latin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9381580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8695B-93E9-385D-5ED3-AD39C3CCEA8A}"/>
              </a:ext>
            </a:extLst>
          </p:cNvPr>
          <p:cNvSpPr>
            <a:spLocks noGrp="1"/>
          </p:cNvSpPr>
          <p:nvPr>
            <p:ph type="title"/>
          </p:nvPr>
        </p:nvSpPr>
        <p:spPr>
          <a:xfrm>
            <a:off x="1154954" y="973668"/>
            <a:ext cx="8761413" cy="706964"/>
          </a:xfrm>
        </p:spPr>
        <p:txBody>
          <a:bodyPr>
            <a:normAutofit fontScale="90000"/>
          </a:bodyPr>
          <a:lstStyle/>
          <a:p>
            <a:pPr>
              <a:lnSpc>
                <a:spcPct val="90000"/>
              </a:lnSpc>
            </a:pPr>
            <a:r>
              <a:rPr lang="en-US" sz="2400" dirty="0">
                <a:solidFill>
                  <a:srgbClr val="EBEBEB"/>
                </a:solidFill>
              </a:rPr>
              <a:t> </a:t>
            </a:r>
            <a:br>
              <a:rPr lang="en-US" sz="2400" dirty="0">
                <a:solidFill>
                  <a:srgbClr val="EBEBEB"/>
                </a:solidFill>
              </a:rPr>
            </a:br>
            <a:r>
              <a:rPr lang="en-US" sz="2400" b="1" dirty="0">
                <a:solidFill>
                  <a:srgbClr val="EBEBEB"/>
                </a:solidFill>
              </a:rPr>
              <a:t>Sleeping Barber problem</a:t>
            </a:r>
            <a:br>
              <a:rPr lang="en-US" sz="1400" b="1" dirty="0">
                <a:solidFill>
                  <a:srgbClr val="EBEBEB"/>
                </a:solidFill>
              </a:rPr>
            </a:br>
            <a:endParaRPr lang="en-US" sz="1400" dirty="0">
              <a:solidFill>
                <a:srgbClr val="EBEBEB"/>
              </a:solidFill>
            </a:endParaRPr>
          </a:p>
        </p:txBody>
      </p:sp>
      <p:sp>
        <p:nvSpPr>
          <p:cNvPr id="3" name="Content Placeholder 2">
            <a:extLst>
              <a:ext uri="{FF2B5EF4-FFF2-40B4-BE49-F238E27FC236}">
                <a16:creationId xmlns:a16="http://schemas.microsoft.com/office/drawing/2014/main" id="{90DF3373-2966-9E3E-2F11-8B1BE91CBEEC}"/>
              </a:ext>
            </a:extLst>
          </p:cNvPr>
          <p:cNvSpPr>
            <a:spLocks noGrp="1"/>
          </p:cNvSpPr>
          <p:nvPr>
            <p:ph idx="1"/>
          </p:nvPr>
        </p:nvSpPr>
        <p:spPr>
          <a:xfrm>
            <a:off x="130628" y="2603500"/>
            <a:ext cx="6792685" cy="3416300"/>
          </a:xfrm>
        </p:spPr>
        <p:txBody>
          <a:bodyPr anchor="ctr">
            <a:normAutofit/>
          </a:bodyPr>
          <a:lstStyle/>
          <a:p>
            <a:pPr>
              <a:lnSpc>
                <a:spcPct val="90000"/>
              </a:lnSpc>
            </a:pPr>
            <a:r>
              <a:rPr lang="en-US" sz="2000" dirty="0">
                <a:latin typeface="Times New Roman" panose="02020603050405020304" pitchFamily="18" charset="0"/>
                <a:cs typeface="Times New Roman" panose="02020603050405020304" pitchFamily="18" charset="0"/>
              </a:rPr>
              <a:t>The analogy is based upon a hypothetical barber shop with one barber. There is a barbershop which has one barber, one barber chair, and n chairs for waiting for customers if there are any to sit on the chair.</a:t>
            </a:r>
          </a:p>
          <a:p>
            <a:pPr>
              <a:lnSpc>
                <a:spcPct val="90000"/>
              </a:lnSpc>
            </a:pPr>
            <a:r>
              <a:rPr lang="en-US" sz="2000" dirty="0">
                <a:latin typeface="Times New Roman" panose="02020603050405020304" pitchFamily="18" charset="0"/>
                <a:cs typeface="Times New Roman" panose="02020603050405020304" pitchFamily="18" charset="0"/>
              </a:rPr>
              <a:t>If there is no customer, then the barber sleeps in his own chair. When a customer arrives, he has to wake up the barber</a:t>
            </a:r>
          </a:p>
          <a:p>
            <a:pPr>
              <a:lnSpc>
                <a:spcPct val="90000"/>
              </a:lnSpc>
            </a:pPr>
            <a:r>
              <a:rPr lang="en-US" sz="2000" dirty="0">
                <a:latin typeface="Times New Roman" panose="02020603050405020304" pitchFamily="18" charset="0"/>
                <a:cs typeface="Times New Roman" panose="02020603050405020304" pitchFamily="18" charset="0"/>
              </a:rPr>
              <a:t>If there are many customers and the barber is cutting a customer’s hair, then the remaining customers either wait if there are empty chairs in the waiting room or they leave if no chairs are empty</a:t>
            </a:r>
          </a:p>
        </p:txBody>
      </p:sp>
      <p:pic>
        <p:nvPicPr>
          <p:cNvPr id="9" name="Image 28">
            <a:extLst>
              <a:ext uri="{FF2B5EF4-FFF2-40B4-BE49-F238E27FC236}">
                <a16:creationId xmlns:a16="http://schemas.microsoft.com/office/drawing/2014/main" id="{C09040E7-EE8E-713E-E645-0FBDCD9A4093}"/>
              </a:ext>
            </a:extLst>
          </p:cNvPr>
          <p:cNvPicPr>
            <a:picLocks/>
          </p:cNvPicPr>
          <p:nvPr/>
        </p:nvPicPr>
        <p:blipFill>
          <a:blip r:embed="rId2" cstate="print"/>
          <a:stretch>
            <a:fillRect/>
          </a:stretch>
        </p:blipFill>
        <p:spPr>
          <a:xfrm>
            <a:off x="7244862" y="3116110"/>
            <a:ext cx="3898896" cy="2386844"/>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32903637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CEDD6-CF66-C629-A869-8021DC659E07}"/>
              </a:ext>
            </a:extLst>
          </p:cNvPr>
          <p:cNvSpPr>
            <a:spLocks noGrp="1"/>
          </p:cNvSpPr>
          <p:nvPr>
            <p:ph type="title"/>
          </p:nvPr>
        </p:nvSpPr>
        <p:spPr/>
        <p:txBody>
          <a:bodyPr/>
          <a:lstStyle/>
          <a:p>
            <a:r>
              <a:rPr lang="en-US" dirty="0">
                <a:solidFill>
                  <a:srgbClr val="EBEBEB"/>
                </a:solidFill>
              </a:rPr>
              <a:t> </a:t>
            </a:r>
            <a:br>
              <a:rPr lang="en-US" dirty="0">
                <a:solidFill>
                  <a:srgbClr val="EBEBEB"/>
                </a:solidFill>
              </a:rPr>
            </a:br>
            <a:r>
              <a:rPr lang="en-US" b="1" dirty="0">
                <a:solidFill>
                  <a:srgbClr val="EBEBEB"/>
                </a:solidFill>
              </a:rPr>
              <a:t>Sleeping Barber problem</a:t>
            </a:r>
            <a:br>
              <a:rPr lang="en-US" sz="2000" b="1" dirty="0">
                <a:solidFill>
                  <a:srgbClr val="EBEBEB"/>
                </a:solidFill>
              </a:rPr>
            </a:br>
            <a:endParaRPr lang="en-US" dirty="0"/>
          </a:p>
        </p:txBody>
      </p:sp>
      <p:pic>
        <p:nvPicPr>
          <p:cNvPr id="5" name="Content Placeholder 4" descr="A diagram of a diagram&#10;&#10;AI-generated content may be incorrect.">
            <a:extLst>
              <a:ext uri="{FF2B5EF4-FFF2-40B4-BE49-F238E27FC236}">
                <a16:creationId xmlns:a16="http://schemas.microsoft.com/office/drawing/2014/main" id="{35C72559-8312-09C9-490F-8EC106E3595C}"/>
              </a:ext>
            </a:extLst>
          </p:cNvPr>
          <p:cNvPicPr>
            <a:picLocks noGrp="1" noChangeAspect="1"/>
          </p:cNvPicPr>
          <p:nvPr>
            <p:ph idx="1"/>
          </p:nvPr>
        </p:nvPicPr>
        <p:blipFill>
          <a:blip r:embed="rId2"/>
          <a:stretch>
            <a:fillRect/>
          </a:stretch>
        </p:blipFill>
        <p:spPr>
          <a:xfrm>
            <a:off x="2105303" y="2603500"/>
            <a:ext cx="6925707" cy="3416300"/>
          </a:xfrm>
          <a:prstGeom prst="rect">
            <a:avLst/>
          </a:prstGeom>
        </p:spPr>
      </p:pic>
    </p:spTree>
    <p:extLst>
      <p:ext uri="{BB962C8B-B14F-4D97-AF65-F5344CB8AC3E}">
        <p14:creationId xmlns:p14="http://schemas.microsoft.com/office/powerpoint/2010/main" val="23854580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67A5D-B9E4-9408-9C25-ABE09A8DF454}"/>
              </a:ext>
            </a:extLst>
          </p:cNvPr>
          <p:cNvSpPr>
            <a:spLocks noGrp="1"/>
          </p:cNvSpPr>
          <p:nvPr>
            <p:ph type="title"/>
          </p:nvPr>
        </p:nvSpPr>
        <p:spPr/>
        <p:txBody>
          <a:bodyPr/>
          <a:lstStyle/>
          <a:p>
            <a:r>
              <a:rPr lang="en-US" dirty="0">
                <a:solidFill>
                  <a:srgbClr val="EBEBEB"/>
                </a:solidFill>
              </a:rPr>
              <a:t> </a:t>
            </a:r>
            <a:br>
              <a:rPr lang="en-US" dirty="0">
                <a:solidFill>
                  <a:srgbClr val="EBEBEB"/>
                </a:solidFill>
              </a:rPr>
            </a:br>
            <a:r>
              <a:rPr lang="en-US" b="1" dirty="0">
                <a:solidFill>
                  <a:srgbClr val="EBEBEB"/>
                </a:solidFill>
              </a:rPr>
              <a:t>Sleeping Barber</a:t>
            </a:r>
            <a:br>
              <a:rPr lang="en-US" b="1" dirty="0">
                <a:solidFill>
                  <a:srgbClr val="EBEBEB"/>
                </a:solidFill>
              </a:rPr>
            </a:br>
            <a:r>
              <a:rPr lang="en-US" b="1" dirty="0">
                <a:solidFill>
                  <a:srgbClr val="EBEBEB"/>
                </a:solidFill>
              </a:rPr>
              <a:t> problem</a:t>
            </a:r>
            <a:br>
              <a:rPr lang="en-US" sz="2000" b="1" dirty="0">
                <a:solidFill>
                  <a:srgbClr val="EBEBEB"/>
                </a:solidFill>
              </a:rPr>
            </a:br>
            <a:endParaRPr lang="en-US" dirty="0"/>
          </a:p>
        </p:txBody>
      </p:sp>
      <p:sp>
        <p:nvSpPr>
          <p:cNvPr id="7" name="Content Placeholder 6">
            <a:extLst>
              <a:ext uri="{FF2B5EF4-FFF2-40B4-BE49-F238E27FC236}">
                <a16:creationId xmlns:a16="http://schemas.microsoft.com/office/drawing/2014/main" id="{FEC705AF-0792-B270-21CF-287E2F59964C}"/>
              </a:ext>
            </a:extLst>
          </p:cNvPr>
          <p:cNvSpPr>
            <a:spLocks noGrp="1"/>
          </p:cNvSpPr>
          <p:nvPr>
            <p:ph idx="1"/>
          </p:nvPr>
        </p:nvSpPr>
        <p:spPr>
          <a:xfrm>
            <a:off x="447031" y="2153264"/>
            <a:ext cx="5049201" cy="4630993"/>
          </a:xfrm>
        </p:spPr>
        <p:txBody>
          <a:bodyPr>
            <a:noAutofit/>
          </a:bodyPr>
          <a:lstStyle/>
          <a:p>
            <a:pPr fontAlgn="base"/>
            <a:r>
              <a:rPr lang="en-US" sz="1600" dirty="0">
                <a:latin typeface="Times New Roman" panose="02020603050405020304" pitchFamily="18" charset="0"/>
                <a:cs typeface="Times New Roman" panose="02020603050405020304" pitchFamily="18" charset="0"/>
              </a:rPr>
              <a:t>The challenge is to safely synchronize customers and the barber so that:</a:t>
            </a:r>
          </a:p>
          <a:p>
            <a:pPr fontAlgn="base"/>
            <a:r>
              <a:rPr lang="en-US" sz="1600" dirty="0">
                <a:latin typeface="Times New Roman" panose="02020603050405020304" pitchFamily="18" charset="0"/>
                <a:cs typeface="Times New Roman" panose="02020603050405020304" pitchFamily="18" charset="0"/>
              </a:rPr>
              <a:t>Only one customer is in the barber’s chair at a time.</a:t>
            </a:r>
          </a:p>
          <a:p>
            <a:pPr fontAlgn="base"/>
            <a:r>
              <a:rPr lang="en-US" sz="1600" dirty="0">
                <a:latin typeface="Times New Roman" panose="02020603050405020304" pitchFamily="18" charset="0"/>
                <a:cs typeface="Times New Roman" panose="02020603050405020304" pitchFamily="18" charset="0"/>
              </a:rPr>
              <a:t>Customers either wait or leave when seats are full.</a:t>
            </a:r>
          </a:p>
          <a:p>
            <a:pPr fontAlgn="base"/>
            <a:r>
              <a:rPr lang="en-US" sz="1600" dirty="0">
                <a:latin typeface="Times New Roman" panose="02020603050405020304" pitchFamily="18" charset="0"/>
                <a:cs typeface="Times New Roman" panose="02020603050405020304" pitchFamily="18" charset="0"/>
              </a:rPr>
              <a:t>The barber works when customers are available and sleeps otherwise.</a:t>
            </a:r>
          </a:p>
          <a:p>
            <a:pPr fontAlgn="base"/>
            <a:r>
              <a:rPr lang="en-US" sz="1600" b="1" dirty="0">
                <a:latin typeface="Times New Roman" panose="02020603050405020304" pitchFamily="18" charset="0"/>
                <a:cs typeface="Times New Roman" panose="02020603050405020304" pitchFamily="18" charset="0"/>
              </a:rPr>
              <a:t>Synchronization Solution</a:t>
            </a:r>
          </a:p>
          <a:p>
            <a:pPr fontAlgn="base"/>
            <a:r>
              <a:rPr lang="en-US" sz="1600" dirty="0">
                <a:latin typeface="Times New Roman" panose="02020603050405020304" pitchFamily="18" charset="0"/>
                <a:cs typeface="Times New Roman" panose="02020603050405020304" pitchFamily="18" charset="0"/>
              </a:rPr>
              <a:t>We use three semaphores:</a:t>
            </a:r>
          </a:p>
          <a:p>
            <a:pPr fontAlgn="base"/>
            <a:r>
              <a:rPr lang="en-US" sz="1600" dirty="0">
                <a:latin typeface="Times New Roman" panose="02020603050405020304" pitchFamily="18" charset="0"/>
                <a:cs typeface="Times New Roman" panose="02020603050405020304" pitchFamily="18" charset="0"/>
              </a:rPr>
              <a:t>Customers counts waiting customers.</a:t>
            </a:r>
          </a:p>
          <a:p>
            <a:pPr fontAlgn="base"/>
            <a:r>
              <a:rPr lang="en-US" sz="1600" dirty="0">
                <a:latin typeface="Times New Roman" panose="02020603050405020304" pitchFamily="18" charset="0"/>
                <a:cs typeface="Times New Roman" panose="02020603050405020304" pitchFamily="18" charset="0"/>
              </a:rPr>
              <a:t>Barber signals when the barber is ready.</a:t>
            </a:r>
          </a:p>
          <a:p>
            <a:pPr fontAlgn="base"/>
            <a:r>
              <a:rPr lang="en-US" sz="1600" dirty="0">
                <a:latin typeface="Times New Roman" panose="02020603050405020304" pitchFamily="18" charset="0"/>
                <a:cs typeface="Times New Roman" panose="02020603050405020304" pitchFamily="18" charset="0"/>
              </a:rPr>
              <a:t>Mutex ensures mutual exclusion when accessing chairs.</a:t>
            </a:r>
          </a:p>
          <a:p>
            <a:pPr fontAlgn="base"/>
            <a:endParaRPr lang="en-US" sz="1600" dirty="0">
              <a:latin typeface="Times New Roman" panose="02020603050405020304" pitchFamily="18" charset="0"/>
              <a:cs typeface="Times New Roman" panose="02020603050405020304" pitchFamily="18" charset="0"/>
            </a:endParaRPr>
          </a:p>
          <a:p>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p:txBody>
      </p:sp>
      <p:pic>
        <p:nvPicPr>
          <p:cNvPr id="11" name="Picture 10" descr="A computer program code on a white background&#10;&#10;AI-generated content may be incorrect.">
            <a:extLst>
              <a:ext uri="{FF2B5EF4-FFF2-40B4-BE49-F238E27FC236}">
                <a16:creationId xmlns:a16="http://schemas.microsoft.com/office/drawing/2014/main" id="{420BBD3D-8422-3E61-7D50-2F16A44F7722}"/>
              </a:ext>
            </a:extLst>
          </p:cNvPr>
          <p:cNvPicPr>
            <a:picLocks noChangeAspect="1"/>
          </p:cNvPicPr>
          <p:nvPr/>
        </p:nvPicPr>
        <p:blipFill>
          <a:blip r:embed="rId2"/>
          <a:stretch>
            <a:fillRect/>
          </a:stretch>
        </p:blipFill>
        <p:spPr>
          <a:xfrm>
            <a:off x="6300316" y="633046"/>
            <a:ext cx="5444653" cy="6131546"/>
          </a:xfrm>
          <a:prstGeom prst="rect">
            <a:avLst/>
          </a:prstGeom>
        </p:spPr>
      </p:pic>
    </p:spTree>
    <p:extLst>
      <p:ext uri="{BB962C8B-B14F-4D97-AF65-F5344CB8AC3E}">
        <p14:creationId xmlns:p14="http://schemas.microsoft.com/office/powerpoint/2010/main" val="9200582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B238F-B4C6-37B7-02E3-CF830E8B09FC}"/>
              </a:ext>
            </a:extLst>
          </p:cNvPr>
          <p:cNvSpPr>
            <a:spLocks noGrp="1"/>
          </p:cNvSpPr>
          <p:nvPr>
            <p:ph type="title"/>
          </p:nvPr>
        </p:nvSpPr>
        <p:spPr/>
        <p:txBody>
          <a:bodyPr/>
          <a:lstStyle/>
          <a:p>
            <a:r>
              <a:rPr lang="en-US" dirty="0">
                <a:solidFill>
                  <a:srgbClr val="EBEBEB"/>
                </a:solidFill>
              </a:rPr>
              <a:t> </a:t>
            </a:r>
            <a:br>
              <a:rPr lang="en-US" dirty="0">
                <a:solidFill>
                  <a:srgbClr val="EBEBEB"/>
                </a:solidFill>
              </a:rPr>
            </a:br>
            <a:r>
              <a:rPr lang="en-US" b="1" dirty="0">
                <a:solidFill>
                  <a:srgbClr val="EBEBEB"/>
                </a:solidFill>
              </a:rPr>
              <a:t>Sleeping Barber</a:t>
            </a:r>
            <a:br>
              <a:rPr lang="en-US" b="1" dirty="0">
                <a:solidFill>
                  <a:srgbClr val="EBEBEB"/>
                </a:solidFill>
              </a:rPr>
            </a:br>
            <a:r>
              <a:rPr lang="en-US" b="1" dirty="0">
                <a:solidFill>
                  <a:srgbClr val="EBEBEB"/>
                </a:solidFill>
              </a:rPr>
              <a:t> problem</a:t>
            </a:r>
            <a:br>
              <a:rPr lang="en-US" sz="2000" b="1" dirty="0">
                <a:solidFill>
                  <a:srgbClr val="EBEBEB"/>
                </a:solidFill>
              </a:rPr>
            </a:br>
            <a:endParaRPr lang="en-US" dirty="0"/>
          </a:p>
        </p:txBody>
      </p:sp>
      <p:sp>
        <p:nvSpPr>
          <p:cNvPr id="3" name="Content Placeholder 2">
            <a:extLst>
              <a:ext uri="{FF2B5EF4-FFF2-40B4-BE49-F238E27FC236}">
                <a16:creationId xmlns:a16="http://schemas.microsoft.com/office/drawing/2014/main" id="{F06B19DF-DB15-7363-2DE9-9C86622ECED6}"/>
              </a:ext>
            </a:extLst>
          </p:cNvPr>
          <p:cNvSpPr>
            <a:spLocks noGrp="1"/>
          </p:cNvSpPr>
          <p:nvPr>
            <p:ph idx="1"/>
          </p:nvPr>
        </p:nvSpPr>
        <p:spPr/>
        <p:txBody>
          <a:bodyPr/>
          <a:lstStyle/>
          <a:p>
            <a:pPr fontAlgn="base"/>
            <a:r>
              <a:rPr lang="en-US" dirty="0"/>
              <a:t>Customers counts waiting customers, Barber signals barber availability, Seats (mutex) protects chair count, and </a:t>
            </a:r>
            <a:r>
              <a:rPr lang="en-US" dirty="0" err="1"/>
              <a:t>FreeSeats</a:t>
            </a:r>
            <a:r>
              <a:rPr lang="en-US" dirty="0"/>
              <a:t> = N tracks empty chairs.</a:t>
            </a:r>
          </a:p>
          <a:p>
            <a:pPr fontAlgn="base"/>
            <a:r>
              <a:rPr lang="en-US" b="1" dirty="0"/>
              <a:t>Barber loop</a:t>
            </a:r>
            <a:r>
              <a:rPr lang="en-US" dirty="0"/>
              <a:t>: Waits (down(Customers)) until a customer arrives. Locks seats, frees one chair (</a:t>
            </a:r>
            <a:r>
              <a:rPr lang="en-US" dirty="0" err="1"/>
              <a:t>FreeSeats</a:t>
            </a:r>
            <a:r>
              <a:rPr lang="en-US" dirty="0"/>
              <a:t>++), signals the barber is ready (up(Barber)), unlocks seats, and cuts hair.</a:t>
            </a:r>
          </a:p>
          <a:p>
            <a:pPr fontAlgn="base"/>
            <a:r>
              <a:rPr lang="en-US" b="1" dirty="0"/>
              <a:t>Customer loop</a:t>
            </a:r>
            <a:r>
              <a:rPr lang="en-US" dirty="0"/>
              <a:t>: Locks seats. If a chair is free (</a:t>
            </a:r>
            <a:r>
              <a:rPr lang="en-US" dirty="0" err="1"/>
              <a:t>FreeSeats</a:t>
            </a:r>
            <a:r>
              <a:rPr lang="en-US" dirty="0"/>
              <a:t> &gt; 0), takes it (</a:t>
            </a:r>
            <a:r>
              <a:rPr lang="en-US" dirty="0" err="1"/>
              <a:t>FreeSeats</a:t>
            </a:r>
            <a:r>
              <a:rPr lang="en-US" dirty="0"/>
              <a:t>--), notifies barber (up(Customers)), unlocks seats, then waits for barber (down(Barber)) to get haircut. If no seat is free, unlocks seats and leaves.</a:t>
            </a:r>
          </a:p>
          <a:p>
            <a:endParaRPr lang="en-US" dirty="0"/>
          </a:p>
        </p:txBody>
      </p:sp>
    </p:spTree>
    <p:extLst>
      <p:ext uri="{BB962C8B-B14F-4D97-AF65-F5344CB8AC3E}">
        <p14:creationId xmlns:p14="http://schemas.microsoft.com/office/powerpoint/2010/main" val="37191937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CD3C2-564C-E9A0-75F8-7193AE18801D}"/>
              </a:ext>
            </a:extLst>
          </p:cNvPr>
          <p:cNvSpPr>
            <a:spLocks noGrp="1"/>
          </p:cNvSpPr>
          <p:nvPr>
            <p:ph type="title"/>
          </p:nvPr>
        </p:nvSpPr>
        <p:spPr/>
        <p:txBody>
          <a:bodyPr/>
          <a:lstStyle/>
          <a:p>
            <a:r>
              <a:rPr lang="en-US" dirty="0">
                <a:latin typeface="Amasis MT Pro Medium" panose="020F0502020204030204" pitchFamily="18" charset="0"/>
              </a:rPr>
              <a:t>Readers-Writers Problem</a:t>
            </a:r>
            <a:endParaRPr lang="en-US" dirty="0"/>
          </a:p>
        </p:txBody>
      </p:sp>
      <p:sp>
        <p:nvSpPr>
          <p:cNvPr id="3" name="Content Placeholder 2">
            <a:extLst>
              <a:ext uri="{FF2B5EF4-FFF2-40B4-BE49-F238E27FC236}">
                <a16:creationId xmlns:a16="http://schemas.microsoft.com/office/drawing/2014/main" id="{B0BAF122-AAE3-3CDF-8E65-48F2B4F7A47E}"/>
              </a:ext>
            </a:extLst>
          </p:cNvPr>
          <p:cNvSpPr>
            <a:spLocks noGrp="1"/>
          </p:cNvSpPr>
          <p:nvPr>
            <p:ph idx="1"/>
          </p:nvPr>
        </p:nvSpPr>
        <p:spPr>
          <a:xfrm>
            <a:off x="196646" y="2241755"/>
            <a:ext cx="11680722" cy="4326193"/>
          </a:xfrm>
        </p:spPr>
        <p:txBody>
          <a:bodyPr>
            <a:normAutofit fontScale="77500" lnSpcReduction="20000"/>
          </a:bodyPr>
          <a:lstStyle/>
          <a:p>
            <a:pPr fontAlgn="base"/>
            <a:r>
              <a:rPr lang="en-US" dirty="0">
                <a:latin typeface="Amasis MT Pro Medium" panose="020F0502020204030204" pitchFamily="18" charset="0"/>
              </a:rPr>
              <a:t>The Readers-Writers Problem is a classic synchronization issue in operating systems. It deals with coordinating access to shared data (e.g., database, file) by multiple processes or threads.</a:t>
            </a:r>
          </a:p>
          <a:p>
            <a:pPr fontAlgn="base"/>
            <a:r>
              <a:rPr lang="en-US" b="1" dirty="0">
                <a:latin typeface="Amasis MT Pro Medium" panose="020F0502020204030204" pitchFamily="18" charset="0"/>
              </a:rPr>
              <a:t>Readers</a:t>
            </a:r>
            <a:r>
              <a:rPr lang="en-US" dirty="0">
                <a:latin typeface="Amasis MT Pro Medium" panose="020F0502020204030204" pitchFamily="18" charset="0"/>
              </a:rPr>
              <a:t>: Multiple readers can read the shared data </a:t>
            </a:r>
            <a:r>
              <a:rPr lang="en-US" b="1" dirty="0">
                <a:latin typeface="Amasis MT Pro Medium" panose="020F0502020204030204" pitchFamily="18" charset="0"/>
              </a:rPr>
              <a:t>simultaneously</a:t>
            </a:r>
            <a:r>
              <a:rPr lang="en-US" dirty="0">
                <a:latin typeface="Amasis MT Pro Medium" panose="020F0502020204030204" pitchFamily="18" charset="0"/>
              </a:rPr>
              <a:t> without causing inconsistency (since they don’t modify data).</a:t>
            </a:r>
          </a:p>
          <a:p>
            <a:pPr fontAlgn="base"/>
            <a:r>
              <a:rPr lang="en-US" b="1" dirty="0">
                <a:latin typeface="Amasis MT Pro Medium" panose="020F0502020204030204" pitchFamily="18" charset="0"/>
              </a:rPr>
              <a:t>Writers</a:t>
            </a:r>
            <a:r>
              <a:rPr lang="en-US" dirty="0">
                <a:latin typeface="Amasis MT Pro Medium" panose="020F0502020204030204" pitchFamily="18" charset="0"/>
              </a:rPr>
              <a:t>: Only </a:t>
            </a:r>
            <a:r>
              <a:rPr lang="en-US" b="1" dirty="0">
                <a:latin typeface="Amasis MT Pro Medium" panose="020F0502020204030204" pitchFamily="18" charset="0"/>
              </a:rPr>
              <a:t>one writer</a:t>
            </a:r>
            <a:r>
              <a:rPr lang="en-US" dirty="0">
                <a:latin typeface="Amasis MT Pro Medium" panose="020F0502020204030204" pitchFamily="18" charset="0"/>
              </a:rPr>
              <a:t> can access the data at a time, and no readers are allowed while writing (to prevent data corruption).</a:t>
            </a:r>
          </a:p>
          <a:p>
            <a:pPr fontAlgn="base"/>
            <a:r>
              <a:rPr lang="en-US" dirty="0">
                <a:latin typeface="Amasis MT Pro Medium" panose="020F0502020204030204" pitchFamily="18" charset="0"/>
              </a:rPr>
              <a:t>The challenge is to design a synchronization scheme that ensures:</a:t>
            </a:r>
          </a:p>
          <a:p>
            <a:pPr fontAlgn="base"/>
            <a:r>
              <a:rPr lang="en-US" dirty="0">
                <a:latin typeface="Amasis MT Pro Medium" panose="020F0502020204030204" pitchFamily="18" charset="0"/>
              </a:rPr>
              <a:t>Multiple readers can access data together if no writer is writing.</a:t>
            </a:r>
          </a:p>
          <a:p>
            <a:pPr fontAlgn="base"/>
            <a:r>
              <a:rPr lang="en-US" dirty="0">
                <a:latin typeface="Amasis MT Pro Medium" panose="020F0502020204030204" pitchFamily="18" charset="0"/>
              </a:rPr>
              <a:t>Writers have exclusive access no other reader or writer can enter during writing.</a:t>
            </a:r>
          </a:p>
          <a:p>
            <a:pPr fontAlgn="base"/>
            <a:r>
              <a:rPr lang="en-US" b="1" dirty="0">
                <a:latin typeface="Amasis MT Pro Medium" panose="020F0502020204030204" pitchFamily="18" charset="0"/>
              </a:rPr>
              <a:t>variants of the Problem</a:t>
            </a:r>
          </a:p>
          <a:p>
            <a:pPr fontAlgn="base"/>
            <a:r>
              <a:rPr lang="en-US" b="1" dirty="0">
                <a:latin typeface="Amasis MT Pro Medium" panose="020F0502020204030204" pitchFamily="18" charset="0"/>
              </a:rPr>
              <a:t>1. Readers Preference</a:t>
            </a:r>
            <a:endParaRPr lang="en-US" dirty="0">
              <a:latin typeface="Amasis MT Pro Medium" panose="020F0502020204030204" pitchFamily="18" charset="0"/>
            </a:endParaRPr>
          </a:p>
          <a:p>
            <a:pPr fontAlgn="base"/>
            <a:r>
              <a:rPr lang="en-US" dirty="0">
                <a:latin typeface="Amasis MT Pro Medium" panose="020F0502020204030204" pitchFamily="18" charset="0"/>
              </a:rPr>
              <a:t>Readers are given priority.</a:t>
            </a:r>
          </a:p>
          <a:p>
            <a:pPr fontAlgn="base"/>
            <a:r>
              <a:rPr lang="en-US" dirty="0">
                <a:latin typeface="Amasis MT Pro Medium" panose="020F0502020204030204" pitchFamily="18" charset="0"/>
              </a:rPr>
              <a:t>No reader waits if the resource is available for reading, even if a writer is waiting.</a:t>
            </a:r>
          </a:p>
          <a:p>
            <a:pPr fontAlgn="base"/>
            <a:r>
              <a:rPr lang="en-US" dirty="0">
                <a:latin typeface="Amasis MT Pro Medium" panose="020F0502020204030204" pitchFamily="18" charset="0"/>
              </a:rPr>
              <a:t>Writers may suffer from </a:t>
            </a:r>
            <a:r>
              <a:rPr lang="en-US" i="1" dirty="0">
                <a:latin typeface="Amasis MT Pro Medium" panose="020F0502020204030204" pitchFamily="18" charset="0"/>
              </a:rPr>
              <a:t>starvation</a:t>
            </a:r>
            <a:r>
              <a:rPr lang="en-US" dirty="0">
                <a:latin typeface="Amasis MT Pro Medium" panose="020F0502020204030204" pitchFamily="18" charset="0"/>
              </a:rPr>
              <a:t>.</a:t>
            </a:r>
          </a:p>
          <a:p>
            <a:pPr fontAlgn="base"/>
            <a:r>
              <a:rPr lang="en-US" b="1" dirty="0">
                <a:latin typeface="Amasis MT Pro Medium" panose="020F0502020204030204" pitchFamily="18" charset="0"/>
              </a:rPr>
              <a:t>2. Writers Preference</a:t>
            </a:r>
            <a:endParaRPr lang="en-US" dirty="0">
              <a:latin typeface="Amasis MT Pro Medium" panose="020F0502020204030204" pitchFamily="18" charset="0"/>
            </a:endParaRPr>
          </a:p>
          <a:p>
            <a:pPr fontAlgn="base"/>
            <a:r>
              <a:rPr lang="en-US" dirty="0">
                <a:latin typeface="Amasis MT Pro Medium" panose="020F0502020204030204" pitchFamily="18" charset="0"/>
              </a:rPr>
              <a:t>Writers are prioritized over readers.</a:t>
            </a:r>
          </a:p>
          <a:p>
            <a:pPr fontAlgn="base"/>
            <a:r>
              <a:rPr lang="en-US" dirty="0">
                <a:latin typeface="Amasis MT Pro Medium" panose="020F0502020204030204" pitchFamily="18" charset="0"/>
              </a:rPr>
              <a:t>Ensures writers won’t starve, but readers may wait longer.</a:t>
            </a:r>
          </a:p>
          <a:p>
            <a:pPr fontAlgn="base"/>
            <a:endParaRPr lang="en-US" dirty="0">
              <a:latin typeface="Amasis MT Pro Medium" panose="020F0502020204030204" pitchFamily="18" charset="0"/>
              <a:ea typeface="ADLaM Display" panose="020F0502020204030204" pitchFamily="2" charset="0"/>
              <a:cs typeface="ADLaM Display" panose="020F0502020204030204" pitchFamily="2" charset="0"/>
            </a:endParaRPr>
          </a:p>
          <a:p>
            <a:endParaRPr lang="en-US" dirty="0"/>
          </a:p>
        </p:txBody>
      </p:sp>
    </p:spTree>
    <p:extLst>
      <p:ext uri="{BB962C8B-B14F-4D97-AF65-F5344CB8AC3E}">
        <p14:creationId xmlns:p14="http://schemas.microsoft.com/office/powerpoint/2010/main" val="5387870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D60EC-6ABC-446B-420F-905839BAE50C}"/>
              </a:ext>
            </a:extLst>
          </p:cNvPr>
          <p:cNvSpPr>
            <a:spLocks noGrp="1"/>
          </p:cNvSpPr>
          <p:nvPr>
            <p:ph type="title"/>
          </p:nvPr>
        </p:nvSpPr>
        <p:spPr/>
        <p:txBody>
          <a:bodyPr/>
          <a:lstStyle/>
          <a:p>
            <a:r>
              <a:rPr lang="en-US" dirty="0">
                <a:latin typeface="Amasis MT Pro Medium" panose="020F0502020204030204" pitchFamily="18" charset="0"/>
              </a:rPr>
              <a:t>Readers-Writers Problem</a:t>
            </a:r>
            <a:endParaRPr lang="en-US" dirty="0"/>
          </a:p>
        </p:txBody>
      </p:sp>
      <p:sp>
        <p:nvSpPr>
          <p:cNvPr id="3" name="Content Placeholder 2">
            <a:extLst>
              <a:ext uri="{FF2B5EF4-FFF2-40B4-BE49-F238E27FC236}">
                <a16:creationId xmlns:a16="http://schemas.microsoft.com/office/drawing/2014/main" id="{2EB43DC4-B846-E9CD-0C24-47207F28D126}"/>
              </a:ext>
            </a:extLst>
          </p:cNvPr>
          <p:cNvSpPr>
            <a:spLocks noGrp="1"/>
          </p:cNvSpPr>
          <p:nvPr>
            <p:ph idx="1"/>
          </p:nvPr>
        </p:nvSpPr>
        <p:spPr>
          <a:xfrm>
            <a:off x="1154954" y="2603500"/>
            <a:ext cx="8825659" cy="3954616"/>
          </a:xfrm>
        </p:spPr>
        <p:txBody>
          <a:bodyPr/>
          <a:lstStyle/>
          <a:p>
            <a:r>
              <a:rPr lang="en-US" dirty="0"/>
              <a:t>Here priority means, no reader should wait if the shared resource is currently open for reading. There are four types of cases that could happen here.</a:t>
            </a:r>
          </a:p>
          <a:p>
            <a:endParaRPr lang="en-US" dirty="0"/>
          </a:p>
        </p:txBody>
      </p:sp>
      <p:pic>
        <p:nvPicPr>
          <p:cNvPr id="5" name="Picture 4" descr="A screen shot of a white rectangular box&#10;&#10;AI-generated content may be incorrect.">
            <a:extLst>
              <a:ext uri="{FF2B5EF4-FFF2-40B4-BE49-F238E27FC236}">
                <a16:creationId xmlns:a16="http://schemas.microsoft.com/office/drawing/2014/main" id="{DAF665C9-90E7-0C13-DE3E-B54E119BBD47}"/>
              </a:ext>
            </a:extLst>
          </p:cNvPr>
          <p:cNvPicPr>
            <a:picLocks noChangeAspect="1"/>
          </p:cNvPicPr>
          <p:nvPr/>
        </p:nvPicPr>
        <p:blipFill>
          <a:blip r:embed="rId2"/>
          <a:stretch>
            <a:fillRect/>
          </a:stretch>
        </p:blipFill>
        <p:spPr>
          <a:xfrm>
            <a:off x="2211387" y="3639403"/>
            <a:ext cx="4922947" cy="2918713"/>
          </a:xfrm>
          <a:prstGeom prst="rect">
            <a:avLst/>
          </a:prstGeom>
        </p:spPr>
      </p:pic>
    </p:spTree>
    <p:extLst>
      <p:ext uri="{BB962C8B-B14F-4D97-AF65-F5344CB8AC3E}">
        <p14:creationId xmlns:p14="http://schemas.microsoft.com/office/powerpoint/2010/main" val="20691320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92422-33E0-22D6-6B1A-C4C9EE251868}"/>
              </a:ext>
            </a:extLst>
          </p:cNvPr>
          <p:cNvSpPr>
            <a:spLocks noGrp="1"/>
          </p:cNvSpPr>
          <p:nvPr>
            <p:ph type="title"/>
          </p:nvPr>
        </p:nvSpPr>
        <p:spPr/>
        <p:txBody>
          <a:bodyPr/>
          <a:lstStyle/>
          <a:p>
            <a:r>
              <a:rPr lang="en-US" dirty="0">
                <a:latin typeface="Amasis MT Pro Medium" panose="020F0502020204030204" pitchFamily="18" charset="0"/>
              </a:rPr>
              <a:t>Readers-Writers Problem</a:t>
            </a:r>
            <a:endParaRPr lang="en-US" dirty="0"/>
          </a:p>
        </p:txBody>
      </p:sp>
      <p:sp>
        <p:nvSpPr>
          <p:cNvPr id="3" name="Content Placeholder 2">
            <a:extLst>
              <a:ext uri="{FF2B5EF4-FFF2-40B4-BE49-F238E27FC236}">
                <a16:creationId xmlns:a16="http://schemas.microsoft.com/office/drawing/2014/main" id="{73E7052C-F4A0-1FFA-85D3-A40FDDA004C8}"/>
              </a:ext>
            </a:extLst>
          </p:cNvPr>
          <p:cNvSpPr>
            <a:spLocks noGrp="1"/>
          </p:cNvSpPr>
          <p:nvPr>
            <p:ph idx="1"/>
          </p:nvPr>
        </p:nvSpPr>
        <p:spPr>
          <a:xfrm>
            <a:off x="68827" y="2251587"/>
            <a:ext cx="8849032" cy="4326194"/>
          </a:xfrm>
        </p:spPr>
        <p:txBody>
          <a:bodyPr>
            <a:normAutofit fontScale="62500" lnSpcReduction="20000"/>
          </a:bodyPr>
          <a:lstStyle/>
          <a:p>
            <a:pPr fontAlgn="base"/>
            <a:r>
              <a:rPr lang="en-US" b="1" dirty="0"/>
              <a:t>Synchronization Variables</a:t>
            </a:r>
          </a:p>
          <a:p>
            <a:pPr fontAlgn="base"/>
            <a:r>
              <a:rPr lang="en-US" b="1" dirty="0"/>
              <a:t>mutex:</a:t>
            </a:r>
            <a:r>
              <a:rPr lang="en-US" dirty="0"/>
              <a:t> Ensures mutual exclusion when updating the reader count (</a:t>
            </a:r>
            <a:r>
              <a:rPr lang="en-US" dirty="0" err="1"/>
              <a:t>readcnt</a:t>
            </a:r>
            <a:r>
              <a:rPr lang="en-US" dirty="0"/>
              <a:t>).</a:t>
            </a:r>
          </a:p>
          <a:p>
            <a:pPr fontAlgn="base"/>
            <a:r>
              <a:rPr lang="en-US" b="1" dirty="0" err="1"/>
              <a:t>wrt</a:t>
            </a:r>
            <a:r>
              <a:rPr lang="en-US" b="1" dirty="0"/>
              <a:t>: </a:t>
            </a:r>
            <a:r>
              <a:rPr lang="en-US" dirty="0"/>
              <a:t>Controls access to the shared data (used by both readers and writers).</a:t>
            </a:r>
          </a:p>
          <a:p>
            <a:pPr fontAlgn="base"/>
            <a:r>
              <a:rPr lang="en-US" b="1" dirty="0" err="1"/>
              <a:t>readcnt</a:t>
            </a:r>
            <a:r>
              <a:rPr lang="en-US" b="1" dirty="0"/>
              <a:t>:</a:t>
            </a:r>
            <a:r>
              <a:rPr lang="en-US" dirty="0"/>
              <a:t> Number of readers currently in the critical section.</a:t>
            </a:r>
          </a:p>
          <a:p>
            <a:pPr fontAlgn="base"/>
            <a:r>
              <a:rPr lang="en-US" b="1" dirty="0"/>
              <a:t>Semaphore Operations</a:t>
            </a:r>
          </a:p>
          <a:p>
            <a:pPr fontAlgn="base"/>
            <a:r>
              <a:rPr lang="en-US" b="1" dirty="0"/>
              <a:t>wait():</a:t>
            </a:r>
            <a:r>
              <a:rPr lang="en-US" dirty="0"/>
              <a:t> Decreases semaphore value, blocks if &lt; 0.</a:t>
            </a:r>
          </a:p>
          <a:p>
            <a:pPr fontAlgn="base"/>
            <a:r>
              <a:rPr lang="en-US" b="1" dirty="0"/>
              <a:t>signal():</a:t>
            </a:r>
            <a:r>
              <a:rPr lang="en-US" dirty="0"/>
              <a:t> Increases semaphore value, wakes waiting process if any.</a:t>
            </a:r>
          </a:p>
          <a:p>
            <a:endParaRPr lang="en-US" dirty="0"/>
          </a:p>
          <a:p>
            <a:pPr fontAlgn="base"/>
            <a:r>
              <a:rPr lang="en-US" b="1" dirty="0"/>
              <a:t>Reader Process(Reader Preference)</a:t>
            </a:r>
          </a:p>
          <a:p>
            <a:pPr fontAlgn="base"/>
            <a:r>
              <a:rPr lang="en-US" dirty="0"/>
              <a:t>1. Reader requests the entry to critical section.</a:t>
            </a:r>
          </a:p>
          <a:p>
            <a:pPr fontAlgn="base"/>
            <a:r>
              <a:rPr lang="en-US" dirty="0"/>
              <a:t>2. If allowed: </a:t>
            </a:r>
          </a:p>
          <a:p>
            <a:pPr fontAlgn="base"/>
            <a:r>
              <a:rPr lang="en-US" dirty="0"/>
              <a:t>it increments the count of number of readers inside the critical section. If this reader is the first reader entering, it locks the </a:t>
            </a:r>
            <a:r>
              <a:rPr lang="en-US" b="1" dirty="0" err="1"/>
              <a:t>wrt</a:t>
            </a:r>
            <a:r>
              <a:rPr lang="en-US" dirty="0"/>
              <a:t> semaphore to restrict the entry of writers if any reader is inside.</a:t>
            </a:r>
          </a:p>
          <a:p>
            <a:pPr fontAlgn="base"/>
            <a:r>
              <a:rPr lang="en-US" dirty="0"/>
              <a:t>It then, signals </a:t>
            </a:r>
            <a:r>
              <a:rPr lang="en-US" u="sng" dirty="0">
                <a:hlinkClick r:id="rId2"/>
              </a:rPr>
              <a:t>mutex</a:t>
            </a:r>
            <a:r>
              <a:rPr lang="en-US" dirty="0"/>
              <a:t> as any other reader is allowed to enter while others are already reading.</a:t>
            </a:r>
          </a:p>
          <a:p>
            <a:pPr fontAlgn="base"/>
            <a:r>
              <a:rPr lang="en-US" dirty="0"/>
              <a:t>After performing reading, it exits the critical section. When exiting, it checks if no more reader is inside, it signals the semaphore "</a:t>
            </a:r>
            <a:r>
              <a:rPr lang="en-US" dirty="0" err="1"/>
              <a:t>wrt</a:t>
            </a:r>
            <a:r>
              <a:rPr lang="en-US" dirty="0"/>
              <a:t>" as now, writer can enter the critical section.</a:t>
            </a:r>
          </a:p>
          <a:p>
            <a:pPr fontAlgn="base"/>
            <a:r>
              <a:rPr lang="en-US" dirty="0"/>
              <a:t>3. If not allowed, it keeps on waiting.</a:t>
            </a:r>
          </a:p>
          <a:p>
            <a:endParaRPr lang="en-US" dirty="0"/>
          </a:p>
        </p:txBody>
      </p:sp>
    </p:spTree>
    <p:extLst>
      <p:ext uri="{BB962C8B-B14F-4D97-AF65-F5344CB8AC3E}">
        <p14:creationId xmlns:p14="http://schemas.microsoft.com/office/powerpoint/2010/main" val="19398015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6B546-8567-B684-29C7-D1F428816407}"/>
              </a:ext>
            </a:extLst>
          </p:cNvPr>
          <p:cNvSpPr>
            <a:spLocks noGrp="1"/>
          </p:cNvSpPr>
          <p:nvPr>
            <p:ph type="title"/>
          </p:nvPr>
        </p:nvSpPr>
        <p:spPr/>
        <p:txBody>
          <a:bodyPr/>
          <a:lstStyle/>
          <a:p>
            <a:r>
              <a:rPr lang="en-US" dirty="0">
                <a:latin typeface="Amasis MT Pro Medium" panose="020F0502020204030204" pitchFamily="18" charset="0"/>
              </a:rPr>
              <a:t>Readers process</a:t>
            </a:r>
            <a:endParaRPr lang="en-US" dirty="0"/>
          </a:p>
        </p:txBody>
      </p:sp>
      <p:sp>
        <p:nvSpPr>
          <p:cNvPr id="3" name="Content Placeholder 2">
            <a:extLst>
              <a:ext uri="{FF2B5EF4-FFF2-40B4-BE49-F238E27FC236}">
                <a16:creationId xmlns:a16="http://schemas.microsoft.com/office/drawing/2014/main" id="{ED7936B1-267F-67A1-9095-F60C4C7DA939}"/>
              </a:ext>
            </a:extLst>
          </p:cNvPr>
          <p:cNvSpPr>
            <a:spLocks noGrp="1"/>
          </p:cNvSpPr>
          <p:nvPr>
            <p:ph idx="1"/>
          </p:nvPr>
        </p:nvSpPr>
        <p:spPr>
          <a:xfrm>
            <a:off x="1154955" y="2418735"/>
            <a:ext cx="4655910" cy="3601065"/>
          </a:xfrm>
        </p:spPr>
        <p:txBody>
          <a:bodyPr>
            <a:normAutofit fontScale="85000" lnSpcReduction="10000"/>
          </a:bodyPr>
          <a:lstStyle/>
          <a:p>
            <a:pPr fontAlgn="base"/>
            <a:r>
              <a:rPr lang="en-US"/>
              <a:t>When a reader enters, it locks mutex to update readcnt.</a:t>
            </a:r>
          </a:p>
          <a:p>
            <a:pPr fontAlgn="base"/>
            <a:r>
              <a:rPr lang="en-US"/>
              <a:t>If it’s the first reader, it locks wrt so writers are blocked.</a:t>
            </a:r>
          </a:p>
          <a:p>
            <a:pPr fontAlgn="base"/>
            <a:r>
              <a:rPr lang="en-US"/>
              <a:t>Multiple readers can now read the data simultaneously.</a:t>
            </a:r>
          </a:p>
          <a:p>
            <a:pPr fontAlgn="base"/>
            <a:r>
              <a:rPr lang="en-US"/>
              <a:t>When a reader exits, it decrements readcnt.</a:t>
            </a:r>
          </a:p>
          <a:p>
            <a:pPr fontAlgn="base"/>
            <a:r>
              <a:rPr lang="en-US"/>
              <a:t>If it’s the last reader, it unlocks wrt so writers can proceed.</a:t>
            </a:r>
          </a:p>
          <a:p>
            <a:pPr fontAlgn="base"/>
            <a:r>
              <a:rPr lang="en-US"/>
              <a:t>The first reader blocks writers, the last reader allows writers, and all readers in between share the resource. This gives preference to readers, but writers may starve.</a:t>
            </a:r>
          </a:p>
        </p:txBody>
      </p:sp>
      <p:pic>
        <p:nvPicPr>
          <p:cNvPr id="5" name="Picture 4" descr="A white sheet of paper with black text&#10;&#10;AI-generated content may be incorrect.">
            <a:extLst>
              <a:ext uri="{FF2B5EF4-FFF2-40B4-BE49-F238E27FC236}">
                <a16:creationId xmlns:a16="http://schemas.microsoft.com/office/drawing/2014/main" id="{44EDBC12-BCFD-867A-66D4-433DC4884467}"/>
              </a:ext>
            </a:extLst>
          </p:cNvPr>
          <p:cNvPicPr>
            <a:picLocks noChangeAspect="1"/>
          </p:cNvPicPr>
          <p:nvPr/>
        </p:nvPicPr>
        <p:blipFill>
          <a:blip r:embed="rId2"/>
          <a:stretch>
            <a:fillRect/>
          </a:stretch>
        </p:blipFill>
        <p:spPr>
          <a:xfrm>
            <a:off x="6144581" y="2418735"/>
            <a:ext cx="4892464" cy="3177815"/>
          </a:xfrm>
          <a:prstGeom prst="rect">
            <a:avLst/>
          </a:prstGeom>
        </p:spPr>
      </p:pic>
    </p:spTree>
    <p:extLst>
      <p:ext uri="{BB962C8B-B14F-4D97-AF65-F5344CB8AC3E}">
        <p14:creationId xmlns:p14="http://schemas.microsoft.com/office/powerpoint/2010/main" val="32509726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8D32A-C710-6E95-4BF0-FCD7A84BED07}"/>
              </a:ext>
            </a:extLst>
          </p:cNvPr>
          <p:cNvSpPr>
            <a:spLocks noGrp="1"/>
          </p:cNvSpPr>
          <p:nvPr>
            <p:ph type="title"/>
          </p:nvPr>
        </p:nvSpPr>
        <p:spPr/>
        <p:txBody>
          <a:bodyPr/>
          <a:lstStyle/>
          <a:p>
            <a:r>
              <a:rPr lang="en-US" dirty="0">
                <a:latin typeface="Amasis MT Pro Medium" panose="020F0502020204030204" pitchFamily="18" charset="0"/>
              </a:rPr>
              <a:t> Writers Process</a:t>
            </a:r>
            <a:endParaRPr lang="en-US" dirty="0"/>
          </a:p>
        </p:txBody>
      </p:sp>
      <p:sp>
        <p:nvSpPr>
          <p:cNvPr id="3" name="Content Placeholder 2">
            <a:extLst>
              <a:ext uri="{FF2B5EF4-FFF2-40B4-BE49-F238E27FC236}">
                <a16:creationId xmlns:a16="http://schemas.microsoft.com/office/drawing/2014/main" id="{3CE8C25F-F7C7-43B1-0138-9358584CC50C}"/>
              </a:ext>
            </a:extLst>
          </p:cNvPr>
          <p:cNvSpPr>
            <a:spLocks noGrp="1"/>
          </p:cNvSpPr>
          <p:nvPr>
            <p:ph idx="1"/>
          </p:nvPr>
        </p:nvSpPr>
        <p:spPr>
          <a:xfrm>
            <a:off x="1154955" y="2603500"/>
            <a:ext cx="5993098" cy="4102100"/>
          </a:xfrm>
        </p:spPr>
        <p:txBody>
          <a:bodyPr>
            <a:normAutofit fontScale="85000" lnSpcReduction="20000"/>
          </a:bodyPr>
          <a:lstStyle/>
          <a:p>
            <a:pPr fontAlgn="base"/>
            <a:r>
              <a:rPr lang="en-US" b="1" dirty="0"/>
              <a:t>wait(</a:t>
            </a:r>
            <a:r>
              <a:rPr lang="en-US" b="1" dirty="0" err="1"/>
              <a:t>wrt</a:t>
            </a:r>
            <a:r>
              <a:rPr lang="en-US" b="1" dirty="0"/>
              <a:t>):</a:t>
            </a:r>
            <a:r>
              <a:rPr lang="en-US" dirty="0"/>
              <a:t> Writer locks the resource to get exclusive access.</a:t>
            </a:r>
          </a:p>
          <a:p>
            <a:pPr fontAlgn="base"/>
            <a:r>
              <a:rPr lang="en-US" b="1" dirty="0"/>
              <a:t>Critical Section: </a:t>
            </a:r>
            <a:r>
              <a:rPr lang="en-US" dirty="0"/>
              <a:t>Writer performs writing (no other reader or writer can enter).</a:t>
            </a:r>
          </a:p>
          <a:p>
            <a:pPr fontAlgn="base"/>
            <a:r>
              <a:rPr lang="en-US" b="1" dirty="0"/>
              <a:t>signal(</a:t>
            </a:r>
            <a:r>
              <a:rPr lang="en-US" b="1" dirty="0" err="1"/>
              <a:t>wrt</a:t>
            </a:r>
            <a:r>
              <a:rPr lang="en-US" b="1" dirty="0"/>
              <a:t>): </a:t>
            </a:r>
            <a:r>
              <a:rPr lang="en-US" dirty="0"/>
              <a:t>Writer releases the resource after finishing.</a:t>
            </a:r>
          </a:p>
          <a:p>
            <a:pPr fontAlgn="base"/>
            <a:r>
              <a:rPr lang="en-US" dirty="0"/>
              <a:t>Only one writer can write at a time, and no readers are allowed while writing. This ensures data integrity.</a:t>
            </a:r>
          </a:p>
          <a:p>
            <a:pPr fontAlgn="base"/>
            <a:r>
              <a:rPr lang="en-US" dirty="0"/>
              <a:t>The Readers-Writers Problem highlights the need for proper synchronization when multiple processes access shared data.</a:t>
            </a:r>
          </a:p>
          <a:p>
            <a:pPr fontAlgn="base"/>
            <a:r>
              <a:rPr lang="en-US" dirty="0"/>
              <a:t>Readers Preference solution allows many readers to access simultaneously while blocking writers, improving read efficiency.</a:t>
            </a:r>
          </a:p>
          <a:p>
            <a:pPr fontAlgn="base"/>
            <a:r>
              <a:rPr lang="en-US" dirty="0"/>
              <a:t>However, writers may starve if readers keep arriving continuously.</a:t>
            </a:r>
          </a:p>
          <a:p>
            <a:pPr fontAlgn="base"/>
            <a:r>
              <a:rPr lang="en-US" dirty="0"/>
              <a:t>To avoid this, Writers Preference or a Fair solution (using queues or advanced semaphores) can be used to ensure no starvation and balanced access.</a:t>
            </a:r>
          </a:p>
          <a:p>
            <a:endParaRPr lang="en-US" dirty="0"/>
          </a:p>
        </p:txBody>
      </p:sp>
      <p:pic>
        <p:nvPicPr>
          <p:cNvPr id="5" name="Picture 4" descr="A close-up of a computer code&#10;&#10;AI-generated content may be incorrect.">
            <a:extLst>
              <a:ext uri="{FF2B5EF4-FFF2-40B4-BE49-F238E27FC236}">
                <a16:creationId xmlns:a16="http://schemas.microsoft.com/office/drawing/2014/main" id="{21C85F5E-B128-4FC9-20B7-8E28E7E9A025}"/>
              </a:ext>
            </a:extLst>
          </p:cNvPr>
          <p:cNvPicPr>
            <a:picLocks noChangeAspect="1"/>
          </p:cNvPicPr>
          <p:nvPr/>
        </p:nvPicPr>
        <p:blipFill>
          <a:blip r:embed="rId2"/>
          <a:stretch>
            <a:fillRect/>
          </a:stretch>
        </p:blipFill>
        <p:spPr>
          <a:xfrm>
            <a:off x="7668713" y="3330971"/>
            <a:ext cx="3368332" cy="1729890"/>
          </a:xfrm>
          <a:prstGeom prst="rect">
            <a:avLst/>
          </a:prstGeom>
        </p:spPr>
      </p:pic>
    </p:spTree>
    <p:extLst>
      <p:ext uri="{BB962C8B-B14F-4D97-AF65-F5344CB8AC3E}">
        <p14:creationId xmlns:p14="http://schemas.microsoft.com/office/powerpoint/2010/main" val="188863262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455</TotalTime>
  <Words>3955</Words>
  <Application>Microsoft Office PowerPoint</Application>
  <PresentationFormat>Widescreen</PresentationFormat>
  <Paragraphs>265</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Amasis MT Pro Medium</vt:lpstr>
      <vt:lpstr>Arial</vt:lpstr>
      <vt:lpstr>Century Gothic</vt:lpstr>
      <vt:lpstr>Times New Roman</vt:lpstr>
      <vt:lpstr>Wingdings 3</vt:lpstr>
      <vt:lpstr>Ion Boardroom</vt:lpstr>
      <vt:lpstr>Chapter -2</vt:lpstr>
      <vt:lpstr>Process Concepts</vt:lpstr>
      <vt:lpstr>Process Concepts</vt:lpstr>
      <vt:lpstr>Process states and its transition</vt:lpstr>
      <vt:lpstr>Process states and its transition</vt:lpstr>
      <vt:lpstr>Process Control Block (PCB) </vt:lpstr>
      <vt:lpstr>Concurent processing and Parllel processing</vt:lpstr>
      <vt:lpstr>Race Condition </vt:lpstr>
      <vt:lpstr>Critical section </vt:lpstr>
      <vt:lpstr>Requirements of Critical Section Solutions</vt:lpstr>
      <vt:lpstr>Mutual Exclusion </vt:lpstr>
      <vt:lpstr>Mutual Exclusion </vt:lpstr>
      <vt:lpstr>Mutual; exclusion</vt:lpstr>
      <vt:lpstr>Dekers solution</vt:lpstr>
      <vt:lpstr>Peterson solution</vt:lpstr>
      <vt:lpstr>  Disabling Interrupts </vt:lpstr>
      <vt:lpstr>Lock Variable </vt:lpstr>
      <vt:lpstr>Test-and-Set Lock </vt:lpstr>
      <vt:lpstr>Test and set lock</vt:lpstr>
      <vt:lpstr>Strict Alternation </vt:lpstr>
      <vt:lpstr>Producer-consumer problem </vt:lpstr>
      <vt:lpstr>Sleep and wakeup </vt:lpstr>
      <vt:lpstr>Sleep and wakeup</vt:lpstr>
      <vt:lpstr>Problem with sleep and wakeup</vt:lpstr>
      <vt:lpstr>Classical IPC problems(The Dining Philosophers Problem) </vt:lpstr>
      <vt:lpstr>The Dining Philosophers Problem</vt:lpstr>
      <vt:lpstr>The Dining Philosophers Problem</vt:lpstr>
      <vt:lpstr>  Sleeping Barber problem </vt:lpstr>
      <vt:lpstr>  Sleeping Barber problem </vt:lpstr>
      <vt:lpstr>  Sleeping Barber  problem </vt:lpstr>
      <vt:lpstr>  Sleeping Barber  problem </vt:lpstr>
      <vt:lpstr>Readers-Writers Problem</vt:lpstr>
      <vt:lpstr>Readers-Writers Problem</vt:lpstr>
      <vt:lpstr>Readers-Writers Problem</vt:lpstr>
      <vt:lpstr>Readers process</vt:lpstr>
      <vt:lpstr> Writers Process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Asus</dc:creator>
  <cp:lastModifiedBy>Asus</cp:lastModifiedBy>
  <cp:revision>7</cp:revision>
  <dcterms:created xsi:type="dcterms:W3CDTF">2025-12-02T16:59:34Z</dcterms:created>
  <dcterms:modified xsi:type="dcterms:W3CDTF">2025-12-16T07:08:39Z</dcterms:modified>
</cp:coreProperties>
</file>