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y="6858000" cx="9144000"/>
  <p:notesSz cx="6858000" cy="9144000"/>
  <p:embeddedFontLst>
    <p:embeddedFont>
      <p:font typeface="Open Sans SemiBold"/>
      <p:regular r:id="rId84"/>
      <p:bold r:id="rId85"/>
      <p:italic r:id="rId86"/>
      <p:boldItalic r:id="rId87"/>
    </p:embeddedFont>
    <p:embeddedFont>
      <p:font typeface="Open Sans ExtraBold"/>
      <p:bold r:id="rId88"/>
      <p:boldItalic r:id="rId89"/>
    </p:embeddedFont>
    <p:embeddedFont>
      <p:font typeface="Cambria Math"/>
      <p:regular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1" roundtripDataSignature="AMtx7mhTftYTPPhh2wm7aQUFA2FUHDXC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OpenSansSemiBold-regular.fntdata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font" Target="fonts/OpenSansSemiBold-italic.fntdata"/><Relationship Id="rId41" Type="http://schemas.openxmlformats.org/officeDocument/2006/relationships/slide" Target="slides/slide36.xml"/><Relationship Id="rId85" Type="http://schemas.openxmlformats.org/officeDocument/2006/relationships/font" Target="fonts/OpenSansSemiBold-bold.fntdata"/><Relationship Id="rId44" Type="http://schemas.openxmlformats.org/officeDocument/2006/relationships/slide" Target="slides/slide39.xml"/><Relationship Id="rId88" Type="http://schemas.openxmlformats.org/officeDocument/2006/relationships/font" Target="fonts/OpenSansExtraBold-bold.fntdata"/><Relationship Id="rId43" Type="http://schemas.openxmlformats.org/officeDocument/2006/relationships/slide" Target="slides/slide38.xml"/><Relationship Id="rId87" Type="http://schemas.openxmlformats.org/officeDocument/2006/relationships/font" Target="fonts/OpenSansSemiBold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OpenSansExtraBold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customschemas.google.com/relationships/presentationmetadata" Target="metadata"/><Relationship Id="rId90" Type="http://schemas.openxmlformats.org/officeDocument/2006/relationships/font" Target="fonts/CambriaMath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ExtraBold"/>
              <a:buNone/>
              <a:defRPr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2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SemiBold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2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14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14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14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8" name="Google Shape;28;p82"/>
          <p:cNvCxnSpPr/>
          <p:nvPr/>
        </p:nvCxnSpPr>
        <p:spPr>
          <a:xfrm>
            <a:off x="190500" y="914400"/>
            <a:ext cx="8763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82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Unit: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3 2D transformation &amp; viewing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	     </a:t>
            </a:r>
            <a:fld id="{00000000-1234-1234-1234-123412341234}" type="slidenum"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82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Darshan Institute of Engineering &amp; Technology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3"/>
          <p:cNvSpPr txBox="1"/>
          <p:nvPr>
            <p:ph idx="1" type="body"/>
          </p:nvPr>
        </p:nvSpPr>
        <p:spPr>
          <a:xfrm>
            <a:off x="190500" y="990600"/>
            <a:ext cx="4305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83"/>
          <p:cNvSpPr txBox="1"/>
          <p:nvPr>
            <p:ph idx="2" type="body"/>
          </p:nvPr>
        </p:nvSpPr>
        <p:spPr>
          <a:xfrm>
            <a:off x="4648200" y="990600"/>
            <a:ext cx="4305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83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SemiBold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83"/>
          <p:cNvCxnSpPr/>
          <p:nvPr/>
        </p:nvCxnSpPr>
        <p:spPr>
          <a:xfrm>
            <a:off x="190500" y="914400"/>
            <a:ext cx="8763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83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Unit: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3 2D transformation &amp; viewing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	     </a:t>
            </a:r>
            <a:fld id="{00000000-1234-1234-1234-123412341234}" type="slidenum"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8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Darshan Institute of Engineering &amp; Technology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8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8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Unit: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3 2D transformation &amp; viewing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	    </a:t>
            </a:r>
            <a:fld id="{00000000-1234-1234-1234-123412341234}" type="slidenum"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5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Darshan Institute of Engineering &amp; Technology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8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8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2"/>
          <p:cNvSpPr txBox="1"/>
          <p:nvPr>
            <p:ph idx="1" type="body"/>
          </p:nvPr>
        </p:nvSpPr>
        <p:spPr>
          <a:xfrm>
            <a:off x="190500" y="88900"/>
            <a:ext cx="8763000" cy="6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14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14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14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Relationship Id="rId5" Type="http://schemas.openxmlformats.org/officeDocument/2006/relationships/image" Target="../media/image8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5" Type="http://schemas.openxmlformats.org/officeDocument/2006/relationships/image" Target="../media/image60.png"/><Relationship Id="rId6" Type="http://schemas.openxmlformats.org/officeDocument/2006/relationships/image" Target="../media/image64.png"/><Relationship Id="rId7" Type="http://schemas.openxmlformats.org/officeDocument/2006/relationships/image" Target="../media/image67.png"/><Relationship Id="rId8" Type="http://schemas.openxmlformats.org/officeDocument/2006/relationships/image" Target="../media/image6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Relationship Id="rId5" Type="http://schemas.openxmlformats.org/officeDocument/2006/relationships/image" Target="../media/image69.png"/><Relationship Id="rId6" Type="http://schemas.openxmlformats.org/officeDocument/2006/relationships/image" Target="../media/image73.png"/><Relationship Id="rId7" Type="http://schemas.openxmlformats.org/officeDocument/2006/relationships/image" Target="../media/image72.png"/><Relationship Id="rId8" Type="http://schemas.openxmlformats.org/officeDocument/2006/relationships/image" Target="../media/image7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9.png"/><Relationship Id="rId4" Type="http://schemas.openxmlformats.org/officeDocument/2006/relationships/image" Target="../media/image7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6.png"/><Relationship Id="rId4" Type="http://schemas.openxmlformats.org/officeDocument/2006/relationships/image" Target="../media/image85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6.png"/><Relationship Id="rId4" Type="http://schemas.openxmlformats.org/officeDocument/2006/relationships/image" Target="../media/image79.png"/><Relationship Id="rId9" Type="http://schemas.openxmlformats.org/officeDocument/2006/relationships/image" Target="../media/image92.png"/><Relationship Id="rId5" Type="http://schemas.openxmlformats.org/officeDocument/2006/relationships/image" Target="../media/image75.png"/><Relationship Id="rId6" Type="http://schemas.openxmlformats.org/officeDocument/2006/relationships/image" Target="../media/image84.png"/><Relationship Id="rId7" Type="http://schemas.openxmlformats.org/officeDocument/2006/relationships/image" Target="../media/image87.png"/><Relationship Id="rId8" Type="http://schemas.openxmlformats.org/officeDocument/2006/relationships/image" Target="../media/image9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png"/><Relationship Id="rId4" Type="http://schemas.openxmlformats.org/officeDocument/2006/relationships/image" Target="../media/image9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6667" l="0" r="0" t="18334"/>
          <a:stretch/>
        </p:blipFill>
        <p:spPr>
          <a:xfrm>
            <a:off x="304800" y="125506"/>
            <a:ext cx="8298180" cy="62236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304800" y="1550894"/>
            <a:ext cx="5229962" cy="3592205"/>
            <a:chOff x="-14748" y="986564"/>
            <a:chExt cx="6339348" cy="4789606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138204" y="5225106"/>
              <a:ext cx="3735652" cy="400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endParaRPr/>
            </a:p>
          </p:txBody>
        </p:sp>
        <p:grpSp>
          <p:nvGrpSpPr>
            <p:cNvPr id="99" name="Google Shape;99;p1"/>
            <p:cNvGrpSpPr/>
            <p:nvPr/>
          </p:nvGrpSpPr>
          <p:grpSpPr>
            <a:xfrm>
              <a:off x="272251" y="5632170"/>
              <a:ext cx="216000" cy="144000"/>
              <a:chOff x="564675" y="1700625"/>
              <a:chExt cx="465200" cy="314200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564675" y="1700625"/>
                <a:ext cx="465200" cy="29250"/>
              </a:xfrm>
              <a:custGeom>
                <a:rect b="b" l="l" r="r" t="t"/>
                <a:pathLst>
                  <a:path extrusionOk="0" fill="none" h="1170" w="18608">
                    <a:moveTo>
                      <a:pt x="18608" y="1170"/>
                    </a:moveTo>
                    <a:lnTo>
                      <a:pt x="18608" y="488"/>
                    </a:lnTo>
                    <a:lnTo>
                      <a:pt x="18608" y="488"/>
                    </a:lnTo>
                    <a:lnTo>
                      <a:pt x="18608" y="390"/>
                    </a:lnTo>
                    <a:lnTo>
                      <a:pt x="18559" y="293"/>
                    </a:lnTo>
                    <a:lnTo>
                      <a:pt x="18535" y="220"/>
                    </a:lnTo>
                    <a:lnTo>
                      <a:pt x="18462" y="147"/>
                    </a:lnTo>
                    <a:lnTo>
                      <a:pt x="18389" y="74"/>
                    </a:lnTo>
                    <a:lnTo>
                      <a:pt x="18316" y="49"/>
                    </a:lnTo>
                    <a:lnTo>
                      <a:pt x="18218" y="1"/>
                    </a:lnTo>
                    <a:lnTo>
                      <a:pt x="18121" y="1"/>
                    </a:lnTo>
                    <a:lnTo>
                      <a:pt x="488" y="1"/>
                    </a:lnTo>
                    <a:lnTo>
                      <a:pt x="488" y="1"/>
                    </a:lnTo>
                    <a:lnTo>
                      <a:pt x="390" y="1"/>
                    </a:lnTo>
                    <a:lnTo>
                      <a:pt x="293" y="49"/>
                    </a:lnTo>
                    <a:lnTo>
                      <a:pt x="220" y="74"/>
                    </a:lnTo>
                    <a:lnTo>
                      <a:pt x="147" y="147"/>
                    </a:lnTo>
                    <a:lnTo>
                      <a:pt x="74" y="220"/>
                    </a:lnTo>
                    <a:lnTo>
                      <a:pt x="49" y="293"/>
                    </a:lnTo>
                    <a:lnTo>
                      <a:pt x="1" y="390"/>
                    </a:lnTo>
                    <a:lnTo>
                      <a:pt x="1" y="488"/>
                    </a:lnTo>
                    <a:lnTo>
                      <a:pt x="1" y="1170"/>
                    </a:lnTo>
                  </a:path>
                </a:pathLst>
              </a:custGeom>
              <a:solidFill>
                <a:schemeClr val="accent2"/>
              </a:solidFill>
              <a:ln cap="rnd" cmpd="sng" w="12175">
                <a:solidFill>
                  <a:srgbClr val="5959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68550" spcFirstLastPara="1" rIns="685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72600" y="2014200"/>
                <a:ext cx="449375" cy="625"/>
              </a:xfrm>
              <a:custGeom>
                <a:rect b="b" l="l" r="r" t="t"/>
                <a:pathLst>
                  <a:path extrusionOk="0" fill="none" h="25" w="17975">
                    <a:moveTo>
                      <a:pt x="0" y="0"/>
                    </a:moveTo>
                    <a:lnTo>
                      <a:pt x="0" y="0"/>
                    </a:lnTo>
                    <a:lnTo>
                      <a:pt x="98" y="25"/>
                    </a:lnTo>
                    <a:lnTo>
                      <a:pt x="171" y="25"/>
                    </a:lnTo>
                    <a:lnTo>
                      <a:pt x="17804" y="25"/>
                    </a:lnTo>
                    <a:lnTo>
                      <a:pt x="17804" y="25"/>
                    </a:lnTo>
                    <a:lnTo>
                      <a:pt x="17877" y="25"/>
                    </a:lnTo>
                    <a:lnTo>
                      <a:pt x="17974" y="0"/>
                    </a:lnTo>
                  </a:path>
                </a:pathLst>
              </a:custGeom>
              <a:solidFill>
                <a:schemeClr val="accent2"/>
              </a:solidFill>
              <a:ln cap="rnd" cmpd="sng" w="12175">
                <a:solidFill>
                  <a:srgbClr val="5959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68550" spcFirstLastPara="1" rIns="685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1"/>
            <p:cNvGrpSpPr/>
            <p:nvPr/>
          </p:nvGrpSpPr>
          <p:grpSpPr>
            <a:xfrm>
              <a:off x="-14748" y="986564"/>
              <a:ext cx="6339348" cy="3628907"/>
              <a:chOff x="-14748" y="986564"/>
              <a:chExt cx="6339348" cy="3628907"/>
            </a:xfrm>
          </p:grpSpPr>
          <p:sp>
            <p:nvSpPr>
              <p:cNvPr id="103" name="Google Shape;103;p1"/>
              <p:cNvSpPr/>
              <p:nvPr/>
            </p:nvSpPr>
            <p:spPr>
              <a:xfrm>
                <a:off x="0" y="1529371"/>
                <a:ext cx="5743977" cy="3086100"/>
              </a:xfrm>
              <a:prstGeom prst="homePlate">
                <a:avLst>
                  <a:gd fmla="val 50000" name="adj"/>
                </a:avLst>
              </a:prstGeom>
              <a:solidFill>
                <a:srgbClr val="59595B"/>
              </a:solidFill>
              <a:ln cap="flat" cmpd="sng" w="25400">
                <a:solidFill>
                  <a:srgbClr val="59595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l" dist="38100">
                  <a:srgbClr val="000000">
                    <a:alpha val="29803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4" name="Google Shape;104;p1"/>
              <p:cNvGrpSpPr/>
              <p:nvPr/>
            </p:nvGrpSpPr>
            <p:grpSpPr>
              <a:xfrm>
                <a:off x="-14748" y="986564"/>
                <a:ext cx="4014973" cy="1075928"/>
                <a:chOff x="-19391" y="1011603"/>
                <a:chExt cx="5278947" cy="1075928"/>
              </a:xfrm>
            </p:grpSpPr>
            <p:sp>
              <p:nvSpPr>
                <p:cNvPr id="105" name="Google Shape;105;p1"/>
                <p:cNvSpPr/>
                <p:nvPr/>
              </p:nvSpPr>
              <p:spPr>
                <a:xfrm>
                  <a:off x="-19391" y="1011603"/>
                  <a:ext cx="5278947" cy="1075928"/>
                </a:xfrm>
                <a:prstGeom prst="homePlate">
                  <a:avLst>
                    <a:gd fmla="val 50000" name="adj"/>
                  </a:avLst>
                </a:prstGeom>
                <a:solidFill>
                  <a:srgbClr val="00AAAD"/>
                </a:solidFill>
                <a:ln>
                  <a:noFill/>
                </a:ln>
                <a:effectLst>
                  <a:outerShdw blurRad="50800" rotWithShape="0" algn="l" dist="38100">
                    <a:srgbClr val="000000">
                      <a:alpha val="29803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1"/>
                <p:cNvSpPr txBox="1"/>
                <p:nvPr/>
              </p:nvSpPr>
              <p:spPr>
                <a:xfrm>
                  <a:off x="237042" y="1334124"/>
                  <a:ext cx="4181886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Computer Graphics</a:t>
                  </a:r>
                  <a:endParaRPr/>
                </a:p>
              </p:txBody>
            </p:sp>
          </p:grpSp>
          <p:sp>
            <p:nvSpPr>
              <p:cNvPr id="107" name="Google Shape;107;p1"/>
              <p:cNvSpPr txBox="1"/>
              <p:nvPr/>
            </p:nvSpPr>
            <p:spPr>
              <a:xfrm>
                <a:off x="177780" y="2315222"/>
                <a:ext cx="4692146" cy="2154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3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Unit-3 part 1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3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2D transformation and viewing pipeline</a:t>
                </a:r>
                <a:endParaRPr/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652237" y="1529372"/>
                <a:ext cx="1672363" cy="3086099"/>
              </a:xfrm>
              <a:custGeom>
                <a:rect b="b" l="l" r="r" t="t"/>
                <a:pathLst>
                  <a:path extrusionOk="0" h="3086099" w="1672363">
                    <a:moveTo>
                      <a:pt x="0" y="0"/>
                    </a:moveTo>
                    <a:lnTo>
                      <a:pt x="129314" y="0"/>
                    </a:lnTo>
                    <a:lnTo>
                      <a:pt x="1672363" y="1543050"/>
                    </a:lnTo>
                    <a:lnTo>
                      <a:pt x="129314" y="3086099"/>
                    </a:lnTo>
                    <a:lnTo>
                      <a:pt x="0" y="3086099"/>
                    </a:lnTo>
                    <a:lnTo>
                      <a:pt x="1543049" y="1543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6A9"/>
              </a:solidFill>
              <a:ln>
                <a:noFill/>
              </a:ln>
              <a:effectLst>
                <a:outerShdw blurRad="50800" rotWithShape="0" algn="l" dist="38100">
                  <a:srgbClr val="000000">
                    <a:alpha val="29803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9" name="Google Shape;109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10" name="Google Shape;110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roduction to Computer Graphics, Section 2.3 -- Transforms" id="111" name="Google Shape;1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2422947"/>
            <a:ext cx="3407526" cy="1453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7" name="Google Shape;117;p2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Transformation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Basic transformation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Matrix representation and homogeneous coordinates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Composite transformation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Other transformation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viewing pipeline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Viewing coordinate reference frame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Window-to-viewport coordinate transformation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Point clipping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Line clipping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Polygon clipping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19" name="Google Shape;1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Transformation</a:t>
            </a:r>
            <a:endParaRPr/>
          </a:p>
        </p:txBody>
      </p:sp>
      <p:sp>
        <p:nvSpPr>
          <p:cNvPr id="125" name="Google Shape;125;p3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Changing Position, shape, size, or orientation of an object is known as transformation.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126" name="Google Shape;126;p3"/>
          <p:cNvSpPr/>
          <p:nvPr/>
        </p:nvSpPr>
        <p:spPr>
          <a:xfrm>
            <a:off x="914400" y="2133600"/>
            <a:ext cx="762000" cy="76200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14400" y="2133600"/>
            <a:ext cx="762000" cy="7620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3"/>
          <p:cNvCxnSpPr/>
          <p:nvPr/>
        </p:nvCxnSpPr>
        <p:spPr>
          <a:xfrm>
            <a:off x="1295400" y="3124200"/>
            <a:ext cx="0" cy="838200"/>
          </a:xfrm>
          <a:prstGeom prst="straightConnector1">
            <a:avLst/>
          </a:prstGeom>
          <a:noFill/>
          <a:ln cap="flat" cmpd="sng" w="952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3"/>
          <p:cNvSpPr/>
          <p:nvPr/>
        </p:nvSpPr>
        <p:spPr>
          <a:xfrm>
            <a:off x="2667000" y="2133600"/>
            <a:ext cx="1219200" cy="762000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>
            <a:off x="3200400" y="3159456"/>
            <a:ext cx="0" cy="838200"/>
          </a:xfrm>
          <a:prstGeom prst="straightConnector1">
            <a:avLst/>
          </a:prstGeom>
          <a:noFill/>
          <a:ln cap="flat" cmpd="sng" w="952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3"/>
          <p:cNvSpPr/>
          <p:nvPr/>
        </p:nvSpPr>
        <p:spPr>
          <a:xfrm>
            <a:off x="2514600" y="4343400"/>
            <a:ext cx="1371600" cy="685800"/>
          </a:xfrm>
          <a:prstGeom prst="parallelogram">
            <a:avLst>
              <a:gd fmla="val 25000" name="adj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953000" y="2057400"/>
            <a:ext cx="762000" cy="762000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3"/>
          <p:cNvCxnSpPr/>
          <p:nvPr/>
        </p:nvCxnSpPr>
        <p:spPr>
          <a:xfrm>
            <a:off x="5334000" y="3200400"/>
            <a:ext cx="0" cy="838200"/>
          </a:xfrm>
          <a:prstGeom prst="straightConnector1">
            <a:avLst/>
          </a:prstGeom>
          <a:noFill/>
          <a:ln cap="flat" cmpd="sng" w="952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3"/>
          <p:cNvSpPr/>
          <p:nvPr/>
        </p:nvSpPr>
        <p:spPr>
          <a:xfrm>
            <a:off x="4733925" y="4343396"/>
            <a:ext cx="1285875" cy="1285875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7010400" y="1981200"/>
            <a:ext cx="1371600" cy="10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3"/>
          <p:cNvCxnSpPr/>
          <p:nvPr/>
        </p:nvCxnSpPr>
        <p:spPr>
          <a:xfrm>
            <a:off x="7620000" y="3249304"/>
            <a:ext cx="0" cy="838200"/>
          </a:xfrm>
          <a:prstGeom prst="straightConnector1">
            <a:avLst/>
          </a:prstGeom>
          <a:noFill/>
          <a:ln cap="flat" cmpd="sng" w="952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3"/>
          <p:cNvSpPr/>
          <p:nvPr/>
        </p:nvSpPr>
        <p:spPr>
          <a:xfrm rot="5400000">
            <a:off x="6934200" y="4343400"/>
            <a:ext cx="1371600" cy="10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39" name="Google Shape;13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Transformation</a:t>
            </a:r>
            <a:endParaRPr/>
          </a:p>
        </p:txBody>
      </p:sp>
      <p:sp>
        <p:nvSpPr>
          <p:cNvPr id="145" name="Google Shape;145;p4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includes three transformations 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Translation</a:t>
            </a:r>
            <a:r>
              <a:rPr lang="en-US"/>
              <a:t>, 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Rotation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Scaling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These are known as basic transformation because with combination of them we can obtain any transformation.</a:t>
            </a:r>
            <a:endParaRPr/>
          </a:p>
        </p:txBody>
      </p:sp>
      <p:sp>
        <p:nvSpPr>
          <p:cNvPr id="146" name="Google Shape;14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47" name="Google Shape;14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Translation</a:t>
            </a:r>
            <a:endParaRPr/>
          </a:p>
        </p:txBody>
      </p:sp>
      <p:sp>
        <p:nvSpPr>
          <p:cNvPr id="153" name="Google Shape;153;p5"/>
          <p:cNvSpPr txBox="1"/>
          <p:nvPr>
            <p:ph idx="4294967295" type="body"/>
          </p:nvPr>
        </p:nvSpPr>
        <p:spPr>
          <a:xfrm>
            <a:off x="0" y="990600"/>
            <a:ext cx="58293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77" r="-1984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019800" y="16002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715000" y="914400"/>
            <a:ext cx="3578962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674023" y="2566930"/>
            <a:ext cx="691083" cy="3906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7577451" y="1632866"/>
            <a:ext cx="672552" cy="3689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 Math"/>
              <a:buNone/>
            </a:pPr>
            <a:r>
              <a:rPr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(x',y')</a:t>
            </a:r>
            <a:endParaRPr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 flipH="1" rot="10800000">
            <a:off x="6206866" y="990600"/>
            <a:ext cx="772" cy="271959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5"/>
          <p:cNvCxnSpPr/>
          <p:nvPr/>
        </p:nvCxnSpPr>
        <p:spPr>
          <a:xfrm>
            <a:off x="5960547" y="3483240"/>
            <a:ext cx="3097134" cy="77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5"/>
          <p:cNvCxnSpPr/>
          <p:nvPr/>
        </p:nvCxnSpPr>
        <p:spPr>
          <a:xfrm>
            <a:off x="7235383" y="2888063"/>
            <a:ext cx="0" cy="59517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5"/>
          <p:cNvCxnSpPr/>
          <p:nvPr/>
        </p:nvCxnSpPr>
        <p:spPr>
          <a:xfrm rot="10800000">
            <a:off x="6207638" y="2888063"/>
            <a:ext cx="10277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5"/>
          <p:cNvCxnSpPr/>
          <p:nvPr/>
        </p:nvCxnSpPr>
        <p:spPr>
          <a:xfrm flipH="1">
            <a:off x="6206866" y="1950139"/>
            <a:ext cx="2048541" cy="77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5"/>
          <p:cNvCxnSpPr/>
          <p:nvPr/>
        </p:nvCxnSpPr>
        <p:spPr>
          <a:xfrm>
            <a:off x="8255407" y="1950139"/>
            <a:ext cx="772" cy="15493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4" name="Google Shape;164;p5"/>
          <p:cNvSpPr/>
          <p:nvPr/>
        </p:nvSpPr>
        <p:spPr>
          <a:xfrm>
            <a:off x="7541159" y="3094947"/>
            <a:ext cx="358282" cy="311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endParaRPr baseline="-25000"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234664" y="2245797"/>
            <a:ext cx="358282" cy="3211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i="1" lang="en-US" sz="105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endParaRPr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7855428" y="3275584"/>
            <a:ext cx="394574" cy="77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5"/>
          <p:cNvCxnSpPr/>
          <p:nvPr/>
        </p:nvCxnSpPr>
        <p:spPr>
          <a:xfrm rot="10800000">
            <a:off x="7249282" y="3270181"/>
            <a:ext cx="342067" cy="540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5"/>
          <p:cNvCxnSpPr/>
          <p:nvPr/>
        </p:nvCxnSpPr>
        <p:spPr>
          <a:xfrm flipH="1" rot="10800000">
            <a:off x="6381374" y="1935472"/>
            <a:ext cx="11582" cy="31032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5"/>
          <p:cNvCxnSpPr/>
          <p:nvPr/>
        </p:nvCxnSpPr>
        <p:spPr>
          <a:xfrm>
            <a:off x="6381374" y="2566930"/>
            <a:ext cx="0" cy="3211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5"/>
          <p:cNvCxnSpPr/>
          <p:nvPr/>
        </p:nvCxnSpPr>
        <p:spPr>
          <a:xfrm flipH="1" rot="10800000">
            <a:off x="7235383" y="1950139"/>
            <a:ext cx="1020023" cy="9379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71" name="Google Shape;171;p5"/>
          <p:cNvSpPr/>
          <p:nvPr/>
        </p:nvSpPr>
        <p:spPr>
          <a:xfrm>
            <a:off x="8255407" y="4165765"/>
            <a:ext cx="377586" cy="528789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674023" y="5326784"/>
            <a:ext cx="691083" cy="3906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577451" y="4392720"/>
            <a:ext cx="672552" cy="3689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 Math"/>
              <a:buNone/>
            </a:pPr>
            <a:r>
              <a:rPr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(x',y')</a:t>
            </a:r>
            <a:endParaRPr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5"/>
          <p:cNvCxnSpPr/>
          <p:nvPr/>
        </p:nvCxnSpPr>
        <p:spPr>
          <a:xfrm flipH="1" rot="10800000">
            <a:off x="6206866" y="3750454"/>
            <a:ext cx="772" cy="271959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5"/>
          <p:cNvCxnSpPr/>
          <p:nvPr/>
        </p:nvCxnSpPr>
        <p:spPr>
          <a:xfrm>
            <a:off x="5960547" y="6243094"/>
            <a:ext cx="3097134" cy="77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5"/>
          <p:cNvSpPr/>
          <p:nvPr/>
        </p:nvSpPr>
        <p:spPr>
          <a:xfrm>
            <a:off x="7235383" y="5119129"/>
            <a:ext cx="377586" cy="528789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>
            <a:off x="7235383" y="5647917"/>
            <a:ext cx="0" cy="59517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5"/>
          <p:cNvCxnSpPr/>
          <p:nvPr/>
        </p:nvCxnSpPr>
        <p:spPr>
          <a:xfrm rot="10800000">
            <a:off x="6207638" y="5647917"/>
            <a:ext cx="10277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5"/>
          <p:cNvCxnSpPr/>
          <p:nvPr/>
        </p:nvCxnSpPr>
        <p:spPr>
          <a:xfrm flipH="1">
            <a:off x="6206866" y="4709993"/>
            <a:ext cx="2048541" cy="77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5"/>
          <p:cNvCxnSpPr/>
          <p:nvPr/>
        </p:nvCxnSpPr>
        <p:spPr>
          <a:xfrm>
            <a:off x="8255407" y="4709993"/>
            <a:ext cx="772" cy="15493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1" name="Google Shape;181;p5"/>
          <p:cNvSpPr/>
          <p:nvPr/>
        </p:nvSpPr>
        <p:spPr>
          <a:xfrm>
            <a:off x="7541159" y="5854801"/>
            <a:ext cx="358282" cy="3118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endParaRPr baseline="-25000"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234664" y="5005651"/>
            <a:ext cx="358282" cy="3211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7475" lIns="74975" spcFirstLastPara="1" rIns="74975" wrap="square" tIns="3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i="1" lang="en-US" sz="105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endParaRPr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7855428" y="6035438"/>
            <a:ext cx="394574" cy="77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5"/>
          <p:cNvCxnSpPr/>
          <p:nvPr/>
        </p:nvCxnSpPr>
        <p:spPr>
          <a:xfrm rot="10800000">
            <a:off x="7249282" y="6030035"/>
            <a:ext cx="342067" cy="540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5"/>
          <p:cNvCxnSpPr/>
          <p:nvPr/>
        </p:nvCxnSpPr>
        <p:spPr>
          <a:xfrm flipH="1" rot="10800000">
            <a:off x="6381374" y="4695326"/>
            <a:ext cx="11582" cy="31032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381374" y="5326784"/>
            <a:ext cx="0" cy="3211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5"/>
          <p:cNvCxnSpPr/>
          <p:nvPr/>
        </p:nvCxnSpPr>
        <p:spPr>
          <a:xfrm flipH="1" rot="10800000">
            <a:off x="7235383" y="4709993"/>
            <a:ext cx="1020023" cy="9379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88" name="Google Shape;188;p5"/>
          <p:cNvSpPr/>
          <p:nvPr/>
        </p:nvSpPr>
        <p:spPr>
          <a:xfrm>
            <a:off x="7196510" y="2855516"/>
            <a:ext cx="91440" cy="914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90" name="Google Shape;19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196" name="Google Shape;196;p6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-1529" t="-29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97" name="Google Shape;19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98" name="Google Shape;19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Translation Example</a:t>
            </a:r>
            <a:endParaRPr/>
          </a:p>
        </p:txBody>
      </p:sp>
      <p:sp>
        <p:nvSpPr>
          <p:cNvPr id="204" name="Google Shape;204;p7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98" r="-1667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05" name="Google Shape;205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206" name="Google Shape;206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6134372" y="3724093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∅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8"/>
          <p:cNvCxnSpPr/>
          <p:nvPr/>
        </p:nvCxnSpPr>
        <p:spPr>
          <a:xfrm flipH="1" rot="10800000">
            <a:off x="5643403" y="3179257"/>
            <a:ext cx="2080182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Rotation</a:t>
            </a:r>
            <a:endParaRPr/>
          </a:p>
        </p:txBody>
      </p:sp>
      <p:sp>
        <p:nvSpPr>
          <p:cNvPr id="214" name="Google Shape;214;p8"/>
          <p:cNvSpPr txBox="1"/>
          <p:nvPr>
            <p:ph idx="4294967295" type="body"/>
          </p:nvPr>
        </p:nvSpPr>
        <p:spPr>
          <a:xfrm>
            <a:off x="0" y="990600"/>
            <a:ext cx="8763000" cy="541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-973" t="-9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105400" y="1143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105400" y="1371600"/>
            <a:ext cx="398653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225940" y="3179257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θ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8"/>
          <p:cNvCxnSpPr/>
          <p:nvPr/>
        </p:nvCxnSpPr>
        <p:spPr>
          <a:xfrm flipH="1" rot="10800000">
            <a:off x="5643403" y="1500089"/>
            <a:ext cx="718" cy="282183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8"/>
          <p:cNvCxnSpPr/>
          <p:nvPr/>
        </p:nvCxnSpPr>
        <p:spPr>
          <a:xfrm>
            <a:off x="5266298" y="3987239"/>
            <a:ext cx="3491631" cy="14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8"/>
          <p:cNvCxnSpPr/>
          <p:nvPr/>
        </p:nvCxnSpPr>
        <p:spPr>
          <a:xfrm flipH="1" rot="9000000">
            <a:off x="5285776" y="2719776"/>
            <a:ext cx="2091346" cy="8120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8"/>
          <p:cNvSpPr/>
          <p:nvPr/>
        </p:nvSpPr>
        <p:spPr>
          <a:xfrm>
            <a:off x="6075098" y="3825643"/>
            <a:ext cx="102716" cy="161597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167040" y="3340853"/>
            <a:ext cx="231291" cy="344739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8"/>
          <p:cNvCxnSpPr/>
          <p:nvPr/>
        </p:nvCxnSpPr>
        <p:spPr>
          <a:xfrm>
            <a:off x="7723584" y="3179257"/>
            <a:ext cx="0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8"/>
          <p:cNvCxnSpPr/>
          <p:nvPr/>
        </p:nvCxnSpPr>
        <p:spPr>
          <a:xfrm>
            <a:off x="7034021" y="2252770"/>
            <a:ext cx="718" cy="173447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8"/>
          <p:cNvSpPr/>
          <p:nvPr/>
        </p:nvSpPr>
        <p:spPr>
          <a:xfrm>
            <a:off x="6646142" y="1801736"/>
            <a:ext cx="86195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(x',y')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421901" y="2738278"/>
            <a:ext cx="732661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668904" y="3124200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5500636" y="4105093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∅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 flipH="1" rot="10800000">
            <a:off x="5009667" y="3560257"/>
            <a:ext cx="2080182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9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Rotation Equation</a:t>
            </a:r>
            <a:endParaRPr/>
          </a:p>
        </p:txBody>
      </p:sp>
      <p:sp>
        <p:nvSpPr>
          <p:cNvPr id="236" name="Google Shape;236;p9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51" r="-1319" t="-114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105400" y="1143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471664" y="1676400"/>
            <a:ext cx="398653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592204" y="3560257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θ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9"/>
          <p:cNvCxnSpPr/>
          <p:nvPr/>
        </p:nvCxnSpPr>
        <p:spPr>
          <a:xfrm flipH="1" rot="10800000">
            <a:off x="5009667" y="1881089"/>
            <a:ext cx="718" cy="282183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9"/>
          <p:cNvCxnSpPr/>
          <p:nvPr/>
        </p:nvCxnSpPr>
        <p:spPr>
          <a:xfrm>
            <a:off x="4632562" y="4368239"/>
            <a:ext cx="3491631" cy="14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9"/>
          <p:cNvCxnSpPr/>
          <p:nvPr/>
        </p:nvCxnSpPr>
        <p:spPr>
          <a:xfrm flipH="1" rot="9000000">
            <a:off x="4654111" y="3108505"/>
            <a:ext cx="2080900" cy="8065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9"/>
          <p:cNvSpPr/>
          <p:nvPr/>
        </p:nvSpPr>
        <p:spPr>
          <a:xfrm>
            <a:off x="5441362" y="4206643"/>
            <a:ext cx="102716" cy="161597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533304" y="3721853"/>
            <a:ext cx="231291" cy="344739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7089848" y="3560257"/>
            <a:ext cx="0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9"/>
          <p:cNvCxnSpPr/>
          <p:nvPr/>
        </p:nvCxnSpPr>
        <p:spPr>
          <a:xfrm>
            <a:off x="6393461" y="2633770"/>
            <a:ext cx="718" cy="173447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9"/>
          <p:cNvSpPr/>
          <p:nvPr/>
        </p:nvSpPr>
        <p:spPr>
          <a:xfrm>
            <a:off x="6012406" y="2182736"/>
            <a:ext cx="86195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(x',y')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788165" y="3119278"/>
            <a:ext cx="732661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035168" y="3505200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251" name="Google Shape;2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5881636" y="3952693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∅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 flipH="1" rot="10800000">
            <a:off x="5390667" y="3407857"/>
            <a:ext cx="2080182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1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259" name="Google Shape;259;p10"/>
          <p:cNvSpPr txBox="1"/>
          <p:nvPr>
            <p:ph idx="4294967295" type="body"/>
          </p:nvPr>
        </p:nvSpPr>
        <p:spPr>
          <a:xfrm>
            <a:off x="152400" y="1066800"/>
            <a:ext cx="8772525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1" r="0" t="-9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105400" y="1143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852664" y="1524000"/>
            <a:ext cx="398653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973204" y="3407857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θ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0"/>
          <p:cNvCxnSpPr/>
          <p:nvPr/>
        </p:nvCxnSpPr>
        <p:spPr>
          <a:xfrm flipH="1" rot="10800000">
            <a:off x="5390667" y="1728689"/>
            <a:ext cx="718" cy="282183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10"/>
          <p:cNvCxnSpPr/>
          <p:nvPr/>
        </p:nvCxnSpPr>
        <p:spPr>
          <a:xfrm>
            <a:off x="5013562" y="4215839"/>
            <a:ext cx="3491631" cy="14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10"/>
          <p:cNvCxnSpPr/>
          <p:nvPr/>
        </p:nvCxnSpPr>
        <p:spPr>
          <a:xfrm flipH="1" rot="9000000">
            <a:off x="5032683" y="2947047"/>
            <a:ext cx="2086743" cy="8146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10"/>
          <p:cNvSpPr/>
          <p:nvPr/>
        </p:nvSpPr>
        <p:spPr>
          <a:xfrm>
            <a:off x="5822362" y="4054243"/>
            <a:ext cx="102716" cy="161597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914304" y="3569453"/>
            <a:ext cx="231291" cy="344739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0"/>
          <p:cNvCxnSpPr/>
          <p:nvPr/>
        </p:nvCxnSpPr>
        <p:spPr>
          <a:xfrm>
            <a:off x="7470848" y="3407857"/>
            <a:ext cx="0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10"/>
          <p:cNvCxnSpPr/>
          <p:nvPr/>
        </p:nvCxnSpPr>
        <p:spPr>
          <a:xfrm>
            <a:off x="6775969" y="2481370"/>
            <a:ext cx="718" cy="173447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10"/>
          <p:cNvSpPr/>
          <p:nvPr/>
        </p:nvSpPr>
        <p:spPr>
          <a:xfrm>
            <a:off x="6393406" y="2030336"/>
            <a:ext cx="86195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(x',y')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169165" y="2966878"/>
            <a:ext cx="732661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7416168" y="3352800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274" name="Google Shape;27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 txBox="1"/>
          <p:nvPr>
            <p:ph idx="11" type="ftr"/>
          </p:nvPr>
        </p:nvSpPr>
        <p:spPr>
          <a:xfrm>
            <a:off x="3124200" y="614996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  <p:pic>
        <p:nvPicPr>
          <p:cNvPr id="280" name="Google Shape;2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6815" y="5692947"/>
            <a:ext cx="952500" cy="88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3615" y="5692947"/>
            <a:ext cx="1526801" cy="88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0132" y="5692947"/>
            <a:ext cx="1065268" cy="8604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1066800" y="217800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5236815" y="5181600"/>
            <a:ext cx="15268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C.M = T‘ 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968859" y="2909804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∅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1"/>
          <p:cNvCxnSpPr/>
          <p:nvPr/>
        </p:nvCxnSpPr>
        <p:spPr>
          <a:xfrm flipH="1" rot="10800000">
            <a:off x="5477890" y="2364968"/>
            <a:ext cx="2080182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2801216" y="762000"/>
            <a:ext cx="398653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060427" y="2364968"/>
            <a:ext cx="30168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θ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1"/>
          <p:cNvCxnSpPr/>
          <p:nvPr/>
        </p:nvCxnSpPr>
        <p:spPr>
          <a:xfrm flipH="1" rot="10800000">
            <a:off x="5477890" y="685800"/>
            <a:ext cx="718" cy="282183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p11"/>
          <p:cNvCxnSpPr/>
          <p:nvPr/>
        </p:nvCxnSpPr>
        <p:spPr>
          <a:xfrm>
            <a:off x="5100785" y="3172950"/>
            <a:ext cx="3491631" cy="14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11"/>
          <p:cNvCxnSpPr/>
          <p:nvPr/>
        </p:nvCxnSpPr>
        <p:spPr>
          <a:xfrm flipH="1" rot="9000000">
            <a:off x="5146386" y="1882682"/>
            <a:ext cx="2086743" cy="8146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1"/>
          <p:cNvSpPr/>
          <p:nvPr/>
        </p:nvSpPr>
        <p:spPr>
          <a:xfrm>
            <a:off x="5909585" y="3011354"/>
            <a:ext cx="102716" cy="161597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001527" y="2526564"/>
            <a:ext cx="231291" cy="344739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1"/>
          <p:cNvCxnSpPr/>
          <p:nvPr/>
        </p:nvCxnSpPr>
        <p:spPr>
          <a:xfrm>
            <a:off x="7558071" y="2364968"/>
            <a:ext cx="0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11"/>
          <p:cNvCxnSpPr/>
          <p:nvPr/>
        </p:nvCxnSpPr>
        <p:spPr>
          <a:xfrm>
            <a:off x="6863192" y="1438481"/>
            <a:ext cx="718" cy="173447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1"/>
          <p:cNvSpPr/>
          <p:nvPr/>
        </p:nvSpPr>
        <p:spPr>
          <a:xfrm>
            <a:off x="6480629" y="987447"/>
            <a:ext cx="861954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(x',y')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256388" y="1923989"/>
            <a:ext cx="732661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503391" y="2309911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1"/>
          <p:cNvCxnSpPr/>
          <p:nvPr/>
        </p:nvCxnSpPr>
        <p:spPr>
          <a:xfrm flipH="1" rot="10800000">
            <a:off x="1330634" y="1374035"/>
            <a:ext cx="2080182" cy="8079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1"/>
          <p:cNvCxnSpPr/>
          <p:nvPr/>
        </p:nvCxnSpPr>
        <p:spPr>
          <a:xfrm flipH="1" rot="10800000">
            <a:off x="601090" y="914863"/>
            <a:ext cx="718" cy="17521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p11"/>
          <p:cNvCxnSpPr/>
          <p:nvPr/>
        </p:nvCxnSpPr>
        <p:spPr>
          <a:xfrm>
            <a:off x="223985" y="2667000"/>
            <a:ext cx="3491631" cy="14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" name="Google Shape;302;p11"/>
          <p:cNvSpPr/>
          <p:nvPr/>
        </p:nvSpPr>
        <p:spPr>
          <a:xfrm>
            <a:off x="2982955" y="916835"/>
            <a:ext cx="732661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410816" y="1297835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277216" y="2136035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415122" y="3074995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1"/>
          <p:cNvCxnSpPr/>
          <p:nvPr/>
        </p:nvCxnSpPr>
        <p:spPr>
          <a:xfrm flipH="1" rot="10800000">
            <a:off x="591416" y="3655165"/>
            <a:ext cx="718" cy="282183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p11"/>
          <p:cNvCxnSpPr/>
          <p:nvPr/>
        </p:nvCxnSpPr>
        <p:spPr>
          <a:xfrm>
            <a:off x="577086" y="6477000"/>
            <a:ext cx="2623314" cy="143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" name="Google Shape;308;p11"/>
          <p:cNvSpPr/>
          <p:nvPr/>
        </p:nvSpPr>
        <p:spPr>
          <a:xfrm>
            <a:off x="2973281" y="3962400"/>
            <a:ext cx="894735" cy="377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800" lIns="69600" spcFirstLastPara="1" rIns="69600" wrap="square" tIns="3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None/>
            </a:pPr>
            <a:r>
              <a:rPr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(x’’, y’’)</a:t>
            </a:r>
            <a:endParaRPr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715342" y="3451125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267542" y="5181600"/>
            <a:ext cx="129294" cy="127840"/>
          </a:xfrm>
          <a:prstGeom prst="flowChartConnector">
            <a:avLst/>
          </a:prstGeom>
          <a:solidFill>
            <a:srgbClr val="FF0000"/>
          </a:solidFill>
          <a:ln cap="flat" cmpd="sng" w="25400">
            <a:solidFill>
              <a:srgbClr val="E40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1"/>
          <p:cNvCxnSpPr/>
          <p:nvPr/>
        </p:nvCxnSpPr>
        <p:spPr>
          <a:xfrm flipH="1" rot="9000000">
            <a:off x="1021912" y="3973564"/>
            <a:ext cx="2086743" cy="8146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1"/>
          <p:cNvSpPr txBox="1"/>
          <p:nvPr/>
        </p:nvSpPr>
        <p:spPr>
          <a:xfrm>
            <a:off x="972416" y="2286000"/>
            <a:ext cx="1567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point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152400" y="0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 about arbitrary point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083047" y="1923989"/>
            <a:ext cx="813024" cy="457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 flipH="1" rot="-2537676">
            <a:off x="4434512" y="3961326"/>
            <a:ext cx="749191" cy="11128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Rotation Example</a:t>
            </a:r>
            <a:endParaRPr/>
          </a:p>
        </p:txBody>
      </p:sp>
      <p:sp>
        <p:nvSpPr>
          <p:cNvPr id="322" name="Google Shape;322;p12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-9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23" name="Google Shape;32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324" name="Google Shape;32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Scaling</a:t>
            </a:r>
            <a:endParaRPr/>
          </a:p>
        </p:txBody>
      </p:sp>
      <p:sp>
        <p:nvSpPr>
          <p:cNvPr id="330" name="Google Shape;330;p13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-1529" t="-29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6705600" y="2667000"/>
            <a:ext cx="762000" cy="533400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334" name="Google Shape;3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340" name="Google Shape;340;p14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-973" t="-9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5520186" y="3659282"/>
            <a:ext cx="3547614" cy="2893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4"/>
          <p:cNvCxnSpPr/>
          <p:nvPr/>
        </p:nvCxnSpPr>
        <p:spPr>
          <a:xfrm flipH="1" rot="10800000">
            <a:off x="6007361" y="3746232"/>
            <a:ext cx="1327" cy="2667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14"/>
          <p:cNvCxnSpPr/>
          <p:nvPr/>
        </p:nvCxnSpPr>
        <p:spPr>
          <a:xfrm>
            <a:off x="5669524" y="6154954"/>
            <a:ext cx="3106236" cy="66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14"/>
          <p:cNvSpPr/>
          <p:nvPr/>
        </p:nvSpPr>
        <p:spPr>
          <a:xfrm>
            <a:off x="6446747" y="5368419"/>
            <a:ext cx="477883" cy="457983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6324600" y="6172200"/>
            <a:ext cx="24746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5715000" y="5715000"/>
            <a:ext cx="24746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7203744" y="6172200"/>
            <a:ext cx="24746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5640042" y="4746008"/>
            <a:ext cx="24746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9" name="Google Shape;34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350" name="Google Shape;35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356" name="Google Shape;356;p15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51" r="-1319" t="-114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4114800" y="2514600"/>
            <a:ext cx="91440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1600200" y="4343400"/>
            <a:ext cx="18288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638800" y="4343400"/>
            <a:ext cx="2286000" cy="137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5"/>
          <p:cNvCxnSpPr/>
          <p:nvPr/>
        </p:nvCxnSpPr>
        <p:spPr>
          <a:xfrm flipH="1">
            <a:off x="3124200" y="3505200"/>
            <a:ext cx="1219200" cy="685800"/>
          </a:xfrm>
          <a:prstGeom prst="straightConnector1">
            <a:avLst/>
          </a:prstGeom>
          <a:noFill/>
          <a:ln cap="flat" cmpd="sng" w="1270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" name="Google Shape;361;p15"/>
          <p:cNvCxnSpPr/>
          <p:nvPr/>
        </p:nvCxnSpPr>
        <p:spPr>
          <a:xfrm>
            <a:off x="4724400" y="3505200"/>
            <a:ext cx="1143000" cy="762000"/>
          </a:xfrm>
          <a:prstGeom prst="straightConnector1">
            <a:avLst/>
          </a:prstGeom>
          <a:noFill/>
          <a:ln cap="flat" cmpd="sng" w="1270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15"/>
          <p:cNvSpPr txBox="1"/>
          <p:nvPr/>
        </p:nvSpPr>
        <p:spPr>
          <a:xfrm>
            <a:off x="1600200" y="3512403"/>
            <a:ext cx="1828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 Scaling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5638800" y="3546901"/>
            <a:ext cx="228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Differential Scaling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Fixed Point Scaling</a:t>
            </a:r>
            <a:endParaRPr/>
          </a:p>
        </p:txBody>
      </p:sp>
      <p:sp>
        <p:nvSpPr>
          <p:cNvPr id="370" name="Google Shape;370;p16"/>
          <p:cNvSpPr txBox="1"/>
          <p:nvPr>
            <p:ph idx="4294967295" type="body"/>
          </p:nvPr>
        </p:nvSpPr>
        <p:spPr>
          <a:xfrm>
            <a:off x="15240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51" r="-1319" t="-114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2958165" y="2590800"/>
            <a:ext cx="3082613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3765968" y="3643934"/>
            <a:ext cx="848944" cy="82993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6"/>
          <p:cNvCxnSpPr/>
          <p:nvPr/>
        </p:nvCxnSpPr>
        <p:spPr>
          <a:xfrm flipH="1" rot="10800000">
            <a:off x="3381484" y="2666353"/>
            <a:ext cx="1153" cy="23179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16"/>
          <p:cNvCxnSpPr/>
          <p:nvPr/>
        </p:nvCxnSpPr>
        <p:spPr>
          <a:xfrm>
            <a:off x="3087929" y="4759354"/>
            <a:ext cx="2699088" cy="57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16"/>
          <p:cNvSpPr/>
          <p:nvPr/>
        </p:nvSpPr>
        <p:spPr>
          <a:xfrm>
            <a:off x="3763278" y="4058611"/>
            <a:ext cx="415244" cy="415255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6"/>
          <p:cNvCxnSpPr/>
          <p:nvPr/>
        </p:nvCxnSpPr>
        <p:spPr>
          <a:xfrm flipH="1">
            <a:off x="3763278" y="3643933"/>
            <a:ext cx="1605035" cy="8299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16"/>
          <p:cNvSpPr/>
          <p:nvPr/>
        </p:nvSpPr>
        <p:spPr>
          <a:xfrm>
            <a:off x="4808886" y="3307692"/>
            <a:ext cx="1439514" cy="336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Point</a:t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379" name="Google Shape;37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Fixed Point Scaling Equation</a:t>
            </a:r>
            <a:endParaRPr/>
          </a:p>
        </p:txBody>
      </p:sp>
      <p:sp>
        <p:nvSpPr>
          <p:cNvPr id="385" name="Google Shape;385;p17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15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86" name="Google Shape;38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Scaling Example</a:t>
            </a:r>
            <a:endParaRPr/>
          </a:p>
        </p:txBody>
      </p:sp>
      <p:sp>
        <p:nvSpPr>
          <p:cNvPr id="392" name="Google Shape;392;p18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93" name="Google Shape;39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Matrix Representation and Homogeneous Coordinates</a:t>
            </a:r>
            <a:endParaRPr/>
          </a:p>
        </p:txBody>
      </p:sp>
      <p:sp>
        <p:nvSpPr>
          <p:cNvPr id="399" name="Google Shape;399;p19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Many graphics application involves sequence of geometric transformations.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example in design and picture construction application we perform Translation, Rotation, and scaling to fit the picture components into their proper positions.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efficient processing we will reformulate transformation sequences.</a:t>
            </a:r>
            <a:endParaRPr/>
          </a:p>
        </p:txBody>
      </p:sp>
      <p:sp>
        <p:nvSpPr>
          <p:cNvPr id="400" name="Google Shape;40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</a:t>
            </a:r>
            <a:r>
              <a:rPr lang="en-US" sz="3200"/>
              <a:t>.</a:t>
            </a:r>
            <a:endParaRPr/>
          </a:p>
        </p:txBody>
      </p:sp>
      <p:sp>
        <p:nvSpPr>
          <p:cNvPr id="406" name="Google Shape;406;p20"/>
          <p:cNvSpPr txBox="1"/>
          <p:nvPr>
            <p:ph idx="4294967295" type="body"/>
          </p:nvPr>
        </p:nvSpPr>
        <p:spPr>
          <a:xfrm>
            <a:off x="0" y="0"/>
            <a:ext cx="8894100" cy="635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2" r="-1042" t="-4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7" name="Google Shape;40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1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413" name="Google Shape;413;p21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14" name="Google Shape;41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420" name="Google Shape;420;p22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69" l="-1598" r="-1667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21" name="Google Shape;42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Matrix for Translation</a:t>
            </a:r>
            <a:endParaRPr/>
          </a:p>
        </p:txBody>
      </p:sp>
      <p:sp>
        <p:nvSpPr>
          <p:cNvPr id="427" name="Google Shape;427;p23"/>
          <p:cNvSpPr txBox="1"/>
          <p:nvPr>
            <p:ph idx="4294967295" type="body"/>
          </p:nvPr>
        </p:nvSpPr>
        <p:spPr>
          <a:xfrm>
            <a:off x="0" y="0"/>
            <a:ext cx="8894100" cy="646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-4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8" name="Google Shape;42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29" name="Google Shape;42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Homogeneous Matrix for Rotation</a:t>
            </a:r>
            <a:endParaRPr sz="3200"/>
          </a:p>
        </p:txBody>
      </p:sp>
      <p:sp>
        <p:nvSpPr>
          <p:cNvPr id="435" name="Google Shape;435;p24"/>
          <p:cNvSpPr txBox="1"/>
          <p:nvPr>
            <p:ph idx="4294967295" type="body"/>
          </p:nvPr>
        </p:nvSpPr>
        <p:spPr>
          <a:xfrm>
            <a:off x="0" y="0"/>
            <a:ext cx="9144000" cy="672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6" name="Google Shape;43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37" name="Google Shape;437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Homogeneous Matrix for Scaling</a:t>
            </a:r>
            <a:endParaRPr sz="3200"/>
          </a:p>
        </p:txBody>
      </p:sp>
      <p:sp>
        <p:nvSpPr>
          <p:cNvPr id="443" name="Google Shape;443;p25"/>
          <p:cNvSpPr txBox="1"/>
          <p:nvPr>
            <p:ph idx="4294967295" type="body"/>
          </p:nvPr>
        </p:nvSpPr>
        <p:spPr>
          <a:xfrm>
            <a:off x="0" y="0"/>
            <a:ext cx="9054600" cy="6268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4" name="Google Shape;44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45" name="Google Shape;44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Composite Transformation</a:t>
            </a:r>
            <a:endParaRPr/>
          </a:p>
        </p:txBody>
      </p:sp>
      <p:sp>
        <p:nvSpPr>
          <p:cNvPr id="451" name="Google Shape;451;p26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practice we need to apply more than one transformations to get desired result.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time consuming to apply transformation one by one on each point of object.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first we multiply all matrix of required transformations which is known as </a:t>
            </a:r>
            <a:r>
              <a:rPr b="1" lang="en-US"/>
              <a:t>composite transformation matrix.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Than we use composite transformation matrix to transform object.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column matrix representation, we form composite transformations by multiplying matrices from right to left.</a:t>
            </a:r>
            <a:endParaRPr/>
          </a:p>
        </p:txBody>
      </p:sp>
      <p:sp>
        <p:nvSpPr>
          <p:cNvPr id="452" name="Google Shape;45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53" name="Google Shape;45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Multiple Translations</a:t>
            </a:r>
            <a:endParaRPr/>
          </a:p>
        </p:txBody>
      </p:sp>
      <p:sp>
        <p:nvSpPr>
          <p:cNvPr id="459" name="Google Shape;459;p27"/>
          <p:cNvSpPr txBox="1"/>
          <p:nvPr>
            <p:ph idx="4294967295" type="body"/>
          </p:nvPr>
        </p:nvSpPr>
        <p:spPr>
          <a:xfrm>
            <a:off x="0" y="17859"/>
            <a:ext cx="9144000" cy="625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-4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0" name="Google Shape;46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61" name="Google Shape;46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467" name="Google Shape;467;p28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28" l="-1181" r="-12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68" name="Google Shape;46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69" name="Google Shape;46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9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Translations Example</a:t>
            </a:r>
            <a:endParaRPr/>
          </a:p>
        </p:txBody>
      </p:sp>
      <p:sp>
        <p:nvSpPr>
          <p:cNvPr id="475" name="Google Shape;475;p29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1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76" name="Google Shape;47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77" name="Google Shape;47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Multiple Rotations</a:t>
            </a:r>
            <a:endParaRPr/>
          </a:p>
        </p:txBody>
      </p:sp>
      <p:sp>
        <p:nvSpPr>
          <p:cNvPr id="483" name="Google Shape;483;p30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64" r="0" t="-19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84" name="Google Shape;48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85" name="Google Shape;48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1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491" name="Google Shape;491;p31"/>
          <p:cNvSpPr txBox="1"/>
          <p:nvPr>
            <p:ph idx="4294967295" type="body"/>
          </p:nvPr>
        </p:nvSpPr>
        <p:spPr>
          <a:xfrm>
            <a:off x="0" y="0"/>
            <a:ext cx="9144000" cy="672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2" r="-10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2" name="Google Shape;49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493" name="Google Shape;49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Rotations Example</a:t>
            </a:r>
            <a:endParaRPr/>
          </a:p>
        </p:txBody>
      </p:sp>
      <p:sp>
        <p:nvSpPr>
          <p:cNvPr id="499" name="Google Shape;499;p32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11" l="-973" r="-1041" t="-21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00" name="Google Shape;50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01" name="Google Shape;50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Multiple Scaling</a:t>
            </a:r>
            <a:endParaRPr/>
          </a:p>
        </p:txBody>
      </p:sp>
      <p:sp>
        <p:nvSpPr>
          <p:cNvPr id="507" name="Google Shape;507;p33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-13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08" name="Google Shape;50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09" name="Google Shape;50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515" name="Google Shape;515;p34"/>
          <p:cNvSpPr txBox="1"/>
          <p:nvPr>
            <p:ph idx="4294967295" type="body"/>
          </p:nvPr>
        </p:nvSpPr>
        <p:spPr>
          <a:xfrm>
            <a:off x="0" y="17859"/>
            <a:ext cx="9036900" cy="6590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2" r="-10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6" name="Google Shape;51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17" name="Google Shape;51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Scaling Example</a:t>
            </a:r>
            <a:endParaRPr/>
          </a:p>
        </p:txBody>
      </p:sp>
      <p:sp>
        <p:nvSpPr>
          <p:cNvPr id="523" name="Google Shape;523;p35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28" l="-1181" r="-1250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24" name="Google Shape;52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Pivot-Point Rotation</a:t>
            </a:r>
            <a:endParaRPr/>
          </a:p>
        </p:txBody>
      </p:sp>
      <p:sp>
        <p:nvSpPr>
          <p:cNvPr id="530" name="Google Shape;530;p36"/>
          <p:cNvSpPr txBox="1"/>
          <p:nvPr>
            <p:ph idx="4294967295" type="body"/>
          </p:nvPr>
        </p:nvSpPr>
        <p:spPr>
          <a:xfrm>
            <a:off x="0" y="990600"/>
            <a:ext cx="87630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rotating object about arbitrary point called pivot point we need to apply following sequence of transformation.</a:t>
            </a:r>
            <a:endParaRPr/>
          </a:p>
          <a:p>
            <a:pPr indent="-457200" lvl="1" marL="8572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Translate the object so that the pivot-point coincides with the coordinate origin.</a:t>
            </a:r>
            <a:endParaRPr/>
          </a:p>
          <a:p>
            <a:pPr indent="-457200" lvl="1" marL="8572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Rotate the object about the coordinate origin with specified angle.</a:t>
            </a:r>
            <a:endParaRPr/>
          </a:p>
          <a:p>
            <a:pPr indent="-457200" lvl="1" marL="8572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Translate the object so that the pivot-point is returned to its original position (i.e. Inverse of step-1).</a:t>
            </a:r>
            <a:endParaRPr/>
          </a:p>
        </p:txBody>
      </p:sp>
      <p:cxnSp>
        <p:nvCxnSpPr>
          <p:cNvPr id="531" name="Google Shape;531;p36"/>
          <p:cNvCxnSpPr/>
          <p:nvPr/>
        </p:nvCxnSpPr>
        <p:spPr>
          <a:xfrm rot="10800000">
            <a:off x="4114800" y="3657600"/>
            <a:ext cx="0" cy="2667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2" name="Google Shape;532;p36"/>
          <p:cNvCxnSpPr/>
          <p:nvPr/>
        </p:nvCxnSpPr>
        <p:spPr>
          <a:xfrm>
            <a:off x="2895600" y="5410200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33" name="Google Shape;533;p36"/>
          <p:cNvGrpSpPr/>
          <p:nvPr/>
        </p:nvGrpSpPr>
        <p:grpSpPr>
          <a:xfrm>
            <a:off x="4661848" y="4114800"/>
            <a:ext cx="752901" cy="792137"/>
            <a:chOff x="3290248" y="4114800"/>
            <a:chExt cx="752901" cy="792137"/>
          </a:xfrm>
        </p:grpSpPr>
        <p:sp>
          <p:nvSpPr>
            <p:cNvPr id="534" name="Google Shape;534;p36"/>
            <p:cNvSpPr/>
            <p:nvPr/>
          </p:nvSpPr>
          <p:spPr>
            <a:xfrm>
              <a:off x="3290248" y="4114800"/>
              <a:ext cx="752901" cy="792137"/>
            </a:xfrm>
            <a:prstGeom prst="triangle">
              <a:avLst>
                <a:gd fmla="val 50000" name="adj"/>
              </a:avLst>
            </a:prstGeom>
            <a:solidFill>
              <a:srgbClr val="FF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3628712" y="4480560"/>
              <a:ext cx="91440" cy="91440"/>
            </a:xfrm>
            <a:prstGeom prst="flowChartConnector">
              <a:avLst/>
            </a:prstGeom>
            <a:solidFill>
              <a:srgbClr val="002060"/>
            </a:solidFill>
            <a:ln cap="flat" cmpd="sng" w="254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6" name="Google Shape;53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37" name="Google Shape;53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General Pivot-Point Rotation Equation</a:t>
            </a:r>
            <a:endParaRPr/>
          </a:p>
        </p:txBody>
      </p:sp>
      <p:sp>
        <p:nvSpPr>
          <p:cNvPr id="543" name="Google Shape;543;p37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0" t="-1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44" name="Google Shape;54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45" name="Google Shape;54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551" name="Google Shape;551;p38"/>
          <p:cNvSpPr txBox="1"/>
          <p:nvPr>
            <p:ph idx="4294967295" type="body"/>
          </p:nvPr>
        </p:nvSpPr>
        <p:spPr>
          <a:xfrm>
            <a:off x="0" y="53578"/>
            <a:ext cx="9001200" cy="672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2" r="-10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2" name="Google Shape;55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53" name="Google Shape;55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General Pivot-Point Rotation Example</a:t>
            </a:r>
            <a:endParaRPr/>
          </a:p>
        </p:txBody>
      </p:sp>
      <p:sp>
        <p:nvSpPr>
          <p:cNvPr id="559" name="Google Shape;559;p39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347" t="-1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60" name="Google Shape;56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61" name="Google Shape;56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567" name="Google Shape;567;p40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64" r="0" t="-4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68" name="Google Shape;56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69" name="Google Shape;56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575" name="Google Shape;575;p41"/>
          <p:cNvSpPr txBox="1"/>
          <p:nvPr>
            <p:ph idx="4294967295" type="body"/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6" name="Google Shape;57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77" name="Google Shape;57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Fixed-Point Scaling</a:t>
            </a:r>
            <a:endParaRPr/>
          </a:p>
        </p:txBody>
      </p:sp>
      <p:sp>
        <p:nvSpPr>
          <p:cNvPr id="583" name="Google Shape;583;p42"/>
          <p:cNvSpPr txBox="1"/>
          <p:nvPr>
            <p:ph idx="4294967295" type="body"/>
          </p:nvPr>
        </p:nvSpPr>
        <p:spPr>
          <a:xfrm>
            <a:off x="0" y="914400"/>
            <a:ext cx="8763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scaling object with position of one point called fixed point will remains same, we need to apply following sequence of transformation.</a:t>
            </a:r>
            <a:endParaRPr/>
          </a:p>
          <a:p>
            <a:pPr indent="-457200" lvl="1" marL="8572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/>
              <a:t>Translate the object so that the fixed-point coincides with the coordinate origin.</a:t>
            </a:r>
            <a:endParaRPr/>
          </a:p>
          <a:p>
            <a:pPr indent="-457200" lvl="1" marL="8572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/>
              <a:t>Scale the object with respect to the coordinate origin with specified scale factors.</a:t>
            </a:r>
            <a:endParaRPr/>
          </a:p>
          <a:p>
            <a:pPr indent="-457200" lvl="1" marL="8572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/>
              <a:t>Translate the object so that the fixed-point is returned to its original position (i.e. Inverse of step-1).</a:t>
            </a:r>
            <a:endParaRPr/>
          </a:p>
        </p:txBody>
      </p:sp>
      <p:cxnSp>
        <p:nvCxnSpPr>
          <p:cNvPr id="584" name="Google Shape;584;p42"/>
          <p:cNvCxnSpPr/>
          <p:nvPr/>
        </p:nvCxnSpPr>
        <p:spPr>
          <a:xfrm rot="10800000">
            <a:off x="4648200" y="4114800"/>
            <a:ext cx="0" cy="2209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5" name="Google Shape;585;p42"/>
          <p:cNvCxnSpPr/>
          <p:nvPr/>
        </p:nvCxnSpPr>
        <p:spPr>
          <a:xfrm>
            <a:off x="3429000" y="5410200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86" name="Google Shape;586;p42"/>
          <p:cNvGrpSpPr/>
          <p:nvPr/>
        </p:nvGrpSpPr>
        <p:grpSpPr>
          <a:xfrm>
            <a:off x="5195248" y="4114800"/>
            <a:ext cx="752901" cy="792137"/>
            <a:chOff x="3290248" y="4114800"/>
            <a:chExt cx="752901" cy="792137"/>
          </a:xfrm>
        </p:grpSpPr>
        <p:sp>
          <p:nvSpPr>
            <p:cNvPr id="587" name="Google Shape;587;p42"/>
            <p:cNvSpPr/>
            <p:nvPr/>
          </p:nvSpPr>
          <p:spPr>
            <a:xfrm>
              <a:off x="3290248" y="4114800"/>
              <a:ext cx="752901" cy="792137"/>
            </a:xfrm>
            <a:prstGeom prst="triangle">
              <a:avLst>
                <a:gd fmla="val 50000" name="adj"/>
              </a:avLst>
            </a:prstGeom>
            <a:solidFill>
              <a:srgbClr val="FF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42"/>
            <p:cNvSpPr/>
            <p:nvPr/>
          </p:nvSpPr>
          <p:spPr>
            <a:xfrm>
              <a:off x="3628712" y="4480560"/>
              <a:ext cx="91440" cy="91440"/>
            </a:xfrm>
            <a:prstGeom prst="flowChartConnector">
              <a:avLst/>
            </a:prstGeom>
            <a:solidFill>
              <a:srgbClr val="002060"/>
            </a:solidFill>
            <a:ln cap="flat" cmpd="sng" w="254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" name="Google Shape;589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90" name="Google Shape;590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Fixed-Point Scaling Equation</a:t>
            </a:r>
            <a:endParaRPr/>
          </a:p>
        </p:txBody>
      </p:sp>
      <p:sp>
        <p:nvSpPr>
          <p:cNvPr id="596" name="Google Shape;596;p43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-13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97" name="Google Shape;59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598" name="Google Shape;59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604" name="Google Shape;604;p44"/>
          <p:cNvSpPr txBox="1"/>
          <p:nvPr>
            <p:ph idx="4294967295" type="body"/>
          </p:nvPr>
        </p:nvSpPr>
        <p:spPr>
          <a:xfrm>
            <a:off x="0" y="17859"/>
            <a:ext cx="9036900" cy="657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2" r="-10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5" name="Google Shape;60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606" name="Google Shape;60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Fixed-Point Scaling Example</a:t>
            </a:r>
            <a:endParaRPr/>
          </a:p>
        </p:txBody>
      </p:sp>
      <p:sp>
        <p:nvSpPr>
          <p:cNvPr id="612" name="Google Shape;612;p45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98" r="-1667" t="-2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13" name="Google Shape;613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614" name="Google Shape;614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620" name="Google Shape;620;p46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21" name="Google Shape;62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622" name="Google Shape;62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628" name="Google Shape;628;p47"/>
          <p:cNvSpPr txBox="1"/>
          <p:nvPr>
            <p:ph idx="4294967295" type="body"/>
          </p:nvPr>
        </p:nvSpPr>
        <p:spPr>
          <a:xfrm>
            <a:off x="0" y="0"/>
            <a:ext cx="9144000" cy="653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9" name="Google Shape;629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630" name="Google Shape;630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Scaling Directions</a:t>
            </a:r>
            <a:endParaRPr/>
          </a:p>
        </p:txBody>
      </p:sp>
      <p:sp>
        <p:nvSpPr>
          <p:cNvPr id="636" name="Google Shape;636;p48"/>
          <p:cNvSpPr txBox="1"/>
          <p:nvPr>
            <p:ph idx="4294967295" type="body"/>
          </p:nvPr>
        </p:nvSpPr>
        <p:spPr>
          <a:xfrm>
            <a:off x="0" y="17859"/>
            <a:ext cx="86439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2" r="-1042" t="-1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7" name="Google Shape;63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9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Contd.</a:t>
            </a:r>
            <a:endParaRPr/>
          </a:p>
        </p:txBody>
      </p:sp>
      <p:sp>
        <p:nvSpPr>
          <p:cNvPr id="643" name="Google Shape;643;p49"/>
          <p:cNvSpPr txBox="1"/>
          <p:nvPr>
            <p:ph idx="4294967295" type="body"/>
          </p:nvPr>
        </p:nvSpPr>
        <p:spPr>
          <a:xfrm>
            <a:off x="0" y="990600"/>
            <a:ext cx="8763000" cy="281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29" l="-1181" r="-1250" t="-45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644" name="Google Shape;644;p49"/>
          <p:cNvGrpSpPr/>
          <p:nvPr/>
        </p:nvGrpSpPr>
        <p:grpSpPr>
          <a:xfrm>
            <a:off x="3800821" y="3887119"/>
            <a:ext cx="2743200" cy="2743200"/>
            <a:chOff x="6324600" y="3385851"/>
            <a:chExt cx="2743200" cy="2743200"/>
          </a:xfrm>
        </p:grpSpPr>
        <p:cxnSp>
          <p:nvCxnSpPr>
            <p:cNvPr id="645" name="Google Shape;645;p49"/>
            <p:cNvCxnSpPr/>
            <p:nvPr/>
          </p:nvCxnSpPr>
          <p:spPr>
            <a:xfrm>
              <a:off x="6324600" y="4758140"/>
              <a:ext cx="27432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6" name="Google Shape;646;p49"/>
            <p:cNvCxnSpPr/>
            <p:nvPr/>
          </p:nvCxnSpPr>
          <p:spPr>
            <a:xfrm rot="5400000">
              <a:off x="6324600" y="4757451"/>
              <a:ext cx="27432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7" name="Google Shape;647;p49"/>
          <p:cNvGrpSpPr/>
          <p:nvPr/>
        </p:nvGrpSpPr>
        <p:grpSpPr>
          <a:xfrm>
            <a:off x="3307960" y="3384160"/>
            <a:ext cx="3747281" cy="3747281"/>
            <a:chOff x="5831739" y="2882892"/>
            <a:chExt cx="3747281" cy="3747281"/>
          </a:xfrm>
        </p:grpSpPr>
        <p:grpSp>
          <p:nvGrpSpPr>
            <p:cNvPr id="648" name="Google Shape;648;p49"/>
            <p:cNvGrpSpPr/>
            <p:nvPr/>
          </p:nvGrpSpPr>
          <p:grpSpPr>
            <a:xfrm rot="1800000">
              <a:off x="6333779" y="3384932"/>
              <a:ext cx="2743200" cy="2743200"/>
              <a:chOff x="6324600" y="3385851"/>
              <a:chExt cx="2743200" cy="2743200"/>
            </a:xfrm>
          </p:grpSpPr>
          <p:cxnSp>
            <p:nvCxnSpPr>
              <p:cNvPr id="649" name="Google Shape;649;p49"/>
              <p:cNvCxnSpPr/>
              <p:nvPr/>
            </p:nvCxnSpPr>
            <p:spPr>
              <a:xfrm>
                <a:off x="6324600" y="4758140"/>
                <a:ext cx="2743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49"/>
              <p:cNvCxnSpPr/>
              <p:nvPr/>
            </p:nvCxnSpPr>
            <p:spPr>
              <a:xfrm rot="5400000">
                <a:off x="6324600" y="4757451"/>
                <a:ext cx="2743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51" name="Google Shape;651;p49"/>
            <p:cNvSpPr/>
            <p:nvPr/>
          </p:nvSpPr>
          <p:spPr>
            <a:xfrm>
              <a:off x="8229600" y="4267200"/>
              <a:ext cx="6096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2" name="Google Shape;652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653" name="Google Shape;653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General Scaling Directions Equation</a:t>
            </a:r>
            <a:endParaRPr/>
          </a:p>
        </p:txBody>
      </p:sp>
      <p:sp>
        <p:nvSpPr>
          <p:cNvPr id="659" name="Google Shape;659;p50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64" r="-832" t="-19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60" name="Google Shape;66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1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Transformation</a:t>
            </a:r>
            <a:endParaRPr/>
          </a:p>
        </p:txBody>
      </p:sp>
      <p:sp>
        <p:nvSpPr>
          <p:cNvPr id="666" name="Google Shape;666;p51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Some package provides few additional transformations which are useful in certain applications.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Two such transformations are:</a:t>
            </a:r>
            <a:endParaRPr/>
          </a:p>
          <a:p>
            <a:pPr indent="-457200" lvl="1" marL="8572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Reflection</a:t>
            </a:r>
            <a:endParaRPr/>
          </a:p>
          <a:p>
            <a:pPr indent="-457200" lvl="1" marL="8572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Shear.</a:t>
            </a:r>
            <a:endParaRPr/>
          </a:p>
        </p:txBody>
      </p:sp>
      <p:sp>
        <p:nvSpPr>
          <p:cNvPr id="667" name="Google Shape;66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AutoNum type="arabicPeriod"/>
            </a:pPr>
            <a:r>
              <a:rPr lang="en-US"/>
              <a:t>Reflection</a:t>
            </a:r>
            <a:endParaRPr/>
          </a:p>
        </p:txBody>
      </p:sp>
      <p:sp>
        <p:nvSpPr>
          <p:cNvPr id="673" name="Google Shape;673;p52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reflection is a transformation that produces a mirror image of an object.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mirror image for a two –dimensional reflection is generated relative to an </a:t>
            </a:r>
            <a:r>
              <a:rPr b="1" lang="en-US"/>
              <a:t>axis of reflection </a:t>
            </a:r>
            <a:r>
              <a:rPr lang="en-US"/>
              <a:t>by rotating the object 180</a:t>
            </a:r>
            <a:r>
              <a:rPr baseline="30000" lang="en-US"/>
              <a:t>o</a:t>
            </a:r>
            <a:r>
              <a:rPr lang="en-US"/>
              <a:t> about the reflection axis.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Reflection gives image based on position of axis of reflection. Transformation matrix for few positions are discussed here.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674" name="Google Shape;67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Reflection About X-Axis</a:t>
            </a:r>
            <a:endParaRPr/>
          </a:p>
        </p:txBody>
      </p:sp>
      <p:sp>
        <p:nvSpPr>
          <p:cNvPr id="680" name="Google Shape;680;p53"/>
          <p:cNvSpPr txBox="1"/>
          <p:nvPr>
            <p:ph idx="4294967295" type="body"/>
          </p:nvPr>
        </p:nvSpPr>
        <p:spPr>
          <a:xfrm>
            <a:off x="0" y="990600"/>
            <a:ext cx="8763000" cy="541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-1529" t="-225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81" name="Google Shape;681;p53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4800600" y="990600"/>
            <a:ext cx="4259657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p53"/>
          <p:cNvCxnSpPr/>
          <p:nvPr/>
        </p:nvCxnSpPr>
        <p:spPr>
          <a:xfrm>
            <a:off x="5370952" y="1144793"/>
            <a:ext cx="0" cy="33151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53"/>
          <p:cNvCxnSpPr/>
          <p:nvPr/>
        </p:nvCxnSpPr>
        <p:spPr>
          <a:xfrm>
            <a:off x="5125341" y="2703175"/>
            <a:ext cx="34981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53"/>
          <p:cNvSpPr/>
          <p:nvPr/>
        </p:nvSpPr>
        <p:spPr>
          <a:xfrm>
            <a:off x="6373950" y="1600200"/>
            <a:ext cx="430590" cy="525286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3"/>
          <p:cNvSpPr/>
          <p:nvPr/>
        </p:nvSpPr>
        <p:spPr>
          <a:xfrm>
            <a:off x="8315202" y="2731958"/>
            <a:ext cx="400788" cy="431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687" name="Google Shape;687;p53"/>
          <p:cNvSpPr/>
          <p:nvPr/>
        </p:nvSpPr>
        <p:spPr>
          <a:xfrm>
            <a:off x="4970164" y="990600"/>
            <a:ext cx="400788" cy="431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688" name="Google Shape;688;p53"/>
          <p:cNvSpPr/>
          <p:nvPr/>
        </p:nvSpPr>
        <p:spPr>
          <a:xfrm>
            <a:off x="6388337" y="1268148"/>
            <a:ext cx="400788" cy="4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89" name="Google Shape;689;p53"/>
          <p:cNvSpPr/>
          <p:nvPr/>
        </p:nvSpPr>
        <p:spPr>
          <a:xfrm>
            <a:off x="5957747" y="2054535"/>
            <a:ext cx="400788" cy="431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0" name="Google Shape;690;p53"/>
          <p:cNvSpPr/>
          <p:nvPr/>
        </p:nvSpPr>
        <p:spPr>
          <a:xfrm>
            <a:off x="6804540" y="2054535"/>
            <a:ext cx="400788" cy="431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91" name="Google Shape;691;p53"/>
          <p:cNvSpPr/>
          <p:nvPr/>
        </p:nvSpPr>
        <p:spPr>
          <a:xfrm>
            <a:off x="6343120" y="3835458"/>
            <a:ext cx="493278" cy="4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1’</a:t>
            </a:r>
            <a:endParaRPr/>
          </a:p>
        </p:txBody>
      </p:sp>
      <p:sp>
        <p:nvSpPr>
          <p:cNvPr id="692" name="Google Shape;692;p53"/>
          <p:cNvSpPr/>
          <p:nvPr/>
        </p:nvSpPr>
        <p:spPr>
          <a:xfrm>
            <a:off x="5865257" y="2964276"/>
            <a:ext cx="493278" cy="4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2’</a:t>
            </a:r>
            <a:endParaRPr/>
          </a:p>
        </p:txBody>
      </p:sp>
      <p:sp>
        <p:nvSpPr>
          <p:cNvPr id="693" name="Google Shape;693;p53"/>
          <p:cNvSpPr/>
          <p:nvPr/>
        </p:nvSpPr>
        <p:spPr>
          <a:xfrm>
            <a:off x="6804540" y="2964276"/>
            <a:ext cx="493278" cy="4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  <a:endParaRPr/>
          </a:p>
        </p:txBody>
      </p:sp>
      <p:sp>
        <p:nvSpPr>
          <p:cNvPr id="694" name="Google Shape;694;p53"/>
          <p:cNvSpPr/>
          <p:nvPr/>
        </p:nvSpPr>
        <p:spPr>
          <a:xfrm>
            <a:off x="7143668" y="1345245"/>
            <a:ext cx="1171534" cy="787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Position</a:t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3"/>
          <p:cNvSpPr/>
          <p:nvPr/>
        </p:nvSpPr>
        <p:spPr>
          <a:xfrm>
            <a:off x="7205328" y="3317893"/>
            <a:ext cx="1264024" cy="787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Reflected Position</a:t>
            </a:r>
            <a:endParaRPr/>
          </a:p>
        </p:txBody>
      </p:sp>
      <p:sp>
        <p:nvSpPr>
          <p:cNvPr id="696" name="Google Shape;696;p53"/>
          <p:cNvSpPr/>
          <p:nvPr/>
        </p:nvSpPr>
        <p:spPr>
          <a:xfrm rot="10800000">
            <a:off x="6373504" y="3333618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6372690" y="1612261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Reflection About Y-Axis</a:t>
            </a:r>
            <a:endParaRPr/>
          </a:p>
        </p:txBody>
      </p:sp>
      <p:sp>
        <p:nvSpPr>
          <p:cNvPr id="704" name="Google Shape;704;p54"/>
          <p:cNvSpPr txBox="1"/>
          <p:nvPr>
            <p:ph idx="4294967295" type="body"/>
          </p:nvPr>
        </p:nvSpPr>
        <p:spPr>
          <a:xfrm>
            <a:off x="0" y="990600"/>
            <a:ext cx="8763000" cy="251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96" l="-1181" r="-1250" t="-38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05" name="Google Shape;705;p54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4"/>
          <p:cNvSpPr/>
          <p:nvPr/>
        </p:nvSpPr>
        <p:spPr>
          <a:xfrm>
            <a:off x="1066800" y="40386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7" name="Google Shape;707;p54"/>
          <p:cNvGrpSpPr/>
          <p:nvPr/>
        </p:nvGrpSpPr>
        <p:grpSpPr>
          <a:xfrm>
            <a:off x="-943285" y="3066420"/>
            <a:ext cx="9850498" cy="3258181"/>
            <a:chOff x="-745" y="8761"/>
            <a:chExt cx="7390" cy="2443"/>
          </a:xfrm>
        </p:grpSpPr>
        <p:sp>
          <p:nvSpPr>
            <p:cNvPr id="708" name="Google Shape;708;p54"/>
            <p:cNvSpPr/>
            <p:nvPr/>
          </p:nvSpPr>
          <p:spPr>
            <a:xfrm>
              <a:off x="-745" y="8761"/>
              <a:ext cx="6653" cy="2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9" name="Google Shape;709;p54"/>
            <p:cNvCxnSpPr/>
            <p:nvPr/>
          </p:nvCxnSpPr>
          <p:spPr>
            <a:xfrm>
              <a:off x="3390" y="9240"/>
              <a:ext cx="1" cy="17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54"/>
            <p:cNvCxnSpPr/>
            <p:nvPr/>
          </p:nvCxnSpPr>
          <p:spPr>
            <a:xfrm>
              <a:off x="226" y="10756"/>
              <a:ext cx="632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1" name="Google Shape;711;p54"/>
            <p:cNvSpPr/>
            <p:nvPr/>
          </p:nvSpPr>
          <p:spPr>
            <a:xfrm>
              <a:off x="4420" y="9776"/>
              <a:ext cx="419" cy="511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54"/>
            <p:cNvSpPr/>
            <p:nvPr/>
          </p:nvSpPr>
          <p:spPr>
            <a:xfrm>
              <a:off x="6255" y="10784"/>
              <a:ext cx="390" cy="42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13" name="Google Shape;713;p54"/>
            <p:cNvSpPr/>
            <p:nvPr/>
          </p:nvSpPr>
          <p:spPr>
            <a:xfrm>
              <a:off x="2970" y="9090"/>
              <a:ext cx="390" cy="42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14" name="Google Shape;714;p54"/>
            <p:cNvSpPr/>
            <p:nvPr/>
          </p:nvSpPr>
          <p:spPr>
            <a:xfrm>
              <a:off x="4380" y="9360"/>
              <a:ext cx="390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15" name="Google Shape;715;p54"/>
            <p:cNvSpPr/>
            <p:nvPr/>
          </p:nvSpPr>
          <p:spPr>
            <a:xfrm>
              <a:off x="3961" y="10125"/>
              <a:ext cx="390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16" name="Google Shape;716;p54"/>
            <p:cNvSpPr/>
            <p:nvPr/>
          </p:nvSpPr>
          <p:spPr>
            <a:xfrm>
              <a:off x="4785" y="10125"/>
              <a:ext cx="390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717" name="Google Shape;717;p54"/>
            <p:cNvSpPr/>
            <p:nvPr/>
          </p:nvSpPr>
          <p:spPr>
            <a:xfrm>
              <a:off x="5115" y="9435"/>
              <a:ext cx="1140" cy="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Position</a:t>
              </a:r>
              <a:endParaRPr/>
            </a:p>
          </p:txBody>
        </p:sp>
        <p:sp>
          <p:nvSpPr>
            <p:cNvPr id="718" name="Google Shape;718;p54"/>
            <p:cNvSpPr/>
            <p:nvPr/>
          </p:nvSpPr>
          <p:spPr>
            <a:xfrm>
              <a:off x="226" y="9525"/>
              <a:ext cx="1230" cy="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Reflected Position</a:t>
              </a:r>
              <a:endParaRPr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4"/>
            <p:cNvSpPr/>
            <p:nvPr/>
          </p:nvSpPr>
          <p:spPr>
            <a:xfrm>
              <a:off x="1981" y="9780"/>
              <a:ext cx="419" cy="511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54"/>
            <p:cNvSpPr/>
            <p:nvPr/>
          </p:nvSpPr>
          <p:spPr>
            <a:xfrm>
              <a:off x="1830" y="9360"/>
              <a:ext cx="535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1’</a:t>
              </a:r>
              <a:endParaRPr/>
            </a:p>
          </p:txBody>
        </p:sp>
        <p:sp>
          <p:nvSpPr>
            <p:cNvPr id="721" name="Google Shape;721;p54"/>
            <p:cNvSpPr/>
            <p:nvPr/>
          </p:nvSpPr>
          <p:spPr>
            <a:xfrm>
              <a:off x="1381" y="10125"/>
              <a:ext cx="465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3’</a:t>
              </a:r>
              <a:endParaRPr/>
            </a:p>
          </p:txBody>
        </p:sp>
        <p:sp>
          <p:nvSpPr>
            <p:cNvPr id="722" name="Google Shape;722;p54"/>
            <p:cNvSpPr/>
            <p:nvPr/>
          </p:nvSpPr>
          <p:spPr>
            <a:xfrm>
              <a:off x="2280" y="10125"/>
              <a:ext cx="525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2’</a:t>
              </a:r>
              <a:endParaRPr/>
            </a:p>
          </p:txBody>
        </p:sp>
      </p:grpSp>
      <p:sp>
        <p:nvSpPr>
          <p:cNvPr id="723" name="Google Shape;723;p54"/>
          <p:cNvSpPr/>
          <p:nvPr/>
        </p:nvSpPr>
        <p:spPr>
          <a:xfrm>
            <a:off x="5943600" y="4433047"/>
            <a:ext cx="558506" cy="681511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725" name="Google Shape;725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Reflection About Origin</a:t>
            </a:r>
            <a:endParaRPr/>
          </a:p>
        </p:txBody>
      </p:sp>
      <p:sp>
        <p:nvSpPr>
          <p:cNvPr id="731" name="Google Shape;731;p55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-29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32" name="Google Shape;732;p55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55"/>
          <p:cNvCxnSpPr/>
          <p:nvPr/>
        </p:nvCxnSpPr>
        <p:spPr>
          <a:xfrm>
            <a:off x="6934200" y="1144793"/>
            <a:ext cx="0" cy="33151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55"/>
          <p:cNvCxnSpPr/>
          <p:nvPr/>
        </p:nvCxnSpPr>
        <p:spPr>
          <a:xfrm>
            <a:off x="5125341" y="2703175"/>
            <a:ext cx="34981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55"/>
          <p:cNvSpPr/>
          <p:nvPr/>
        </p:nvSpPr>
        <p:spPr>
          <a:xfrm>
            <a:off x="7799010" y="1600200"/>
            <a:ext cx="430590" cy="525286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5"/>
          <p:cNvSpPr/>
          <p:nvPr/>
        </p:nvSpPr>
        <p:spPr>
          <a:xfrm>
            <a:off x="8315202" y="2731958"/>
            <a:ext cx="400788" cy="4317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7" name="Google Shape;737;p55"/>
          <p:cNvSpPr/>
          <p:nvPr/>
        </p:nvSpPr>
        <p:spPr>
          <a:xfrm>
            <a:off x="6533412" y="1042599"/>
            <a:ext cx="400788" cy="43174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8" name="Google Shape;738;p55"/>
          <p:cNvSpPr/>
          <p:nvPr/>
        </p:nvSpPr>
        <p:spPr>
          <a:xfrm>
            <a:off x="7743866" y="990600"/>
            <a:ext cx="1171534" cy="78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Position</a:t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5"/>
          <p:cNvSpPr/>
          <p:nvPr/>
        </p:nvSpPr>
        <p:spPr>
          <a:xfrm>
            <a:off x="5072646" y="4045685"/>
            <a:ext cx="1264024" cy="78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Reflected Position</a:t>
            </a:r>
            <a:endParaRPr/>
          </a:p>
        </p:txBody>
      </p:sp>
      <p:sp>
        <p:nvSpPr>
          <p:cNvPr id="740" name="Google Shape;740;p55"/>
          <p:cNvSpPr/>
          <p:nvPr/>
        </p:nvSpPr>
        <p:spPr>
          <a:xfrm rot="10800000">
            <a:off x="5804648" y="3360914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5"/>
          <p:cNvSpPr/>
          <p:nvPr/>
        </p:nvSpPr>
        <p:spPr>
          <a:xfrm>
            <a:off x="7799010" y="1612261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Reflection About X = Y Line</a:t>
            </a:r>
            <a:endParaRPr/>
          </a:p>
        </p:txBody>
      </p:sp>
      <p:sp>
        <p:nvSpPr>
          <p:cNvPr id="748" name="Google Shape;748;p56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3" r="-973" t="-9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49" name="Google Shape;749;p56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0" name="Google Shape;750;p56"/>
          <p:cNvCxnSpPr/>
          <p:nvPr/>
        </p:nvCxnSpPr>
        <p:spPr>
          <a:xfrm>
            <a:off x="5638800" y="1144793"/>
            <a:ext cx="0" cy="33151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56"/>
          <p:cNvCxnSpPr/>
          <p:nvPr/>
        </p:nvCxnSpPr>
        <p:spPr>
          <a:xfrm>
            <a:off x="5125341" y="4114800"/>
            <a:ext cx="34981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56"/>
          <p:cNvSpPr/>
          <p:nvPr/>
        </p:nvSpPr>
        <p:spPr>
          <a:xfrm rot="-2224162">
            <a:off x="7526469" y="2956715"/>
            <a:ext cx="430590" cy="525286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6"/>
          <p:cNvSpPr/>
          <p:nvPr/>
        </p:nvSpPr>
        <p:spPr>
          <a:xfrm>
            <a:off x="8251924" y="4149489"/>
            <a:ext cx="400788" cy="4317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4" name="Google Shape;754;p56"/>
          <p:cNvSpPr/>
          <p:nvPr/>
        </p:nvSpPr>
        <p:spPr>
          <a:xfrm>
            <a:off x="5238012" y="1173095"/>
            <a:ext cx="400788" cy="43174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5" name="Google Shape;755;p56"/>
          <p:cNvSpPr/>
          <p:nvPr/>
        </p:nvSpPr>
        <p:spPr>
          <a:xfrm>
            <a:off x="8088133" y="3362074"/>
            <a:ext cx="1171534" cy="78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Position</a:t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6"/>
          <p:cNvSpPr/>
          <p:nvPr/>
        </p:nvSpPr>
        <p:spPr>
          <a:xfrm>
            <a:off x="5672625" y="1075428"/>
            <a:ext cx="1264024" cy="78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Reflected Position</a:t>
            </a:r>
            <a:endParaRPr/>
          </a:p>
        </p:txBody>
      </p:sp>
      <p:sp>
        <p:nvSpPr>
          <p:cNvPr id="757" name="Google Shape;757;p56"/>
          <p:cNvSpPr/>
          <p:nvPr/>
        </p:nvSpPr>
        <p:spPr>
          <a:xfrm rot="-2271288">
            <a:off x="7515295" y="2961893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8" name="Google Shape;758;p56"/>
          <p:cNvCxnSpPr/>
          <p:nvPr/>
        </p:nvCxnSpPr>
        <p:spPr>
          <a:xfrm rot="-2700000">
            <a:off x="4786533" y="3217987"/>
            <a:ext cx="34981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9" name="Google Shape;759;p56"/>
          <p:cNvSpPr/>
          <p:nvPr/>
        </p:nvSpPr>
        <p:spPr>
          <a:xfrm rot="8520000">
            <a:off x="6122726" y="1734334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7"/>
          <p:cNvSpPr/>
          <p:nvPr/>
        </p:nvSpPr>
        <p:spPr>
          <a:xfrm rot="-8700000">
            <a:off x="7093537" y="1626061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Reflection About X = - Y Line</a:t>
            </a:r>
            <a:endParaRPr/>
          </a:p>
        </p:txBody>
      </p:sp>
      <p:sp>
        <p:nvSpPr>
          <p:cNvPr id="767" name="Google Shape;767;p57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41" l="-1598" r="-1667" t="-22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68" name="Google Shape;768;p57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9" name="Google Shape;769;p57"/>
          <p:cNvCxnSpPr/>
          <p:nvPr/>
        </p:nvCxnSpPr>
        <p:spPr>
          <a:xfrm>
            <a:off x="8305800" y="1099706"/>
            <a:ext cx="0" cy="33151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57"/>
          <p:cNvCxnSpPr/>
          <p:nvPr/>
        </p:nvCxnSpPr>
        <p:spPr>
          <a:xfrm>
            <a:off x="5125341" y="4114800"/>
            <a:ext cx="34981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57"/>
          <p:cNvSpPr/>
          <p:nvPr/>
        </p:nvSpPr>
        <p:spPr>
          <a:xfrm rot="-8700000">
            <a:off x="7077586" y="1626061"/>
            <a:ext cx="430590" cy="525286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57"/>
          <p:cNvSpPr/>
          <p:nvPr/>
        </p:nvSpPr>
        <p:spPr>
          <a:xfrm>
            <a:off x="5075567" y="4116287"/>
            <a:ext cx="400788" cy="4317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3" name="Google Shape;773;p57"/>
          <p:cNvSpPr/>
          <p:nvPr/>
        </p:nvSpPr>
        <p:spPr>
          <a:xfrm>
            <a:off x="8346561" y="1075042"/>
            <a:ext cx="400788" cy="43174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4" name="Google Shape;774;p57"/>
          <p:cNvSpPr/>
          <p:nvPr/>
        </p:nvSpPr>
        <p:spPr>
          <a:xfrm>
            <a:off x="7185903" y="2142455"/>
            <a:ext cx="1171534" cy="78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Position</a:t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7"/>
          <p:cNvSpPr/>
          <p:nvPr/>
        </p:nvSpPr>
        <p:spPr>
          <a:xfrm>
            <a:off x="6150561" y="3168236"/>
            <a:ext cx="1264024" cy="78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Reflected Position</a:t>
            </a:r>
            <a:endParaRPr/>
          </a:p>
        </p:txBody>
      </p:sp>
      <p:cxnSp>
        <p:nvCxnSpPr>
          <p:cNvPr id="776" name="Google Shape;776;p57"/>
          <p:cNvCxnSpPr/>
          <p:nvPr/>
        </p:nvCxnSpPr>
        <p:spPr>
          <a:xfrm rot="2700000">
            <a:off x="5517555" y="3074003"/>
            <a:ext cx="34981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57"/>
          <p:cNvSpPr/>
          <p:nvPr/>
        </p:nvSpPr>
        <p:spPr>
          <a:xfrm rot="2022572">
            <a:off x="5839088" y="2863338"/>
            <a:ext cx="430590" cy="525286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Reflection Example</a:t>
            </a:r>
            <a:endParaRPr/>
          </a:p>
        </p:txBody>
      </p:sp>
      <p:sp>
        <p:nvSpPr>
          <p:cNvPr id="784" name="Google Shape;784;p58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27" l="-1390" r="-1529" t="-13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85" name="Google Shape;785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911" y="16562"/>
            <a:ext cx="6403648" cy="6765238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792" name="Google Shape;792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AutoNum type="arabicPeriod" startAt="2"/>
            </a:pPr>
            <a:r>
              <a:rPr lang="en-US"/>
              <a:t>Shear</a:t>
            </a:r>
            <a:endParaRPr/>
          </a:p>
        </p:txBody>
      </p:sp>
      <p:sp>
        <p:nvSpPr>
          <p:cNvPr id="798" name="Google Shape;798;p60"/>
          <p:cNvSpPr txBox="1"/>
          <p:nvPr>
            <p:ph idx="4294967295" type="body"/>
          </p:nvPr>
        </p:nvSpPr>
        <p:spPr>
          <a:xfrm>
            <a:off x="0" y="990600"/>
            <a:ext cx="8763000" cy="2743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355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99" name="Google Shape;799;p60"/>
          <p:cNvSpPr/>
          <p:nvPr/>
        </p:nvSpPr>
        <p:spPr>
          <a:xfrm>
            <a:off x="2743200" y="4343400"/>
            <a:ext cx="13716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0"/>
          <p:cNvSpPr/>
          <p:nvPr/>
        </p:nvSpPr>
        <p:spPr>
          <a:xfrm>
            <a:off x="2743200" y="4343400"/>
            <a:ext cx="1676400" cy="914400"/>
          </a:xfrm>
          <a:prstGeom prst="flowChartInputOutpu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802" name="Google Shape;802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1"/>
          <p:cNvSpPr txBox="1"/>
          <p:nvPr>
            <p:ph idx="4294967295"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080" l="-2781" r="0" t="-120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b="0" i="0" lang="en-US" sz="44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8" name="Google Shape;808;p61"/>
          <p:cNvSpPr txBox="1"/>
          <p:nvPr>
            <p:ph idx="4294967295" type="body"/>
          </p:nvPr>
        </p:nvSpPr>
        <p:spPr>
          <a:xfrm>
            <a:off x="0" y="990600"/>
            <a:ext cx="8763000" cy="31257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25" r="-625" t="-11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09" name="Google Shape;809;p61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0" name="Google Shape;810;p61"/>
          <p:cNvGrpSpPr/>
          <p:nvPr/>
        </p:nvGrpSpPr>
        <p:grpSpPr>
          <a:xfrm>
            <a:off x="2076450" y="4015126"/>
            <a:ext cx="4705350" cy="2432782"/>
            <a:chOff x="1590" y="2700"/>
            <a:chExt cx="5670" cy="2931"/>
          </a:xfrm>
        </p:grpSpPr>
        <p:sp>
          <p:nvSpPr>
            <p:cNvPr id="811" name="Google Shape;811;p61"/>
            <p:cNvSpPr/>
            <p:nvPr/>
          </p:nvSpPr>
          <p:spPr>
            <a:xfrm>
              <a:off x="1590" y="2700"/>
              <a:ext cx="5670" cy="2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2" name="Google Shape;812;p61"/>
            <p:cNvCxnSpPr/>
            <p:nvPr/>
          </p:nvCxnSpPr>
          <p:spPr>
            <a:xfrm>
              <a:off x="2265" y="3208"/>
              <a:ext cx="1" cy="19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3" name="Google Shape;813;p61"/>
            <p:cNvCxnSpPr/>
            <p:nvPr/>
          </p:nvCxnSpPr>
          <p:spPr>
            <a:xfrm>
              <a:off x="1845" y="4860"/>
              <a:ext cx="207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4" name="Google Shape;814;p61"/>
            <p:cNvSpPr/>
            <p:nvPr/>
          </p:nvSpPr>
          <p:spPr>
            <a:xfrm>
              <a:off x="2265" y="3841"/>
              <a:ext cx="1049" cy="1019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5" name="Google Shape;815;p61"/>
            <p:cNvCxnSpPr/>
            <p:nvPr/>
          </p:nvCxnSpPr>
          <p:spPr>
            <a:xfrm>
              <a:off x="5190" y="3328"/>
              <a:ext cx="1" cy="184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61"/>
            <p:cNvCxnSpPr/>
            <p:nvPr/>
          </p:nvCxnSpPr>
          <p:spPr>
            <a:xfrm>
              <a:off x="4770" y="4860"/>
              <a:ext cx="22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7" name="Google Shape;817;p61"/>
            <p:cNvSpPr/>
            <p:nvPr/>
          </p:nvSpPr>
          <p:spPr>
            <a:xfrm>
              <a:off x="5191" y="3841"/>
              <a:ext cx="1394" cy="1019"/>
            </a:xfrm>
            <a:prstGeom prst="parallelogram">
              <a:avLst>
                <a:gd fmla="val 3420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61"/>
            <p:cNvSpPr/>
            <p:nvPr/>
          </p:nvSpPr>
          <p:spPr>
            <a:xfrm>
              <a:off x="2745" y="2865"/>
              <a:ext cx="1051" cy="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400" lIns="76800" spcFirstLastPara="1" rIns="76800" wrap="square" tIns="38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Before Shear</a:t>
              </a:r>
              <a:endParaRPr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1"/>
            <p:cNvSpPr/>
            <p:nvPr/>
          </p:nvSpPr>
          <p:spPr>
            <a:xfrm>
              <a:off x="5790" y="2865"/>
              <a:ext cx="990" cy="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400" lIns="76800" spcFirstLastPara="1" rIns="76800" wrap="square" tIns="38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 Shear</a:t>
              </a:r>
              <a:endParaRPr/>
            </a:p>
          </p:txBody>
        </p:sp>
        <p:sp>
          <p:nvSpPr>
            <p:cNvPr id="820" name="Google Shape;820;p61"/>
            <p:cNvSpPr/>
            <p:nvPr/>
          </p:nvSpPr>
          <p:spPr>
            <a:xfrm>
              <a:off x="3465" y="4950"/>
              <a:ext cx="525" cy="48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1" name="Google Shape;821;p61"/>
            <p:cNvSpPr/>
            <p:nvPr/>
          </p:nvSpPr>
          <p:spPr>
            <a:xfrm>
              <a:off x="6585" y="4950"/>
              <a:ext cx="525" cy="48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2" name="Google Shape;822;p61"/>
            <p:cNvSpPr/>
            <p:nvPr/>
          </p:nvSpPr>
          <p:spPr>
            <a:xfrm>
              <a:off x="1725" y="3120"/>
              <a:ext cx="525" cy="48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3" name="Google Shape;823;p61"/>
            <p:cNvSpPr/>
            <p:nvPr/>
          </p:nvSpPr>
          <p:spPr>
            <a:xfrm>
              <a:off x="4590" y="3238"/>
              <a:ext cx="525" cy="48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824" name="Google Shape;8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825" name="Google Shape;8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831" name="Google Shape;831;p62"/>
          <p:cNvSpPr txBox="1"/>
          <p:nvPr>
            <p:ph idx="4294967295" type="body"/>
          </p:nvPr>
        </p:nvSpPr>
        <p:spPr>
          <a:xfrm>
            <a:off x="0" y="990600"/>
            <a:ext cx="8763000" cy="29321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32" name="Google Shape;832;p62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2"/>
          <p:cNvSpPr/>
          <p:nvPr/>
        </p:nvSpPr>
        <p:spPr>
          <a:xfrm>
            <a:off x="2076450" y="4054522"/>
            <a:ext cx="4991100" cy="2580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4" name="Google Shape;834;p62"/>
          <p:cNvGrpSpPr/>
          <p:nvPr/>
        </p:nvGrpSpPr>
        <p:grpSpPr>
          <a:xfrm>
            <a:off x="1862050" y="4199792"/>
            <a:ext cx="5073460" cy="2258286"/>
            <a:chOff x="1862050" y="4199792"/>
            <a:chExt cx="5073460" cy="2258286"/>
          </a:xfrm>
        </p:grpSpPr>
        <p:cxnSp>
          <p:nvCxnSpPr>
            <p:cNvPr id="835" name="Google Shape;835;p62"/>
            <p:cNvCxnSpPr/>
            <p:nvPr/>
          </p:nvCxnSpPr>
          <p:spPr>
            <a:xfrm>
              <a:off x="2670629" y="4501777"/>
              <a:ext cx="880" cy="192020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p62"/>
            <p:cNvCxnSpPr/>
            <p:nvPr/>
          </p:nvCxnSpPr>
          <p:spPr>
            <a:xfrm>
              <a:off x="2300917" y="5956237"/>
              <a:ext cx="1822148" cy="8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7" name="Google Shape;837;p62"/>
            <p:cNvSpPr/>
            <p:nvPr/>
          </p:nvSpPr>
          <p:spPr>
            <a:xfrm>
              <a:off x="2670629" y="5059085"/>
              <a:ext cx="923398" cy="89715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8" name="Google Shape;838;p62"/>
            <p:cNvCxnSpPr/>
            <p:nvPr/>
          </p:nvCxnSpPr>
          <p:spPr>
            <a:xfrm>
              <a:off x="5245402" y="4607428"/>
              <a:ext cx="880" cy="18286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62"/>
            <p:cNvCxnSpPr/>
            <p:nvPr/>
          </p:nvCxnSpPr>
          <p:spPr>
            <a:xfrm>
              <a:off x="4875691" y="5956237"/>
              <a:ext cx="1940983" cy="8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0" name="Google Shape;840;p62"/>
            <p:cNvSpPr/>
            <p:nvPr/>
          </p:nvSpPr>
          <p:spPr>
            <a:xfrm>
              <a:off x="5554711" y="5059085"/>
              <a:ext cx="1227089" cy="897152"/>
            </a:xfrm>
            <a:prstGeom prst="parallelogram">
              <a:avLst>
                <a:gd fmla="val 3420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62"/>
            <p:cNvSpPr/>
            <p:nvPr/>
          </p:nvSpPr>
          <p:spPr>
            <a:xfrm>
              <a:off x="3093156" y="4199792"/>
              <a:ext cx="871462" cy="647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400" lIns="76800" spcFirstLastPara="1" rIns="76800" wrap="square" tIns="38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Before Shear</a:t>
              </a:r>
              <a:endParaRPr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2"/>
            <p:cNvSpPr/>
            <p:nvPr/>
          </p:nvSpPr>
          <p:spPr>
            <a:xfrm>
              <a:off x="5773561" y="4199792"/>
              <a:ext cx="871462" cy="647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400" lIns="76800" spcFirstLastPara="1" rIns="76800" wrap="square" tIns="38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 Shear</a:t>
              </a:r>
              <a:endParaRPr/>
            </a:p>
          </p:txBody>
        </p:sp>
        <p:sp>
          <p:nvSpPr>
            <p:cNvPr id="843" name="Google Shape;843;p62"/>
            <p:cNvSpPr/>
            <p:nvPr/>
          </p:nvSpPr>
          <p:spPr>
            <a:xfrm>
              <a:off x="3726946" y="6035475"/>
              <a:ext cx="462139" cy="42260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4" name="Google Shape;844;p62"/>
            <p:cNvSpPr/>
            <p:nvPr/>
          </p:nvSpPr>
          <p:spPr>
            <a:xfrm>
              <a:off x="6473371" y="6035475"/>
              <a:ext cx="462139" cy="42260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5" name="Google Shape;845;p62"/>
            <p:cNvSpPr/>
            <p:nvPr/>
          </p:nvSpPr>
          <p:spPr>
            <a:xfrm>
              <a:off x="2195286" y="4424300"/>
              <a:ext cx="462139" cy="42260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6" name="Google Shape;846;p62"/>
            <p:cNvSpPr/>
            <p:nvPr/>
          </p:nvSpPr>
          <p:spPr>
            <a:xfrm>
              <a:off x="4717244" y="4528190"/>
              <a:ext cx="462139" cy="42260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847" name="Google Shape;847;p62"/>
            <p:cNvCxnSpPr/>
            <p:nvPr/>
          </p:nvCxnSpPr>
          <p:spPr>
            <a:xfrm>
              <a:off x="2300917" y="6233571"/>
              <a:ext cx="1051883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62"/>
            <p:cNvCxnSpPr/>
            <p:nvPr/>
          </p:nvCxnSpPr>
          <p:spPr>
            <a:xfrm>
              <a:off x="4891717" y="6234752"/>
              <a:ext cx="1051883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9" name="Google Shape;849;p62"/>
            <p:cNvSpPr/>
            <p:nvPr/>
          </p:nvSpPr>
          <p:spPr>
            <a:xfrm>
              <a:off x="1862050" y="6022269"/>
              <a:ext cx="524049" cy="42260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-6975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0" name="Google Shape;850;p62"/>
            <p:cNvSpPr/>
            <p:nvPr/>
          </p:nvSpPr>
          <p:spPr>
            <a:xfrm>
              <a:off x="4450231" y="5997652"/>
              <a:ext cx="524049" cy="422603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-813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851" name="Google Shape;85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852" name="Google Shape;852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3"/>
          <p:cNvSpPr txBox="1"/>
          <p:nvPr>
            <p:ph idx="4294967295"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080" l="-2781" r="0" t="-120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8" name="Google Shape;858;p63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81" r="-1250" t="-1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59" name="Google Shape;859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860" name="Google Shape;860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866" name="Google Shape;866;p64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67" name="Google Shape;867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868" name="Google Shape;868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5"/>
          <p:cNvSpPr txBox="1"/>
          <p:nvPr>
            <p:ph idx="4294967295"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080" l="-2781" r="0" t="-120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74" name="Google Shape;874;p65"/>
          <p:cNvSpPr txBox="1"/>
          <p:nvPr>
            <p:ph idx="4294967295" type="body"/>
          </p:nvPr>
        </p:nvSpPr>
        <p:spPr>
          <a:xfrm>
            <a:off x="0" y="685800"/>
            <a:ext cx="8763000" cy="3352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1635" l="-903" r="-973" t="-145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75" name="Google Shape;875;p65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5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7" name="Google Shape;877;p65"/>
          <p:cNvGrpSpPr/>
          <p:nvPr/>
        </p:nvGrpSpPr>
        <p:grpSpPr>
          <a:xfrm>
            <a:off x="2514600" y="4339212"/>
            <a:ext cx="4429552" cy="2290188"/>
            <a:chOff x="3567" y="10929"/>
            <a:chExt cx="4773" cy="2467"/>
          </a:xfrm>
        </p:grpSpPr>
        <p:sp>
          <p:nvSpPr>
            <p:cNvPr id="878" name="Google Shape;878;p65"/>
            <p:cNvSpPr/>
            <p:nvPr/>
          </p:nvSpPr>
          <p:spPr>
            <a:xfrm>
              <a:off x="3567" y="10929"/>
              <a:ext cx="4773" cy="2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7407" y="11102"/>
              <a:ext cx="871" cy="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400" lIns="76800" spcFirstLastPara="1" rIns="76800" wrap="square" tIns="38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 Shear</a:t>
              </a:r>
              <a:endParaRPr/>
            </a:p>
          </p:txBody>
        </p:sp>
        <p:cxnSp>
          <p:nvCxnSpPr>
            <p:cNvPr id="880" name="Google Shape;880;p65"/>
            <p:cNvCxnSpPr/>
            <p:nvPr/>
          </p:nvCxnSpPr>
          <p:spPr>
            <a:xfrm>
              <a:off x="4135" y="11357"/>
              <a:ext cx="1" cy="165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65"/>
            <p:cNvCxnSpPr/>
            <p:nvPr/>
          </p:nvCxnSpPr>
          <p:spPr>
            <a:xfrm>
              <a:off x="3782" y="12747"/>
              <a:ext cx="174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2" name="Google Shape;882;p65"/>
            <p:cNvSpPr/>
            <p:nvPr/>
          </p:nvSpPr>
          <p:spPr>
            <a:xfrm>
              <a:off x="4135" y="11889"/>
              <a:ext cx="883" cy="85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3" name="Google Shape;883;p65"/>
            <p:cNvCxnSpPr/>
            <p:nvPr/>
          </p:nvCxnSpPr>
          <p:spPr>
            <a:xfrm>
              <a:off x="6597" y="11458"/>
              <a:ext cx="1" cy="15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65"/>
            <p:cNvCxnSpPr/>
            <p:nvPr/>
          </p:nvCxnSpPr>
          <p:spPr>
            <a:xfrm>
              <a:off x="6244" y="12747"/>
              <a:ext cx="185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5" name="Google Shape;885;p65"/>
            <p:cNvSpPr/>
            <p:nvPr/>
          </p:nvSpPr>
          <p:spPr>
            <a:xfrm rot="-1126781">
              <a:off x="6437" y="11707"/>
              <a:ext cx="1174" cy="858"/>
            </a:xfrm>
            <a:prstGeom prst="parallelogram">
              <a:avLst>
                <a:gd fmla="val 3420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4539" y="11068"/>
              <a:ext cx="931" cy="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400" lIns="76800" spcFirstLastPara="1" rIns="76800" wrap="square" tIns="38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Before Shear</a:t>
              </a:r>
              <a:endParaRPr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5145" y="12823"/>
              <a:ext cx="442" cy="40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88" name="Google Shape;888;p65"/>
            <p:cNvSpPr/>
            <p:nvPr/>
          </p:nvSpPr>
          <p:spPr>
            <a:xfrm>
              <a:off x="7772" y="12823"/>
              <a:ext cx="442" cy="40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3681" y="11283"/>
              <a:ext cx="442" cy="40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4838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6092" y="11382"/>
              <a:ext cx="442" cy="4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4838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891" name="Google Shape;89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892" name="Google Shape;89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898" name="Google Shape;898;p66"/>
          <p:cNvSpPr txBox="1"/>
          <p:nvPr>
            <p:ph idx="4294967295" type="body"/>
          </p:nvPr>
        </p:nvSpPr>
        <p:spPr>
          <a:xfrm>
            <a:off x="0" y="990600"/>
            <a:ext cx="8763000" cy="29321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81" r="-1250" t="-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99" name="Google Shape;899;p66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66"/>
          <p:cNvSpPr/>
          <p:nvPr/>
        </p:nvSpPr>
        <p:spPr>
          <a:xfrm>
            <a:off x="1371600" y="39233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1" name="Google Shape;901;p66"/>
          <p:cNvGrpSpPr/>
          <p:nvPr/>
        </p:nvGrpSpPr>
        <p:grpSpPr>
          <a:xfrm>
            <a:off x="2271258" y="4191000"/>
            <a:ext cx="4601484" cy="2290188"/>
            <a:chOff x="2342668" y="4191000"/>
            <a:chExt cx="4601484" cy="2290188"/>
          </a:xfrm>
        </p:grpSpPr>
        <p:grpSp>
          <p:nvGrpSpPr>
            <p:cNvPr id="902" name="Google Shape;902;p66"/>
            <p:cNvGrpSpPr/>
            <p:nvPr/>
          </p:nvGrpSpPr>
          <p:grpSpPr>
            <a:xfrm>
              <a:off x="2514600" y="4191000"/>
              <a:ext cx="4429552" cy="2290188"/>
              <a:chOff x="3567" y="10929"/>
              <a:chExt cx="4773" cy="2467"/>
            </a:xfrm>
          </p:grpSpPr>
          <p:sp>
            <p:nvSpPr>
              <p:cNvPr id="903" name="Google Shape;903;p66"/>
              <p:cNvSpPr/>
              <p:nvPr/>
            </p:nvSpPr>
            <p:spPr>
              <a:xfrm>
                <a:off x="3567" y="10929"/>
                <a:ext cx="4773" cy="24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66"/>
              <p:cNvSpPr/>
              <p:nvPr/>
            </p:nvSpPr>
            <p:spPr>
              <a:xfrm>
                <a:off x="7407" y="11102"/>
                <a:ext cx="871" cy="6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8400" lIns="76800" spcFirstLastPara="1" rIns="76800" wrap="square" tIns="384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After Shear</a:t>
                </a:r>
                <a:endParaRPr/>
              </a:p>
            </p:txBody>
          </p:sp>
          <p:cxnSp>
            <p:nvCxnSpPr>
              <p:cNvPr id="905" name="Google Shape;905;p66"/>
              <p:cNvCxnSpPr/>
              <p:nvPr/>
            </p:nvCxnSpPr>
            <p:spPr>
              <a:xfrm>
                <a:off x="4135" y="11357"/>
                <a:ext cx="1" cy="16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66"/>
              <p:cNvCxnSpPr/>
              <p:nvPr/>
            </p:nvCxnSpPr>
            <p:spPr>
              <a:xfrm>
                <a:off x="3567" y="12747"/>
                <a:ext cx="1971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7" name="Google Shape;907;p66"/>
              <p:cNvSpPr/>
              <p:nvPr/>
            </p:nvSpPr>
            <p:spPr>
              <a:xfrm>
                <a:off x="4135" y="11889"/>
                <a:ext cx="883" cy="858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B3B3B3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08" name="Google Shape;908;p66"/>
              <p:cNvCxnSpPr/>
              <p:nvPr/>
            </p:nvCxnSpPr>
            <p:spPr>
              <a:xfrm>
                <a:off x="6597" y="11458"/>
                <a:ext cx="1" cy="155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66"/>
              <p:cNvCxnSpPr/>
              <p:nvPr/>
            </p:nvCxnSpPr>
            <p:spPr>
              <a:xfrm>
                <a:off x="6030" y="12747"/>
                <a:ext cx="1971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0" name="Google Shape;910;p66"/>
              <p:cNvSpPr/>
              <p:nvPr/>
            </p:nvSpPr>
            <p:spPr>
              <a:xfrm rot="-1126781">
                <a:off x="6437" y="11423"/>
                <a:ext cx="1174" cy="858"/>
              </a:xfrm>
              <a:prstGeom prst="parallelogram">
                <a:avLst>
                  <a:gd fmla="val 34207" name="adj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B3B3B3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66"/>
              <p:cNvSpPr/>
              <p:nvPr/>
            </p:nvSpPr>
            <p:spPr>
              <a:xfrm>
                <a:off x="4539" y="11068"/>
                <a:ext cx="931" cy="6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8400" lIns="76800" spcFirstLastPara="1" rIns="76800" wrap="square" tIns="384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Before Shear</a:t>
                </a:r>
                <a:endParaRPr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66"/>
              <p:cNvSpPr/>
              <p:nvPr/>
            </p:nvSpPr>
            <p:spPr>
              <a:xfrm>
                <a:off x="5145" y="12823"/>
                <a:ext cx="442" cy="404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13" name="Google Shape;913;p66"/>
              <p:cNvSpPr/>
              <p:nvPr/>
            </p:nvSpPr>
            <p:spPr>
              <a:xfrm>
                <a:off x="7772" y="12823"/>
                <a:ext cx="442" cy="404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14" name="Google Shape;914;p66"/>
              <p:cNvSpPr/>
              <p:nvPr/>
            </p:nvSpPr>
            <p:spPr>
              <a:xfrm>
                <a:off x="3681" y="11283"/>
                <a:ext cx="442" cy="404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4838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15" name="Google Shape;915;p66"/>
              <p:cNvSpPr/>
              <p:nvPr/>
            </p:nvSpPr>
            <p:spPr>
              <a:xfrm>
                <a:off x="6092" y="11382"/>
                <a:ext cx="442" cy="404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4838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cxnSp>
          <p:nvCxnSpPr>
            <p:cNvPr id="916" name="Google Shape;916;p66"/>
            <p:cNvCxnSpPr/>
            <p:nvPr/>
          </p:nvCxnSpPr>
          <p:spPr>
            <a:xfrm>
              <a:off x="2667000" y="5588137"/>
              <a:ext cx="928" cy="54864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66"/>
            <p:cNvCxnSpPr/>
            <p:nvPr/>
          </p:nvCxnSpPr>
          <p:spPr>
            <a:xfrm>
              <a:off x="4953000" y="5623560"/>
              <a:ext cx="928" cy="54864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8" name="Google Shape;918;p66"/>
            <p:cNvSpPr/>
            <p:nvPr/>
          </p:nvSpPr>
          <p:spPr>
            <a:xfrm>
              <a:off x="2342668" y="6030694"/>
              <a:ext cx="564250" cy="37504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9675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19" name="Google Shape;919;p66"/>
            <p:cNvSpPr/>
            <p:nvPr/>
          </p:nvSpPr>
          <p:spPr>
            <a:xfrm>
              <a:off x="4626781" y="6043775"/>
              <a:ext cx="564250" cy="37504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9675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920" name="Google Shape;92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921" name="Google Shape;92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7"/>
          <p:cNvSpPr txBox="1"/>
          <p:nvPr>
            <p:ph idx="4294967295"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080" l="-2781" r="0" t="-120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7" name="Google Shape;927;p67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03" r="-973" t="-9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928" name="Google Shape;928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929" name="Google Shape;929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68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935" name="Google Shape;935;p68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936" name="Google Shape;93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937" name="Google Shape;93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9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Window and Viewport</a:t>
            </a:r>
            <a:endParaRPr/>
          </a:p>
        </p:txBody>
      </p:sp>
      <p:sp>
        <p:nvSpPr>
          <p:cNvPr id="943" name="Google Shape;943;p69"/>
          <p:cNvSpPr txBox="1"/>
          <p:nvPr>
            <p:ph idx="4294967295" type="body"/>
          </p:nvPr>
        </p:nvSpPr>
        <p:spPr>
          <a:xfrm>
            <a:off x="0" y="990600"/>
            <a:ext cx="8763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Window:</a:t>
            </a:r>
            <a:r>
              <a:rPr lang="en-US"/>
              <a:t> Area selected in world-coordinate for display is called window. It defines what is to be viewed.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Viewport: </a:t>
            </a:r>
            <a:r>
              <a:rPr lang="en-US"/>
              <a:t>Area on a display device in which window image is display (mapped) is called viewport. It defines where to display.</a:t>
            </a:r>
            <a:endParaRPr/>
          </a:p>
        </p:txBody>
      </p:sp>
      <p:sp>
        <p:nvSpPr>
          <p:cNvPr id="944" name="Google Shape;944;p69"/>
          <p:cNvSpPr/>
          <p:nvPr/>
        </p:nvSpPr>
        <p:spPr>
          <a:xfrm>
            <a:off x="6324600" y="4404360"/>
            <a:ext cx="1371600" cy="100584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69"/>
          <p:cNvSpPr/>
          <p:nvPr/>
        </p:nvSpPr>
        <p:spPr>
          <a:xfrm>
            <a:off x="304800" y="4038600"/>
            <a:ext cx="2971800" cy="77724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9"/>
          <p:cNvSpPr/>
          <p:nvPr/>
        </p:nvSpPr>
        <p:spPr>
          <a:xfrm>
            <a:off x="6356536" y="4739640"/>
            <a:ext cx="98417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69"/>
          <p:cNvSpPr/>
          <p:nvPr/>
        </p:nvSpPr>
        <p:spPr>
          <a:xfrm>
            <a:off x="1295400" y="3505200"/>
            <a:ext cx="2743200" cy="18288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9"/>
          <p:cNvSpPr txBox="1"/>
          <p:nvPr/>
        </p:nvSpPr>
        <p:spPr>
          <a:xfrm>
            <a:off x="1295400" y="3124200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/>
          </a:p>
        </p:txBody>
      </p:sp>
      <p:sp>
        <p:nvSpPr>
          <p:cNvPr id="949" name="Google Shape;949;p69"/>
          <p:cNvSpPr txBox="1"/>
          <p:nvPr/>
        </p:nvSpPr>
        <p:spPr>
          <a:xfrm>
            <a:off x="6324600" y="4004250"/>
            <a:ext cx="1371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Viewport</a:t>
            </a:r>
            <a:endParaRPr/>
          </a:p>
        </p:txBody>
      </p:sp>
      <p:cxnSp>
        <p:nvCxnSpPr>
          <p:cNvPr id="950" name="Google Shape;950;p69"/>
          <p:cNvCxnSpPr/>
          <p:nvPr/>
        </p:nvCxnSpPr>
        <p:spPr>
          <a:xfrm rot="10800000">
            <a:off x="838200" y="2895600"/>
            <a:ext cx="0" cy="3048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1" name="Google Shape;951;p69"/>
          <p:cNvCxnSpPr/>
          <p:nvPr/>
        </p:nvCxnSpPr>
        <p:spPr>
          <a:xfrm>
            <a:off x="304800" y="5715000"/>
            <a:ext cx="44958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2" name="Google Shape;952;p69"/>
          <p:cNvCxnSpPr/>
          <p:nvPr/>
        </p:nvCxnSpPr>
        <p:spPr>
          <a:xfrm rot="10800000">
            <a:off x="5960364" y="3870960"/>
            <a:ext cx="0" cy="237744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3" name="Google Shape;953;p69"/>
          <p:cNvCxnSpPr/>
          <p:nvPr/>
        </p:nvCxnSpPr>
        <p:spPr>
          <a:xfrm>
            <a:off x="5426964" y="5699760"/>
            <a:ext cx="3031236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4" name="Google Shape;954;p69"/>
          <p:cNvCxnSpPr/>
          <p:nvPr/>
        </p:nvCxnSpPr>
        <p:spPr>
          <a:xfrm>
            <a:off x="1281752" y="5341960"/>
            <a:ext cx="0" cy="44924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5" name="Google Shape;955;p69"/>
          <p:cNvCxnSpPr/>
          <p:nvPr/>
        </p:nvCxnSpPr>
        <p:spPr>
          <a:xfrm>
            <a:off x="4038600" y="5334000"/>
            <a:ext cx="0" cy="44924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6" name="Google Shape;956;p69"/>
          <p:cNvCxnSpPr/>
          <p:nvPr/>
        </p:nvCxnSpPr>
        <p:spPr>
          <a:xfrm rot="10800000">
            <a:off x="685800" y="5334000"/>
            <a:ext cx="595954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7" name="Google Shape;957;p69"/>
          <p:cNvCxnSpPr/>
          <p:nvPr/>
        </p:nvCxnSpPr>
        <p:spPr>
          <a:xfrm rot="10800000">
            <a:off x="685800" y="3491552"/>
            <a:ext cx="595954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8" name="Google Shape;958;p69"/>
          <p:cNvCxnSpPr/>
          <p:nvPr/>
        </p:nvCxnSpPr>
        <p:spPr>
          <a:xfrm rot="10800000">
            <a:off x="5728646" y="4390712"/>
            <a:ext cx="595954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9" name="Google Shape;959;p69"/>
          <p:cNvCxnSpPr/>
          <p:nvPr/>
        </p:nvCxnSpPr>
        <p:spPr>
          <a:xfrm rot="10800000">
            <a:off x="5715000" y="5408608"/>
            <a:ext cx="595954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0" name="Google Shape;960;p69"/>
          <p:cNvCxnSpPr/>
          <p:nvPr/>
        </p:nvCxnSpPr>
        <p:spPr>
          <a:xfrm>
            <a:off x="6310952" y="5394960"/>
            <a:ext cx="0" cy="44924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1" name="Google Shape;961;p69"/>
          <p:cNvCxnSpPr/>
          <p:nvPr/>
        </p:nvCxnSpPr>
        <p:spPr>
          <a:xfrm>
            <a:off x="7696200" y="5394960"/>
            <a:ext cx="0" cy="44924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62" name="Google Shape;962;p69"/>
          <p:cNvSpPr txBox="1"/>
          <p:nvPr/>
        </p:nvSpPr>
        <p:spPr>
          <a:xfrm>
            <a:off x="990601" y="5799159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Wmin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9"/>
          <p:cNvSpPr txBox="1"/>
          <p:nvPr/>
        </p:nvSpPr>
        <p:spPr>
          <a:xfrm>
            <a:off x="3712191" y="5783240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Wmax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9"/>
          <p:cNvSpPr txBox="1"/>
          <p:nvPr/>
        </p:nvSpPr>
        <p:spPr>
          <a:xfrm>
            <a:off x="109456" y="5196498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Wmin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69"/>
          <p:cNvSpPr txBox="1"/>
          <p:nvPr/>
        </p:nvSpPr>
        <p:spPr>
          <a:xfrm>
            <a:off x="84583" y="3333690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Wmax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9"/>
          <p:cNvSpPr txBox="1"/>
          <p:nvPr/>
        </p:nvSpPr>
        <p:spPr>
          <a:xfrm>
            <a:off x="5125281" y="4232850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Vmax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9"/>
          <p:cNvSpPr txBox="1"/>
          <p:nvPr/>
        </p:nvSpPr>
        <p:spPr>
          <a:xfrm>
            <a:off x="5203631" y="5219470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Vmin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9"/>
          <p:cNvSpPr txBox="1"/>
          <p:nvPr/>
        </p:nvSpPr>
        <p:spPr>
          <a:xfrm>
            <a:off x="5943600" y="5808718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Vmin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9"/>
          <p:cNvSpPr txBox="1"/>
          <p:nvPr/>
        </p:nvSpPr>
        <p:spPr>
          <a:xfrm>
            <a:off x="7197783" y="5790858"/>
            <a:ext cx="838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Vmax</a:t>
            </a:r>
            <a:endParaRPr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971" name="Google Shape;971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0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Viewing Pipeline</a:t>
            </a:r>
            <a:endParaRPr/>
          </a:p>
        </p:txBody>
      </p:sp>
      <p:sp>
        <p:nvSpPr>
          <p:cNvPr id="977" name="Google Shape;977;p70"/>
          <p:cNvSpPr txBox="1"/>
          <p:nvPr>
            <p:ph idx="4294967295" type="body"/>
          </p:nvPr>
        </p:nvSpPr>
        <p:spPr>
          <a:xfrm>
            <a:off x="0" y="990600"/>
            <a:ext cx="8763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many case window and viewport are rectangle, also other shape may be used as window and viewport.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general finding device coordinates of viewport from word coordinates of window is called as </a:t>
            </a:r>
            <a:r>
              <a:rPr b="1" lang="en-US"/>
              <a:t>viewing transformation.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Sometimes we consider this viewing transformation as window-to-viewport transformation but in general it involves more steps.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Let’s see steps involved in viewing pipeline.</a:t>
            </a:r>
            <a:endParaRPr/>
          </a:p>
        </p:txBody>
      </p:sp>
      <p:sp>
        <p:nvSpPr>
          <p:cNvPr id="978" name="Google Shape;978;p70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980" name="Google Shape;980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1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986" name="Google Shape;986;p71"/>
          <p:cNvSpPr/>
          <p:nvPr/>
        </p:nvSpPr>
        <p:spPr>
          <a:xfrm>
            <a:off x="773803" y="1980205"/>
            <a:ext cx="1207398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71"/>
          <p:cNvSpPr/>
          <p:nvPr/>
        </p:nvSpPr>
        <p:spPr>
          <a:xfrm>
            <a:off x="1994848" y="1458890"/>
            <a:ext cx="2133600" cy="157603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 World-Coordinate Scene Using Modeling-Coordinate Transformations</a:t>
            </a:r>
            <a:endParaRPr/>
          </a:p>
        </p:txBody>
      </p:sp>
      <p:sp>
        <p:nvSpPr>
          <p:cNvPr id="988" name="Google Shape;988;p71"/>
          <p:cNvSpPr/>
          <p:nvPr/>
        </p:nvSpPr>
        <p:spPr>
          <a:xfrm>
            <a:off x="5349493" y="1481497"/>
            <a:ext cx="1591672" cy="157603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 World-Coordinate to Viewing Coordinates</a:t>
            </a:r>
            <a:endParaRPr/>
          </a:p>
        </p:txBody>
      </p:sp>
      <p:sp>
        <p:nvSpPr>
          <p:cNvPr id="989" name="Google Shape;989;p71"/>
          <p:cNvSpPr/>
          <p:nvPr/>
        </p:nvSpPr>
        <p:spPr>
          <a:xfrm>
            <a:off x="2058818" y="4419600"/>
            <a:ext cx="2107730" cy="158200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 Viewing Coordinate to Normalized Viewing Coordinates using Window-Viewport Specifications</a:t>
            </a:r>
            <a:endParaRPr/>
          </a:p>
        </p:txBody>
      </p:sp>
      <p:sp>
        <p:nvSpPr>
          <p:cNvPr id="990" name="Google Shape;990;p71"/>
          <p:cNvSpPr/>
          <p:nvPr/>
        </p:nvSpPr>
        <p:spPr>
          <a:xfrm>
            <a:off x="5349493" y="4419600"/>
            <a:ext cx="1371600" cy="158200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 Normalized Viewport to Device Coordinates</a:t>
            </a:r>
            <a:endParaRPr/>
          </a:p>
        </p:txBody>
      </p:sp>
      <p:sp>
        <p:nvSpPr>
          <p:cNvPr id="991" name="Google Shape;991;p71"/>
          <p:cNvSpPr/>
          <p:nvPr/>
        </p:nvSpPr>
        <p:spPr>
          <a:xfrm>
            <a:off x="4128449" y="1980205"/>
            <a:ext cx="1205552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WC</a:t>
            </a:r>
            <a:endParaRPr/>
          </a:p>
        </p:txBody>
      </p:sp>
      <p:sp>
        <p:nvSpPr>
          <p:cNvPr id="992" name="Google Shape;992;p71"/>
          <p:cNvSpPr/>
          <p:nvPr/>
        </p:nvSpPr>
        <p:spPr>
          <a:xfrm>
            <a:off x="6719248" y="4986479"/>
            <a:ext cx="1053152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DC</a:t>
            </a:r>
            <a:endParaRPr/>
          </a:p>
        </p:txBody>
      </p:sp>
      <p:sp>
        <p:nvSpPr>
          <p:cNvPr id="993" name="Google Shape;993;p71"/>
          <p:cNvSpPr/>
          <p:nvPr/>
        </p:nvSpPr>
        <p:spPr>
          <a:xfrm>
            <a:off x="4166563" y="4953000"/>
            <a:ext cx="1171710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NVC</a:t>
            </a:r>
            <a:endParaRPr/>
          </a:p>
        </p:txBody>
      </p:sp>
      <p:sp>
        <p:nvSpPr>
          <p:cNvPr id="994" name="Google Shape;994;p71"/>
          <p:cNvSpPr/>
          <p:nvPr/>
        </p:nvSpPr>
        <p:spPr>
          <a:xfrm rot="5400000">
            <a:off x="661126" y="4156384"/>
            <a:ext cx="1711160" cy="1018393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71"/>
          <p:cNvSpPr/>
          <p:nvPr/>
        </p:nvSpPr>
        <p:spPr>
          <a:xfrm>
            <a:off x="1006584" y="3646223"/>
            <a:ext cx="5318016" cy="25206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VC</a:t>
            </a:r>
            <a:endParaRPr/>
          </a:p>
        </p:txBody>
      </p:sp>
      <p:sp>
        <p:nvSpPr>
          <p:cNvPr id="996" name="Google Shape;996;p71"/>
          <p:cNvSpPr/>
          <p:nvPr/>
        </p:nvSpPr>
        <p:spPr>
          <a:xfrm>
            <a:off x="6019800" y="3057528"/>
            <a:ext cx="304800" cy="84075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998" name="Google Shape;998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2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600"/>
              <a:t>Window-To-Viewport Coordinate Transformation</a:t>
            </a:r>
            <a:endParaRPr/>
          </a:p>
        </p:txBody>
      </p:sp>
      <p:sp>
        <p:nvSpPr>
          <p:cNvPr id="1004" name="Google Shape;1004;p72"/>
          <p:cNvSpPr txBox="1"/>
          <p:nvPr>
            <p:ph idx="4294967295" type="body"/>
          </p:nvPr>
        </p:nvSpPr>
        <p:spPr>
          <a:xfrm>
            <a:off x="0" y="950913"/>
            <a:ext cx="8763000" cy="27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Mapping of window coordinate to viewport is called window to viewport transformation.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do this using transformation that maintains relative position of window coordinate into viewport.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That means center coordinates in window must be remains at center position in viewport.</a:t>
            </a:r>
            <a:endParaRPr/>
          </a:p>
        </p:txBody>
      </p:sp>
      <p:grpSp>
        <p:nvGrpSpPr>
          <p:cNvPr id="1005" name="Google Shape;1005;p72"/>
          <p:cNvGrpSpPr/>
          <p:nvPr/>
        </p:nvGrpSpPr>
        <p:grpSpPr>
          <a:xfrm>
            <a:off x="762000" y="3795867"/>
            <a:ext cx="7620000" cy="2452533"/>
            <a:chOff x="381000" y="838200"/>
            <a:chExt cx="7620000" cy="2452533"/>
          </a:xfrm>
        </p:grpSpPr>
        <p:sp>
          <p:nvSpPr>
            <p:cNvPr id="1006" name="Google Shape;1006;p72"/>
            <p:cNvSpPr/>
            <p:nvPr/>
          </p:nvSpPr>
          <p:spPr>
            <a:xfrm>
              <a:off x="6100389" y="1901190"/>
              <a:ext cx="1221821" cy="70866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72"/>
            <p:cNvSpPr/>
            <p:nvPr/>
          </p:nvSpPr>
          <p:spPr>
            <a:xfrm>
              <a:off x="1620379" y="1267691"/>
              <a:ext cx="2443642" cy="1288473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72"/>
            <p:cNvSpPr txBox="1"/>
            <p:nvPr/>
          </p:nvSpPr>
          <p:spPr>
            <a:xfrm>
              <a:off x="1620379" y="955344"/>
              <a:ext cx="2443642" cy="281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Window</a:t>
              </a:r>
              <a:endParaRPr/>
            </a:p>
          </p:txBody>
        </p:sp>
        <p:sp>
          <p:nvSpPr>
            <p:cNvPr id="1009" name="Google Shape;1009;p72"/>
            <p:cNvSpPr txBox="1"/>
            <p:nvPr/>
          </p:nvSpPr>
          <p:spPr>
            <a:xfrm>
              <a:off x="6100389" y="1595808"/>
              <a:ext cx="1221821" cy="281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Viewport</a:t>
              </a:r>
              <a:endParaRPr/>
            </a:p>
          </p:txBody>
        </p:sp>
        <p:cxnSp>
          <p:nvCxnSpPr>
            <p:cNvPr id="1010" name="Google Shape;1010;p72"/>
            <p:cNvCxnSpPr/>
            <p:nvPr/>
          </p:nvCxnSpPr>
          <p:spPr>
            <a:xfrm rot="10800000">
              <a:off x="1213105" y="838200"/>
              <a:ext cx="0" cy="2147454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1" name="Google Shape;1011;p72"/>
            <p:cNvCxnSpPr/>
            <p:nvPr/>
          </p:nvCxnSpPr>
          <p:spPr>
            <a:xfrm>
              <a:off x="737952" y="2824595"/>
              <a:ext cx="4004858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2" name="Google Shape;1012;p72"/>
            <p:cNvCxnSpPr/>
            <p:nvPr/>
          </p:nvCxnSpPr>
          <p:spPr>
            <a:xfrm rot="10800000">
              <a:off x="5775928" y="1525385"/>
              <a:ext cx="0" cy="1675014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3" name="Google Shape;1013;p72"/>
            <p:cNvCxnSpPr/>
            <p:nvPr/>
          </p:nvCxnSpPr>
          <p:spPr>
            <a:xfrm>
              <a:off x="5300775" y="2813858"/>
              <a:ext cx="2700225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4" name="Google Shape;1014;p72"/>
            <p:cNvCxnSpPr/>
            <p:nvPr/>
          </p:nvCxnSpPr>
          <p:spPr>
            <a:xfrm>
              <a:off x="1608221" y="2561772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15" name="Google Shape;1015;p72"/>
            <p:cNvCxnSpPr/>
            <p:nvPr/>
          </p:nvCxnSpPr>
          <p:spPr>
            <a:xfrm>
              <a:off x="4064021" y="2556163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16" name="Google Shape;1016;p72"/>
            <p:cNvCxnSpPr/>
            <p:nvPr/>
          </p:nvCxnSpPr>
          <p:spPr>
            <a:xfrm rot="10800000">
              <a:off x="1077347" y="2556163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17" name="Google Shape;1017;p72"/>
            <p:cNvCxnSpPr/>
            <p:nvPr/>
          </p:nvCxnSpPr>
          <p:spPr>
            <a:xfrm rot="10800000">
              <a:off x="1077347" y="1258075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18" name="Google Shape;1018;p72"/>
            <p:cNvCxnSpPr/>
            <p:nvPr/>
          </p:nvCxnSpPr>
          <p:spPr>
            <a:xfrm rot="10800000">
              <a:off x="5569514" y="1891574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19" name="Google Shape;1019;p72"/>
            <p:cNvCxnSpPr/>
            <p:nvPr/>
          </p:nvCxnSpPr>
          <p:spPr>
            <a:xfrm rot="10800000">
              <a:off x="5557358" y="2608728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20" name="Google Shape;1020;p72"/>
            <p:cNvCxnSpPr/>
            <p:nvPr/>
          </p:nvCxnSpPr>
          <p:spPr>
            <a:xfrm>
              <a:off x="6088232" y="2599113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21" name="Google Shape;1021;p72"/>
            <p:cNvCxnSpPr/>
            <p:nvPr/>
          </p:nvCxnSpPr>
          <p:spPr>
            <a:xfrm>
              <a:off x="7322211" y="2599113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022" name="Google Shape;1022;p72"/>
            <p:cNvSpPr txBox="1"/>
            <p:nvPr/>
          </p:nvSpPr>
          <p:spPr>
            <a:xfrm>
              <a:off x="1348863" y="2883889"/>
              <a:ext cx="88684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72"/>
            <p:cNvSpPr txBox="1"/>
            <p:nvPr/>
          </p:nvSpPr>
          <p:spPr>
            <a:xfrm>
              <a:off x="3657600" y="2872672"/>
              <a:ext cx="86232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72"/>
            <p:cNvSpPr txBox="1"/>
            <p:nvPr/>
          </p:nvSpPr>
          <p:spPr>
            <a:xfrm>
              <a:off x="381000" y="2459286"/>
              <a:ext cx="9296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72"/>
            <p:cNvSpPr txBox="1"/>
            <p:nvPr/>
          </p:nvSpPr>
          <p:spPr>
            <a:xfrm>
              <a:off x="381000" y="1146854"/>
              <a:ext cx="90745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72"/>
            <p:cNvSpPr txBox="1"/>
            <p:nvPr/>
          </p:nvSpPr>
          <p:spPr>
            <a:xfrm>
              <a:off x="5032036" y="1780353"/>
              <a:ext cx="74666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72"/>
            <p:cNvSpPr txBox="1"/>
            <p:nvPr/>
          </p:nvSpPr>
          <p:spPr>
            <a:xfrm>
              <a:off x="5032036" y="2475471"/>
              <a:ext cx="81646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72"/>
            <p:cNvSpPr txBox="1"/>
            <p:nvPr/>
          </p:nvSpPr>
          <p:spPr>
            <a:xfrm>
              <a:off x="5753901" y="2890623"/>
              <a:ext cx="75376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72"/>
            <p:cNvSpPr txBox="1"/>
            <p:nvPr/>
          </p:nvSpPr>
          <p:spPr>
            <a:xfrm>
              <a:off x="6878220" y="2878040"/>
              <a:ext cx="86341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72"/>
            <p:cNvSpPr/>
            <p:nvPr/>
          </p:nvSpPr>
          <p:spPr>
            <a:xfrm>
              <a:off x="2792670" y="1839698"/>
              <a:ext cx="99060" cy="120211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72"/>
            <p:cNvSpPr/>
            <p:nvPr/>
          </p:nvSpPr>
          <p:spPr>
            <a:xfrm>
              <a:off x="6661769" y="2195458"/>
              <a:ext cx="99060" cy="120211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32" name="Google Shape;1032;p72"/>
            <p:cNvCxnSpPr>
              <a:stCxn id="1030" idx="2"/>
              <a:endCxn id="1007" idx="1"/>
            </p:cNvCxnSpPr>
            <p:nvPr/>
          </p:nvCxnSpPr>
          <p:spPr>
            <a:xfrm flipH="1">
              <a:off x="1620270" y="1899804"/>
              <a:ext cx="1172400" cy="120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33" name="Google Shape;1033;p72"/>
            <p:cNvCxnSpPr>
              <a:stCxn id="1030" idx="4"/>
              <a:endCxn id="1007" idx="2"/>
            </p:cNvCxnSpPr>
            <p:nvPr/>
          </p:nvCxnSpPr>
          <p:spPr>
            <a:xfrm>
              <a:off x="2842200" y="1959909"/>
              <a:ext cx="0" cy="5964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34" name="Google Shape;1034;p72"/>
            <p:cNvCxnSpPr>
              <a:stCxn id="1006" idx="1"/>
              <a:endCxn id="1031" idx="2"/>
            </p:cNvCxnSpPr>
            <p:nvPr/>
          </p:nvCxnSpPr>
          <p:spPr>
            <a:xfrm>
              <a:off x="6100389" y="2255520"/>
              <a:ext cx="5613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35" name="Google Shape;1035;p72"/>
            <p:cNvCxnSpPr>
              <a:stCxn id="1031" idx="4"/>
              <a:endCxn id="1006" idx="2"/>
            </p:cNvCxnSpPr>
            <p:nvPr/>
          </p:nvCxnSpPr>
          <p:spPr>
            <a:xfrm>
              <a:off x="6711299" y="2315669"/>
              <a:ext cx="0" cy="2943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036" name="Google Shape;1036;p72"/>
            <p:cNvSpPr txBox="1"/>
            <p:nvPr/>
          </p:nvSpPr>
          <p:spPr>
            <a:xfrm>
              <a:off x="6136857" y="1848819"/>
              <a:ext cx="46977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sp>
          <p:nvSpPr>
            <p:cNvPr id="1037" name="Google Shape;1037;p72"/>
            <p:cNvSpPr/>
            <p:nvPr/>
          </p:nvSpPr>
          <p:spPr>
            <a:xfrm>
              <a:off x="6711298" y="2290009"/>
              <a:ext cx="3914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72"/>
            <p:cNvSpPr/>
            <p:nvPr/>
          </p:nvSpPr>
          <p:spPr>
            <a:xfrm>
              <a:off x="1952265" y="1539738"/>
              <a:ext cx="4331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72"/>
            <p:cNvSpPr/>
            <p:nvPr/>
          </p:nvSpPr>
          <p:spPr>
            <a:xfrm>
              <a:off x="2839425" y="2026204"/>
              <a:ext cx="4411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0" name="Google Shape;1040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041" name="Google Shape;1041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3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Contd.</a:t>
            </a:r>
            <a:endParaRPr/>
          </a:p>
        </p:txBody>
      </p:sp>
      <p:sp>
        <p:nvSpPr>
          <p:cNvPr id="1047" name="Google Shape;1047;p73"/>
          <p:cNvSpPr txBox="1"/>
          <p:nvPr>
            <p:ph idx="4294967295" type="body"/>
          </p:nvPr>
        </p:nvSpPr>
        <p:spPr>
          <a:xfrm>
            <a:off x="0" y="950913"/>
            <a:ext cx="8763000" cy="27066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-58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1048" name="Google Shape;1048;p73"/>
          <p:cNvGrpSpPr/>
          <p:nvPr/>
        </p:nvGrpSpPr>
        <p:grpSpPr>
          <a:xfrm>
            <a:off x="762000" y="3795867"/>
            <a:ext cx="7620000" cy="2452533"/>
            <a:chOff x="381000" y="838200"/>
            <a:chExt cx="7620000" cy="2452533"/>
          </a:xfrm>
        </p:grpSpPr>
        <p:sp>
          <p:nvSpPr>
            <p:cNvPr id="1049" name="Google Shape;1049;p73"/>
            <p:cNvSpPr/>
            <p:nvPr/>
          </p:nvSpPr>
          <p:spPr>
            <a:xfrm>
              <a:off x="6100389" y="1901190"/>
              <a:ext cx="1221821" cy="70866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73"/>
            <p:cNvSpPr/>
            <p:nvPr/>
          </p:nvSpPr>
          <p:spPr>
            <a:xfrm>
              <a:off x="1620379" y="1267691"/>
              <a:ext cx="2443642" cy="1288473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73"/>
            <p:cNvSpPr txBox="1"/>
            <p:nvPr/>
          </p:nvSpPr>
          <p:spPr>
            <a:xfrm>
              <a:off x="1620379" y="955344"/>
              <a:ext cx="2443642" cy="281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Window</a:t>
              </a:r>
              <a:endParaRPr/>
            </a:p>
          </p:txBody>
        </p:sp>
        <p:sp>
          <p:nvSpPr>
            <p:cNvPr id="1052" name="Google Shape;1052;p73"/>
            <p:cNvSpPr txBox="1"/>
            <p:nvPr/>
          </p:nvSpPr>
          <p:spPr>
            <a:xfrm>
              <a:off x="6100389" y="1595808"/>
              <a:ext cx="1221821" cy="281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Viewport</a:t>
              </a:r>
              <a:endParaRPr/>
            </a:p>
          </p:txBody>
        </p:sp>
        <p:cxnSp>
          <p:nvCxnSpPr>
            <p:cNvPr id="1053" name="Google Shape;1053;p73"/>
            <p:cNvCxnSpPr/>
            <p:nvPr/>
          </p:nvCxnSpPr>
          <p:spPr>
            <a:xfrm rot="10800000">
              <a:off x="1213105" y="838200"/>
              <a:ext cx="0" cy="2147454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4" name="Google Shape;1054;p73"/>
            <p:cNvCxnSpPr/>
            <p:nvPr/>
          </p:nvCxnSpPr>
          <p:spPr>
            <a:xfrm>
              <a:off x="737952" y="2824595"/>
              <a:ext cx="4004858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5" name="Google Shape;1055;p73"/>
            <p:cNvCxnSpPr/>
            <p:nvPr/>
          </p:nvCxnSpPr>
          <p:spPr>
            <a:xfrm rot="10800000">
              <a:off x="5775928" y="1525385"/>
              <a:ext cx="0" cy="1675014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6" name="Google Shape;1056;p73"/>
            <p:cNvCxnSpPr/>
            <p:nvPr/>
          </p:nvCxnSpPr>
          <p:spPr>
            <a:xfrm>
              <a:off x="5300775" y="2813858"/>
              <a:ext cx="2700225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7" name="Google Shape;1057;p73"/>
            <p:cNvCxnSpPr/>
            <p:nvPr/>
          </p:nvCxnSpPr>
          <p:spPr>
            <a:xfrm>
              <a:off x="1608221" y="2561772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58" name="Google Shape;1058;p73"/>
            <p:cNvCxnSpPr/>
            <p:nvPr/>
          </p:nvCxnSpPr>
          <p:spPr>
            <a:xfrm>
              <a:off x="4064021" y="2556163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59" name="Google Shape;1059;p73"/>
            <p:cNvCxnSpPr/>
            <p:nvPr/>
          </p:nvCxnSpPr>
          <p:spPr>
            <a:xfrm rot="10800000">
              <a:off x="1077347" y="2556163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0" name="Google Shape;1060;p73"/>
            <p:cNvCxnSpPr/>
            <p:nvPr/>
          </p:nvCxnSpPr>
          <p:spPr>
            <a:xfrm rot="10800000">
              <a:off x="1077347" y="1258075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73"/>
            <p:cNvCxnSpPr/>
            <p:nvPr/>
          </p:nvCxnSpPr>
          <p:spPr>
            <a:xfrm rot="10800000">
              <a:off x="5569514" y="1891574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73"/>
            <p:cNvCxnSpPr/>
            <p:nvPr/>
          </p:nvCxnSpPr>
          <p:spPr>
            <a:xfrm rot="10800000">
              <a:off x="5557358" y="2608728"/>
              <a:ext cx="530876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73"/>
            <p:cNvCxnSpPr/>
            <p:nvPr/>
          </p:nvCxnSpPr>
          <p:spPr>
            <a:xfrm>
              <a:off x="6088232" y="2599113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73"/>
            <p:cNvCxnSpPr/>
            <p:nvPr/>
          </p:nvCxnSpPr>
          <p:spPr>
            <a:xfrm>
              <a:off x="7322211" y="2599113"/>
              <a:ext cx="0" cy="31651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065" name="Google Shape;1065;p73"/>
            <p:cNvSpPr txBox="1"/>
            <p:nvPr/>
          </p:nvSpPr>
          <p:spPr>
            <a:xfrm>
              <a:off x="1348863" y="2883889"/>
              <a:ext cx="88684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73"/>
            <p:cNvSpPr txBox="1"/>
            <p:nvPr/>
          </p:nvSpPr>
          <p:spPr>
            <a:xfrm>
              <a:off x="3657600" y="2872672"/>
              <a:ext cx="86232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73"/>
            <p:cNvSpPr txBox="1"/>
            <p:nvPr/>
          </p:nvSpPr>
          <p:spPr>
            <a:xfrm>
              <a:off x="381000" y="2459286"/>
              <a:ext cx="9296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73"/>
            <p:cNvSpPr txBox="1"/>
            <p:nvPr/>
          </p:nvSpPr>
          <p:spPr>
            <a:xfrm>
              <a:off x="381000" y="1146854"/>
              <a:ext cx="90745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73"/>
            <p:cNvSpPr txBox="1"/>
            <p:nvPr/>
          </p:nvSpPr>
          <p:spPr>
            <a:xfrm>
              <a:off x="5032036" y="1780353"/>
              <a:ext cx="74666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73"/>
            <p:cNvSpPr txBox="1"/>
            <p:nvPr/>
          </p:nvSpPr>
          <p:spPr>
            <a:xfrm>
              <a:off x="5032036" y="2475471"/>
              <a:ext cx="81646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73"/>
            <p:cNvSpPr txBox="1"/>
            <p:nvPr/>
          </p:nvSpPr>
          <p:spPr>
            <a:xfrm>
              <a:off x="5753901" y="2890623"/>
              <a:ext cx="75376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Vmin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73"/>
            <p:cNvSpPr txBox="1"/>
            <p:nvPr/>
          </p:nvSpPr>
          <p:spPr>
            <a:xfrm>
              <a:off x="6878220" y="2878040"/>
              <a:ext cx="86341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Vmax</a:t>
              </a:r>
              <a:endParaRPr baseline="-2500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73"/>
            <p:cNvSpPr/>
            <p:nvPr/>
          </p:nvSpPr>
          <p:spPr>
            <a:xfrm>
              <a:off x="2792670" y="1839698"/>
              <a:ext cx="99060" cy="120211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73"/>
            <p:cNvSpPr/>
            <p:nvPr/>
          </p:nvSpPr>
          <p:spPr>
            <a:xfrm>
              <a:off x="6661769" y="2195458"/>
              <a:ext cx="99060" cy="120211"/>
            </a:xfrm>
            <a:prstGeom prst="flowChartConnector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5" name="Google Shape;1075;p73"/>
            <p:cNvCxnSpPr>
              <a:stCxn id="1073" idx="2"/>
              <a:endCxn id="1050" idx="1"/>
            </p:cNvCxnSpPr>
            <p:nvPr/>
          </p:nvCxnSpPr>
          <p:spPr>
            <a:xfrm flipH="1">
              <a:off x="1620270" y="1899804"/>
              <a:ext cx="1172400" cy="120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76" name="Google Shape;1076;p73"/>
            <p:cNvCxnSpPr>
              <a:stCxn id="1073" idx="4"/>
              <a:endCxn id="1050" idx="2"/>
            </p:cNvCxnSpPr>
            <p:nvPr/>
          </p:nvCxnSpPr>
          <p:spPr>
            <a:xfrm>
              <a:off x="2842200" y="1959909"/>
              <a:ext cx="0" cy="5964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77" name="Google Shape;1077;p73"/>
            <p:cNvCxnSpPr>
              <a:stCxn id="1049" idx="1"/>
              <a:endCxn id="1074" idx="2"/>
            </p:cNvCxnSpPr>
            <p:nvPr/>
          </p:nvCxnSpPr>
          <p:spPr>
            <a:xfrm>
              <a:off x="6100389" y="2255520"/>
              <a:ext cx="5613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78" name="Google Shape;1078;p73"/>
            <p:cNvCxnSpPr>
              <a:stCxn id="1074" idx="4"/>
              <a:endCxn id="1049" idx="2"/>
            </p:cNvCxnSpPr>
            <p:nvPr/>
          </p:nvCxnSpPr>
          <p:spPr>
            <a:xfrm>
              <a:off x="6711299" y="2315669"/>
              <a:ext cx="0" cy="2943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079" name="Google Shape;1079;p73"/>
            <p:cNvSpPr txBox="1"/>
            <p:nvPr/>
          </p:nvSpPr>
          <p:spPr>
            <a:xfrm>
              <a:off x="6136857" y="1848819"/>
              <a:ext cx="46977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sp>
          <p:nvSpPr>
            <p:cNvPr id="1080" name="Google Shape;1080;p73"/>
            <p:cNvSpPr/>
            <p:nvPr/>
          </p:nvSpPr>
          <p:spPr>
            <a:xfrm>
              <a:off x="6711298" y="2290009"/>
              <a:ext cx="3914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73"/>
            <p:cNvSpPr/>
            <p:nvPr/>
          </p:nvSpPr>
          <p:spPr>
            <a:xfrm>
              <a:off x="1952265" y="1539738"/>
              <a:ext cx="4331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73"/>
            <p:cNvSpPr/>
            <p:nvPr/>
          </p:nvSpPr>
          <p:spPr>
            <a:xfrm>
              <a:off x="2839425" y="2026204"/>
              <a:ext cx="4411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3" name="Google Shape;1083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084" name="Google Shape;1084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4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1090" name="Google Shape;1090;p74"/>
          <p:cNvSpPr txBox="1"/>
          <p:nvPr>
            <p:ph idx="4294967295" type="body"/>
          </p:nvPr>
        </p:nvSpPr>
        <p:spPr>
          <a:xfrm>
            <a:off x="0" y="1008459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-1529" t="-29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091" name="Google Shape;1091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092" name="Google Shape;1092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75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</a:t>
            </a:r>
            <a:endParaRPr/>
          </a:p>
        </p:txBody>
      </p:sp>
      <p:sp>
        <p:nvSpPr>
          <p:cNvPr id="1098" name="Google Shape;1098;p75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-1529" t="-29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099" name="Google Shape;1099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100" name="Google Shape;1100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6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Contd.</a:t>
            </a:r>
            <a:endParaRPr/>
          </a:p>
        </p:txBody>
      </p:sp>
      <p:sp>
        <p:nvSpPr>
          <p:cNvPr id="1106" name="Google Shape;1106;p76"/>
          <p:cNvSpPr txBox="1"/>
          <p:nvPr>
            <p:ph idx="4294967295" type="body"/>
          </p:nvPr>
        </p:nvSpPr>
        <p:spPr>
          <a:xfrm>
            <a:off x="0" y="990600"/>
            <a:ext cx="8763000" cy="533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73" r="-1041" t="-21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107" name="Google Shape;1107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77"/>
          <p:cNvSpPr txBox="1"/>
          <p:nvPr>
            <p:ph idx="4294967295" type="title"/>
          </p:nvPr>
        </p:nvSpPr>
        <p:spPr>
          <a:xfrm>
            <a:off x="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Contd.</a:t>
            </a:r>
            <a:endParaRPr/>
          </a:p>
        </p:txBody>
      </p:sp>
      <p:sp>
        <p:nvSpPr>
          <p:cNvPr id="1114" name="Google Shape;1114;p77"/>
          <p:cNvSpPr txBox="1"/>
          <p:nvPr>
            <p:ph idx="4294967295" type="body"/>
          </p:nvPr>
        </p:nvSpPr>
        <p:spPr>
          <a:xfrm>
            <a:off x="0" y="1184648"/>
            <a:ext cx="8763000" cy="2549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For each display device we can use different window to viewport transformation. This mapping is known as </a:t>
            </a:r>
            <a:r>
              <a:rPr b="1" lang="en-US" sz="2800"/>
              <a:t>workstation transformation.</a:t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Also we can use two different displays devices and we map different window-to-viewport on each one.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1" marL="4572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115" name="Google Shape;1115;p77"/>
          <p:cNvSpPr/>
          <p:nvPr/>
        </p:nvSpPr>
        <p:spPr>
          <a:xfrm>
            <a:off x="3638550" y="4179332"/>
            <a:ext cx="1866900" cy="10668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77"/>
          <p:cNvSpPr txBox="1"/>
          <p:nvPr/>
        </p:nvSpPr>
        <p:spPr>
          <a:xfrm>
            <a:off x="3638550" y="3810000"/>
            <a:ext cx="1866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Normalized Space</a:t>
            </a:r>
            <a:endParaRPr/>
          </a:p>
        </p:txBody>
      </p:sp>
      <p:sp>
        <p:nvSpPr>
          <p:cNvPr id="1117" name="Google Shape;1117;p77"/>
          <p:cNvSpPr/>
          <p:nvPr/>
        </p:nvSpPr>
        <p:spPr>
          <a:xfrm>
            <a:off x="3962400" y="4429921"/>
            <a:ext cx="1295400" cy="587611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77"/>
          <p:cNvSpPr txBox="1"/>
          <p:nvPr/>
        </p:nvSpPr>
        <p:spPr>
          <a:xfrm>
            <a:off x="3962400" y="411954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Viewport</a:t>
            </a:r>
            <a:endParaRPr/>
          </a:p>
        </p:txBody>
      </p:sp>
      <p:sp>
        <p:nvSpPr>
          <p:cNvPr id="1119" name="Google Shape;1119;p77"/>
          <p:cNvSpPr/>
          <p:nvPr/>
        </p:nvSpPr>
        <p:spPr>
          <a:xfrm>
            <a:off x="4101152" y="4535016"/>
            <a:ext cx="304800" cy="37902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77"/>
          <p:cNvSpPr/>
          <p:nvPr/>
        </p:nvSpPr>
        <p:spPr>
          <a:xfrm>
            <a:off x="4724400" y="4562312"/>
            <a:ext cx="381000" cy="30678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7"/>
          <p:cNvSpPr/>
          <p:nvPr/>
        </p:nvSpPr>
        <p:spPr>
          <a:xfrm>
            <a:off x="634052" y="4030892"/>
            <a:ext cx="1219200" cy="914400"/>
          </a:xfrm>
          <a:prstGeom prst="flowChartAlternateProcess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77"/>
          <p:cNvSpPr/>
          <p:nvPr/>
        </p:nvSpPr>
        <p:spPr>
          <a:xfrm>
            <a:off x="7429500" y="3999931"/>
            <a:ext cx="1219200" cy="914400"/>
          </a:xfrm>
          <a:prstGeom prst="flowChartAlternateProcess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77"/>
          <p:cNvSpPr txBox="1"/>
          <p:nvPr/>
        </p:nvSpPr>
        <p:spPr>
          <a:xfrm>
            <a:off x="634052" y="4945292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1</a:t>
            </a:r>
            <a:endParaRPr/>
          </a:p>
        </p:txBody>
      </p:sp>
      <p:sp>
        <p:nvSpPr>
          <p:cNvPr id="1124" name="Google Shape;1124;p77"/>
          <p:cNvSpPr txBox="1"/>
          <p:nvPr/>
        </p:nvSpPr>
        <p:spPr>
          <a:xfrm>
            <a:off x="7429500" y="4914331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2</a:t>
            </a:r>
            <a:endParaRPr/>
          </a:p>
        </p:txBody>
      </p:sp>
      <p:sp>
        <p:nvSpPr>
          <p:cNvPr id="1125" name="Google Shape;1125;p77"/>
          <p:cNvSpPr/>
          <p:nvPr/>
        </p:nvSpPr>
        <p:spPr>
          <a:xfrm>
            <a:off x="1015052" y="4340432"/>
            <a:ext cx="457200" cy="52866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7"/>
          <p:cNvSpPr/>
          <p:nvPr/>
        </p:nvSpPr>
        <p:spPr>
          <a:xfrm>
            <a:off x="7693356" y="4270977"/>
            <a:ext cx="650544" cy="5671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7" name="Google Shape;1127;p77"/>
          <p:cNvCxnSpPr>
            <a:stCxn id="1117" idx="0"/>
            <a:endCxn id="1117" idx="2"/>
          </p:cNvCxnSpPr>
          <p:nvPr/>
        </p:nvCxnSpPr>
        <p:spPr>
          <a:xfrm>
            <a:off x="4610100" y="4429921"/>
            <a:ext cx="0" cy="58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28" name="Google Shape;1128;p77"/>
          <p:cNvSpPr txBox="1"/>
          <p:nvPr/>
        </p:nvSpPr>
        <p:spPr>
          <a:xfrm>
            <a:off x="500702" y="4042560"/>
            <a:ext cx="14859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Viewport</a:t>
            </a:r>
            <a:endParaRPr/>
          </a:p>
        </p:txBody>
      </p:sp>
      <p:sp>
        <p:nvSpPr>
          <p:cNvPr id="1129" name="Google Shape;1129;p77"/>
          <p:cNvSpPr txBox="1"/>
          <p:nvPr/>
        </p:nvSpPr>
        <p:spPr>
          <a:xfrm>
            <a:off x="7277100" y="3999931"/>
            <a:ext cx="14859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Viewport</a:t>
            </a:r>
            <a:endParaRPr/>
          </a:p>
        </p:txBody>
      </p:sp>
      <p:sp>
        <p:nvSpPr>
          <p:cNvPr id="1130" name="Google Shape;1130;p77"/>
          <p:cNvSpPr txBox="1"/>
          <p:nvPr/>
        </p:nvSpPr>
        <p:spPr>
          <a:xfrm>
            <a:off x="2819400" y="5246132"/>
            <a:ext cx="13443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Window</a:t>
            </a:r>
            <a:endParaRPr/>
          </a:p>
        </p:txBody>
      </p:sp>
      <p:sp>
        <p:nvSpPr>
          <p:cNvPr id="1131" name="Google Shape;1131;p77"/>
          <p:cNvSpPr txBox="1"/>
          <p:nvPr/>
        </p:nvSpPr>
        <p:spPr>
          <a:xfrm>
            <a:off x="4991100" y="5259794"/>
            <a:ext cx="13335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Window</a:t>
            </a:r>
            <a:endParaRPr/>
          </a:p>
        </p:txBody>
      </p:sp>
      <p:cxnSp>
        <p:nvCxnSpPr>
          <p:cNvPr id="1132" name="Google Shape;1132;p77"/>
          <p:cNvCxnSpPr>
            <a:stCxn id="1130" idx="0"/>
            <a:endCxn id="1117" idx="1"/>
          </p:cNvCxnSpPr>
          <p:nvPr/>
        </p:nvCxnSpPr>
        <p:spPr>
          <a:xfrm flipH="1" rot="10800000">
            <a:off x="3491552" y="4723832"/>
            <a:ext cx="470700" cy="5223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3" name="Google Shape;1133;p77"/>
          <p:cNvCxnSpPr>
            <a:stCxn id="1131" idx="0"/>
            <a:endCxn id="1117" idx="3"/>
          </p:cNvCxnSpPr>
          <p:nvPr/>
        </p:nvCxnSpPr>
        <p:spPr>
          <a:xfrm rot="10800000">
            <a:off x="5257950" y="4723694"/>
            <a:ext cx="399900" cy="5361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4" name="Google Shape;1134;p77"/>
          <p:cNvCxnSpPr>
            <a:stCxn id="1119" idx="1"/>
            <a:endCxn id="1121" idx="3"/>
          </p:cNvCxnSpPr>
          <p:nvPr/>
        </p:nvCxnSpPr>
        <p:spPr>
          <a:xfrm rot="10800000">
            <a:off x="1853252" y="4488126"/>
            <a:ext cx="2324100" cy="236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5" name="Google Shape;1135;p77"/>
          <p:cNvCxnSpPr>
            <a:stCxn id="1120" idx="6"/>
            <a:endCxn id="1122" idx="1"/>
          </p:cNvCxnSpPr>
          <p:nvPr/>
        </p:nvCxnSpPr>
        <p:spPr>
          <a:xfrm flipH="1" rot="10800000">
            <a:off x="5105400" y="4457102"/>
            <a:ext cx="2324100" cy="258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6" name="Google Shape;1136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137" name="Google Shape;1137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8"/>
          <p:cNvSpPr txBox="1"/>
          <p:nvPr>
            <p:ph idx="4294967295" type="ctrTitle"/>
          </p:nvPr>
        </p:nvSpPr>
        <p:spPr>
          <a:xfrm>
            <a:off x="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143" name="Google Shape;1143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1/15/2025</a:t>
            </a:r>
            <a:endParaRPr/>
          </a:p>
        </p:txBody>
      </p:sp>
      <p:sp>
        <p:nvSpPr>
          <p:cNvPr id="1144" name="Google Shape;1144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Associate Professor Ravi Poudel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2013-05-17T03:00:03Z</dcterms:created>
  <dc:creator>Darshan Institute of Engg. &amp; Tech.</dc:creator>
</cp:coreProperties>
</file>